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9" d="100"/>
          <a:sy n="159" d="100"/>
        </p:scale>
        <p:origin x="2562"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91193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Project Overview &amp; Mission — Timecode 0:00 – 0:18]
Voiceover Script:
“Hi, my name is Jose Unanue, a 12th-grade student at Miami Coral Park Senior High School in Florida’s 27th Congressional District. This is LuminaLearn—an AI-powered Universal Design for Learning platform built to bridge the K–12 accessibility gap for neurodivergent and disabled students while elevating STEM mastery for every K–12 learner.”
Live App Demo Action: Explore Student Learner Home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The Problem: The K–12 Accessibility &amp; Cognitive Load Crisis — Timecode 0:18 – 0:42]
Voiceover Script:
“Today, 7.5 million U.S. students—15% of all K–12 learners—receive special education services under IDEA for conditions like autism, ADHD, dyslexia, and sensory processing differences. Yet conventional LMS platforms bombard students with cluttered dashboards, dense text walls, and punitive timers, while expecting children to configure complex settings menus on their own.”
Live App Demo Action: Launch 3-Question Support Discovery Quiz</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Core Modules (1 &amp; 2): Adaptive Onboarding &amp; Learner Home — Timecode 0:42 – 1:05]
Voiceover Script:
“LuminaLearn solves this across six core modules. First, our Low-Workload Onboarding Quiz asks three simple, non-diagnostic questions to automatically configure typography, Warm Paper tints, or Focus shields. Second, our Khan Academy-inspired Learner Home merges duplicate tasks into one clear Next Up card and tracks growth across 18 K–12 units using 4-tier Crown Mastery blocks.”
Live App Demo Action: Open Course Mastery &amp; 18-Unit Matrix</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Core Modules (3 &amp; 4): Multimodal Player &amp; Luminare AI — Timecode 1:05 – 1:35]
Voiceover Script:
“Third, inside our Focused Lesson Player, students explore keyboard-operable visual manipulatives alongside micro-chunked cards, synchronized read-aloud captions, and progressive hints. Fourth, our dedicated AI companion tab, Luminare, eliminates blank-page anxiety with one-click starter prompts, a mastery-driven Study Planner, and an Interest-Based Lesson Builder where users can connect their own Gemini or OpenAI API key.”
Live App Demo Action: Launch ✨ Luminare AI Companion Tab</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Core Modules (5 &amp; 6): Educator Workspace &amp; Cloud Sync — Timecode 1:35 – 1:55]
Voiceover Script:
“Fifth, our Educator Portal equips teachers with transactional class join codes, IEP accommodation presets, and an enforced 7-Point Accessibility Gate that guarantees new lessons include transcripts and alt descriptions. Sixth, our Email and Password account system syncs every learner’s profile and mastery crowns to Firebase Firestore with resilient offline caching.”
Live App Demo Action: Open Email Sign-In &amp; Firebase Cloud Modal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Technical Architecture &amp; Code Dive — Timecode 1:55 – 2:30]
Voiceover Script:
“Under the hood, LuminaLearn is built with React 19, Tailwind CSS v4 design tokens, a Node middleware API gateway, and Firebase Auth and Firestore. To protect student privacy and academic integrity, our server-side AI proxy runs a regex PII Sanitizer that strips student names, emails, and phone numbers before calling Gemini or OpenAI, while our Checkpoint Guardrail intercepts assessment prompts so Luminare never leaks answers.”
Live App Demo Action: Launch Interactive Fractions Lesson Lab</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Transformative Impact &amp; Vision — Timecode 2:30 – 2:55]
Voiceover Script:
“When we design for students at the margins—learners with autism, ADHD, dyslexia, and sensory differences—we make learning clearer and more empowering for every student in the classroom. With LuminaLearn, every child gets a calm workspace, a patient Socratic companion, and a path to mastery. Thank you for watching!”
Live App Demo Action: Return to Student Learning Workspace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149"/>
        </a:solidFill>
        <a:effectLst/>
      </p:bgPr>
    </p:bg>
    <p:spTree>
      <p:nvGrpSpPr>
        <p:cNvPr id="1" name=""/>
        <p:cNvGrpSpPr/>
        <p:nvPr/>
      </p:nvGrpSpPr>
      <p:grpSpPr>
        <a:xfrm>
          <a:off x="0" y="0"/>
          <a:ext cx="0" cy="0"/>
          <a:chOff x="0" y="0"/>
          <a:chExt cx="0" cy="0"/>
        </a:xfrm>
      </p:grpSpPr>
      <p:sp>
        <p:nvSpPr>
          <p:cNvPr id="2" name="Shape 0"/>
          <p:cNvSpPr/>
          <p:nvPr/>
        </p:nvSpPr>
        <p:spPr>
          <a:xfrm>
            <a:off x="548640" y="320040"/>
            <a:ext cx="4937760" cy="347472"/>
          </a:xfrm>
          <a:prstGeom prst="roundRect">
            <a:avLst>
              <a:gd name="adj" fmla="val 21053"/>
            </a:avLst>
          </a:prstGeom>
          <a:solidFill>
            <a:srgbClr val="F59E0B"/>
          </a:solidFill>
          <a:ln w="12700">
            <a:solidFill>
              <a:srgbClr val="F59E0B"/>
            </a:solidFill>
            <a:prstDash val="solid"/>
          </a:ln>
        </p:spPr>
        <p:txBody>
          <a:bodyPr/>
          <a:lstStyle/>
          <a:p>
            <a:endParaRPr lang="en-US"/>
          </a:p>
        </p:txBody>
      </p:sp>
      <p:sp>
        <p:nvSpPr>
          <p:cNvPr id="3" name="Text 1"/>
          <p:cNvSpPr/>
          <p:nvPr/>
        </p:nvSpPr>
        <p:spPr>
          <a:xfrm>
            <a:off x="640080" y="338328"/>
            <a:ext cx="4754880" cy="310896"/>
          </a:xfrm>
          <a:prstGeom prst="rect">
            <a:avLst/>
          </a:prstGeom>
          <a:noFill/>
          <a:ln/>
        </p:spPr>
        <p:txBody>
          <a:bodyPr wrap="square" rtlCol="0" anchor="ctr"/>
          <a:lstStyle/>
          <a:p>
            <a:pPr marL="0" indent="0">
              <a:buNone/>
            </a:pPr>
            <a:r>
              <a:rPr lang="en-US" sz="1000" b="1" dirty="0">
                <a:solidFill>
                  <a:srgbClr val="0F172A"/>
                </a:solidFill>
                <a:latin typeface="Calibri" pitchFamily="34" charset="0"/>
                <a:ea typeface="Calibri" pitchFamily="34" charset="-122"/>
                <a:cs typeface="Calibri" pitchFamily="34" charset="-120"/>
              </a:rPr>
              <a:t>1. PROJECT OVERVIEW &amp; MISSION</a:t>
            </a:r>
            <a:endParaRPr lang="en-US" sz="1000" dirty="0"/>
          </a:p>
        </p:txBody>
      </p:sp>
      <p:sp>
        <p:nvSpPr>
          <p:cNvPr id="4" name="Shape 2"/>
          <p:cNvSpPr/>
          <p:nvPr/>
        </p:nvSpPr>
        <p:spPr>
          <a:xfrm>
            <a:off x="10623884" y="320040"/>
            <a:ext cx="1016428" cy="347472"/>
          </a:xfrm>
          <a:prstGeom prst="roundRect">
            <a:avLst>
              <a:gd name="adj" fmla="val 21053"/>
            </a:avLst>
          </a:prstGeom>
          <a:solidFill>
            <a:srgbClr val="163266"/>
          </a:solidFill>
          <a:ln w="12700">
            <a:solidFill>
              <a:srgbClr val="2B4C8C"/>
            </a:solidFill>
            <a:prstDash val="solid"/>
          </a:ln>
        </p:spPr>
        <p:txBody>
          <a:bodyPr/>
          <a:lstStyle/>
          <a:p>
            <a:endParaRPr lang="en-US"/>
          </a:p>
        </p:txBody>
      </p:sp>
      <p:sp>
        <p:nvSpPr>
          <p:cNvPr id="5" name="Text 3"/>
          <p:cNvSpPr/>
          <p:nvPr/>
        </p:nvSpPr>
        <p:spPr>
          <a:xfrm>
            <a:off x="10732168" y="338328"/>
            <a:ext cx="816704" cy="310896"/>
          </a:xfrm>
          <a:prstGeom prst="rect">
            <a:avLst/>
          </a:prstGeom>
          <a:noFill/>
          <a:ln/>
        </p:spPr>
        <p:txBody>
          <a:bodyPr wrap="square" rtlCol="0" anchor="ctr"/>
          <a:lstStyle/>
          <a:p>
            <a:pPr marL="0" indent="0" algn="r">
              <a:buNone/>
            </a:pPr>
            <a:r>
              <a:rPr lang="en-US" sz="1000" b="1" dirty="0">
                <a:solidFill>
                  <a:srgbClr val="FDE68A"/>
                </a:solidFill>
                <a:latin typeface="Consolas" pitchFamily="34" charset="0"/>
                <a:ea typeface="Consolas" pitchFamily="34" charset="-122"/>
                <a:cs typeface="Consolas" pitchFamily="34" charset="-120"/>
              </a:rPr>
              <a:t>Slide 1/7</a:t>
            </a:r>
            <a:endParaRPr lang="en-US" sz="1000" dirty="0"/>
          </a:p>
        </p:txBody>
      </p:sp>
      <p:sp>
        <p:nvSpPr>
          <p:cNvPr id="6" name="Text 4"/>
          <p:cNvSpPr/>
          <p:nvPr/>
        </p:nvSpPr>
        <p:spPr>
          <a:xfrm>
            <a:off x="548640" y="804672"/>
            <a:ext cx="11091672" cy="749808"/>
          </a:xfrm>
          <a:prstGeom prst="rect">
            <a:avLst/>
          </a:prstGeom>
          <a:noFill/>
          <a:ln/>
        </p:spPr>
        <p:txBody>
          <a:bodyPr wrap="square"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LuminaLearn: Universal Design &amp; Socratic AI for Neurodivergent, Disabled &amp; K–12 Learners</a:t>
            </a:r>
            <a:endParaRPr lang="en-US" sz="2200" dirty="0"/>
          </a:p>
        </p:txBody>
      </p:sp>
      <p:sp>
        <p:nvSpPr>
          <p:cNvPr id="7" name="Text 5"/>
          <p:cNvSpPr/>
          <p:nvPr/>
        </p:nvSpPr>
        <p:spPr>
          <a:xfrm>
            <a:off x="548640" y="1572768"/>
            <a:ext cx="11091672" cy="438912"/>
          </a:xfrm>
          <a:prstGeom prst="rect">
            <a:avLst/>
          </a:prstGeom>
          <a:noFill/>
          <a:ln/>
        </p:spPr>
        <p:txBody>
          <a:bodyPr wrap="square" rtlCol="0" anchor="t"/>
          <a:lstStyle/>
          <a:p>
            <a:pPr marL="0" indent="0">
              <a:buNone/>
            </a:pPr>
            <a:r>
              <a:rPr lang="en-US" sz="1300" b="1" dirty="0">
                <a:solidFill>
                  <a:srgbClr val="FDE68A"/>
                </a:solidFill>
                <a:latin typeface="Calibri" pitchFamily="34" charset="0"/>
                <a:ea typeface="Calibri" pitchFamily="34" charset="-122"/>
                <a:cs typeface="Calibri" pitchFamily="34" charset="-120"/>
              </a:rPr>
              <a:t>Jose Unanue · 12th Grade · Miami Coral Park Senior High School · Congressional District FL-27</a:t>
            </a:r>
            <a:endParaRPr lang="en-US" sz="1300" dirty="0"/>
          </a:p>
        </p:txBody>
      </p:sp>
      <p:sp>
        <p:nvSpPr>
          <p:cNvPr id="8" name="Shape 6"/>
          <p:cNvSpPr/>
          <p:nvPr/>
        </p:nvSpPr>
        <p:spPr>
          <a:xfrm>
            <a:off x="548640" y="2057400"/>
            <a:ext cx="11091672" cy="530352"/>
          </a:xfrm>
          <a:prstGeom prst="roundRect">
            <a:avLst>
              <a:gd name="adj" fmla="val 13793"/>
            </a:avLst>
          </a:prstGeom>
          <a:solidFill>
            <a:srgbClr val="163266"/>
          </a:solidFill>
          <a:ln w="15240">
            <a:solidFill>
              <a:srgbClr val="F59E0B"/>
            </a:solidFill>
            <a:prstDash val="solid"/>
          </a:ln>
        </p:spPr>
        <p:txBody>
          <a:bodyPr/>
          <a:lstStyle/>
          <a:p>
            <a:endParaRPr lang="en-US"/>
          </a:p>
        </p:txBody>
      </p:sp>
      <p:sp>
        <p:nvSpPr>
          <p:cNvPr id="9" name="Text 7"/>
          <p:cNvSpPr/>
          <p:nvPr/>
        </p:nvSpPr>
        <p:spPr>
          <a:xfrm>
            <a:off x="731520" y="2093976"/>
            <a:ext cx="10725912"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Core Mission: Bridge the K–12 cognitive and sensory accessibility gap by transforming complex STEM coursework into calm, multimodal, and Socratic learning.</a:t>
            </a:r>
            <a:endParaRPr lang="en-US" sz="1200" dirty="0"/>
          </a:p>
        </p:txBody>
      </p:sp>
      <p:sp>
        <p:nvSpPr>
          <p:cNvPr id="10" name="Shape 8"/>
          <p:cNvSpPr/>
          <p:nvPr/>
        </p:nvSpPr>
        <p:spPr>
          <a:xfrm>
            <a:off x="548640" y="2788920"/>
            <a:ext cx="3511296" cy="3246120"/>
          </a:xfrm>
          <a:prstGeom prst="roundRect">
            <a:avLst>
              <a:gd name="adj" fmla="val 3380"/>
            </a:avLst>
          </a:prstGeom>
          <a:solidFill>
            <a:srgbClr val="163266"/>
          </a:solidFill>
          <a:ln w="15240">
            <a:solidFill>
              <a:srgbClr val="2B4C8C"/>
            </a:solidFill>
            <a:prstDash val="solid"/>
          </a:ln>
        </p:spPr>
        <p:txBody>
          <a:bodyPr/>
          <a:lstStyle/>
          <a:p>
            <a:endParaRPr lang="en-US"/>
          </a:p>
        </p:txBody>
      </p:sp>
      <p:sp>
        <p:nvSpPr>
          <p:cNvPr id="11" name="Shape 9"/>
          <p:cNvSpPr/>
          <p:nvPr/>
        </p:nvSpPr>
        <p:spPr>
          <a:xfrm>
            <a:off x="777240" y="3044952"/>
            <a:ext cx="822960" cy="73152"/>
          </a:xfrm>
          <a:prstGeom prst="rect">
            <a:avLst/>
          </a:prstGeom>
          <a:solidFill>
            <a:srgbClr val="F59E0B"/>
          </a:solidFill>
          <a:ln/>
        </p:spPr>
        <p:txBody>
          <a:bodyPr/>
          <a:lstStyle/>
          <a:p>
            <a:endParaRPr lang="en-US"/>
          </a:p>
        </p:txBody>
      </p:sp>
      <p:sp>
        <p:nvSpPr>
          <p:cNvPr id="12" name="Text 10"/>
          <p:cNvSpPr/>
          <p:nvPr/>
        </p:nvSpPr>
        <p:spPr>
          <a:xfrm>
            <a:off x="777240" y="3246120"/>
            <a:ext cx="3054096" cy="640080"/>
          </a:xfrm>
          <a:prstGeom prst="rect">
            <a:avLst/>
          </a:prstGeom>
          <a:noFill/>
          <a:ln/>
        </p:spPr>
        <p:txBody>
          <a:bodyPr wrap="square" rtlCol="0" anchor="ctr"/>
          <a:lstStyle/>
          <a:p>
            <a:pPr marL="0" indent="0">
              <a:buNone/>
            </a:pPr>
            <a:r>
              <a:rPr lang="en-US" sz="2400" b="1" dirty="0">
                <a:solidFill>
                  <a:srgbClr val="FDE68A"/>
                </a:solidFill>
                <a:latin typeface="Calibri" pitchFamily="34" charset="0"/>
                <a:ea typeface="Calibri" pitchFamily="34" charset="-122"/>
                <a:cs typeface="Calibri" pitchFamily="34" charset="-120"/>
              </a:rPr>
              <a:t>6 Courses · 18 Units</a:t>
            </a:r>
            <a:endParaRPr lang="en-US" sz="2400" dirty="0"/>
          </a:p>
        </p:txBody>
      </p:sp>
      <p:sp>
        <p:nvSpPr>
          <p:cNvPr id="13" name="Text 11"/>
          <p:cNvSpPr/>
          <p:nvPr/>
        </p:nvSpPr>
        <p:spPr>
          <a:xfrm>
            <a:off x="777240" y="3931920"/>
            <a:ext cx="3054096" cy="41148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Complete K–12 STEM Curriculum</a:t>
            </a:r>
            <a:endParaRPr lang="en-US" sz="1400" dirty="0"/>
          </a:p>
        </p:txBody>
      </p:sp>
      <p:sp>
        <p:nvSpPr>
          <p:cNvPr id="14" name="Text 12"/>
          <p:cNvSpPr/>
          <p:nvPr/>
        </p:nvSpPr>
        <p:spPr>
          <a:xfrm>
            <a:off x="777240" y="4416552"/>
            <a:ext cx="3054096" cy="1371600"/>
          </a:xfrm>
          <a:prstGeom prst="rect">
            <a:avLst/>
          </a:prstGeom>
          <a:noFill/>
          <a:ln/>
        </p:spPr>
        <p:txBody>
          <a:bodyPr wrap="square" rtlCol="0" anchor="t"/>
          <a:lstStyle/>
          <a:p>
            <a:pPr marL="0" indent="0">
              <a:buNone/>
            </a:pPr>
            <a:r>
              <a:rPr lang="en-US" sz="1200" dirty="0">
                <a:solidFill>
                  <a:srgbClr val="E2E8F0"/>
                </a:solidFill>
                <a:latin typeface="Calibri" pitchFamily="34" charset="0"/>
                <a:ea typeface="Calibri" pitchFamily="34" charset="-122"/>
                <a:cs typeface="Calibri" pitchFamily="34" charset="-120"/>
              </a:rPr>
              <a:t>Spans Elementary (K–5), Middle (6–8), and High School (9–12) across Mathematics &amp; Science.</a:t>
            </a:r>
            <a:endParaRPr lang="en-US" sz="1200" dirty="0"/>
          </a:p>
        </p:txBody>
      </p:sp>
      <p:sp>
        <p:nvSpPr>
          <p:cNvPr id="15" name="Shape 13"/>
          <p:cNvSpPr/>
          <p:nvPr/>
        </p:nvSpPr>
        <p:spPr>
          <a:xfrm>
            <a:off x="4334256" y="2788920"/>
            <a:ext cx="3511296" cy="3246120"/>
          </a:xfrm>
          <a:prstGeom prst="roundRect">
            <a:avLst>
              <a:gd name="adj" fmla="val 3380"/>
            </a:avLst>
          </a:prstGeom>
          <a:solidFill>
            <a:srgbClr val="163266"/>
          </a:solidFill>
          <a:ln w="15240">
            <a:solidFill>
              <a:srgbClr val="2B4C8C"/>
            </a:solidFill>
            <a:prstDash val="solid"/>
          </a:ln>
        </p:spPr>
        <p:txBody>
          <a:bodyPr/>
          <a:lstStyle/>
          <a:p>
            <a:endParaRPr lang="en-US"/>
          </a:p>
        </p:txBody>
      </p:sp>
      <p:sp>
        <p:nvSpPr>
          <p:cNvPr id="16" name="Shape 14"/>
          <p:cNvSpPr/>
          <p:nvPr/>
        </p:nvSpPr>
        <p:spPr>
          <a:xfrm>
            <a:off x="4562856" y="3044952"/>
            <a:ext cx="822960" cy="73152"/>
          </a:xfrm>
          <a:prstGeom prst="rect">
            <a:avLst/>
          </a:prstGeom>
          <a:solidFill>
            <a:srgbClr val="F59E0B"/>
          </a:solidFill>
          <a:ln/>
        </p:spPr>
        <p:txBody>
          <a:bodyPr/>
          <a:lstStyle/>
          <a:p>
            <a:endParaRPr lang="en-US"/>
          </a:p>
        </p:txBody>
      </p:sp>
      <p:sp>
        <p:nvSpPr>
          <p:cNvPr id="17" name="Text 15"/>
          <p:cNvSpPr/>
          <p:nvPr/>
        </p:nvSpPr>
        <p:spPr>
          <a:xfrm>
            <a:off x="4562856" y="3246120"/>
            <a:ext cx="3054096" cy="640080"/>
          </a:xfrm>
          <a:prstGeom prst="rect">
            <a:avLst/>
          </a:prstGeom>
          <a:noFill/>
          <a:ln/>
        </p:spPr>
        <p:txBody>
          <a:bodyPr wrap="square" rtlCol="0" anchor="ctr"/>
          <a:lstStyle/>
          <a:p>
            <a:pPr marL="0" indent="0">
              <a:buNone/>
            </a:pPr>
            <a:r>
              <a:rPr lang="en-US" sz="2400" b="1" dirty="0">
                <a:solidFill>
                  <a:srgbClr val="FDE68A"/>
                </a:solidFill>
                <a:latin typeface="Calibri" pitchFamily="34" charset="0"/>
                <a:ea typeface="Calibri" pitchFamily="34" charset="-122"/>
                <a:cs typeface="Calibri" pitchFamily="34" charset="-120"/>
              </a:rPr>
              <a:t>6 Disability Domains</a:t>
            </a:r>
            <a:endParaRPr lang="en-US" sz="2400" dirty="0"/>
          </a:p>
        </p:txBody>
      </p:sp>
      <p:sp>
        <p:nvSpPr>
          <p:cNvPr id="18" name="Text 16"/>
          <p:cNvSpPr/>
          <p:nvPr/>
        </p:nvSpPr>
        <p:spPr>
          <a:xfrm>
            <a:off x="4562856" y="3931920"/>
            <a:ext cx="3054096" cy="41148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UDL 3.0 &amp; WCAG 2.2 AA Native</a:t>
            </a:r>
            <a:endParaRPr lang="en-US" sz="1400" dirty="0"/>
          </a:p>
        </p:txBody>
      </p:sp>
      <p:sp>
        <p:nvSpPr>
          <p:cNvPr id="19" name="Text 17"/>
          <p:cNvSpPr/>
          <p:nvPr/>
        </p:nvSpPr>
        <p:spPr>
          <a:xfrm>
            <a:off x="4562856" y="4416552"/>
            <a:ext cx="3054096" cy="1371600"/>
          </a:xfrm>
          <a:prstGeom prst="rect">
            <a:avLst/>
          </a:prstGeom>
          <a:noFill/>
          <a:ln/>
        </p:spPr>
        <p:txBody>
          <a:bodyPr wrap="square" rtlCol="0" anchor="t"/>
          <a:lstStyle/>
          <a:p>
            <a:pPr marL="0" indent="0">
              <a:buNone/>
            </a:pPr>
            <a:r>
              <a:rPr lang="en-US" sz="1200" dirty="0">
                <a:solidFill>
                  <a:srgbClr val="E2E8F0"/>
                </a:solidFill>
                <a:latin typeface="Calibri" pitchFamily="34" charset="0"/>
                <a:ea typeface="Calibri" pitchFamily="34" charset="-122"/>
                <a:cs typeface="Calibri" pitchFamily="34" charset="-120"/>
              </a:rPr>
              <a:t>Tailored for Autism, ADHD, Dyslexia, Dyscalculia, Auditory (DHH/APD), Visual (CVI), &amp; Motor needs.</a:t>
            </a:r>
            <a:endParaRPr lang="en-US" sz="1200" dirty="0"/>
          </a:p>
        </p:txBody>
      </p:sp>
      <p:sp>
        <p:nvSpPr>
          <p:cNvPr id="20" name="Shape 18"/>
          <p:cNvSpPr/>
          <p:nvPr/>
        </p:nvSpPr>
        <p:spPr>
          <a:xfrm>
            <a:off x="8119872" y="2788920"/>
            <a:ext cx="3511296" cy="3246120"/>
          </a:xfrm>
          <a:prstGeom prst="roundRect">
            <a:avLst>
              <a:gd name="adj" fmla="val 3380"/>
            </a:avLst>
          </a:prstGeom>
          <a:solidFill>
            <a:srgbClr val="163266"/>
          </a:solidFill>
          <a:ln w="15240">
            <a:solidFill>
              <a:srgbClr val="2B4C8C"/>
            </a:solidFill>
            <a:prstDash val="solid"/>
          </a:ln>
        </p:spPr>
        <p:txBody>
          <a:bodyPr/>
          <a:lstStyle/>
          <a:p>
            <a:endParaRPr lang="en-US"/>
          </a:p>
        </p:txBody>
      </p:sp>
      <p:sp>
        <p:nvSpPr>
          <p:cNvPr id="21" name="Shape 19"/>
          <p:cNvSpPr/>
          <p:nvPr/>
        </p:nvSpPr>
        <p:spPr>
          <a:xfrm>
            <a:off x="8348472" y="3044952"/>
            <a:ext cx="822960" cy="73152"/>
          </a:xfrm>
          <a:prstGeom prst="rect">
            <a:avLst/>
          </a:prstGeom>
          <a:solidFill>
            <a:srgbClr val="F59E0B"/>
          </a:solidFill>
          <a:ln/>
        </p:spPr>
        <p:txBody>
          <a:bodyPr/>
          <a:lstStyle/>
          <a:p>
            <a:endParaRPr lang="en-US"/>
          </a:p>
        </p:txBody>
      </p:sp>
      <p:sp>
        <p:nvSpPr>
          <p:cNvPr id="22" name="Text 20"/>
          <p:cNvSpPr/>
          <p:nvPr/>
        </p:nvSpPr>
        <p:spPr>
          <a:xfrm>
            <a:off x="8348472" y="3246120"/>
            <a:ext cx="3054096" cy="640080"/>
          </a:xfrm>
          <a:prstGeom prst="rect">
            <a:avLst/>
          </a:prstGeom>
          <a:noFill/>
          <a:ln/>
        </p:spPr>
        <p:txBody>
          <a:bodyPr wrap="square" rtlCol="0" anchor="ctr"/>
          <a:lstStyle/>
          <a:p>
            <a:pPr marL="0" indent="0">
              <a:buNone/>
            </a:pPr>
            <a:r>
              <a:rPr lang="en-US" sz="2400" b="1" dirty="0">
                <a:solidFill>
                  <a:srgbClr val="FDE68A"/>
                </a:solidFill>
                <a:latin typeface="Calibri" pitchFamily="34" charset="0"/>
                <a:ea typeface="Calibri" pitchFamily="34" charset="-122"/>
                <a:cs typeface="Calibri" pitchFamily="34" charset="-120"/>
              </a:rPr>
              <a:t>100% Non-Punitive</a:t>
            </a:r>
            <a:endParaRPr lang="en-US" sz="2400" dirty="0"/>
          </a:p>
        </p:txBody>
      </p:sp>
      <p:sp>
        <p:nvSpPr>
          <p:cNvPr id="23" name="Text 21"/>
          <p:cNvSpPr/>
          <p:nvPr/>
        </p:nvSpPr>
        <p:spPr>
          <a:xfrm>
            <a:off x="8348472" y="3931920"/>
            <a:ext cx="3054096" cy="41148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Calm, Task-First Architecture</a:t>
            </a:r>
            <a:endParaRPr lang="en-US" sz="1400" dirty="0"/>
          </a:p>
        </p:txBody>
      </p:sp>
      <p:sp>
        <p:nvSpPr>
          <p:cNvPr id="24" name="Text 22"/>
          <p:cNvSpPr/>
          <p:nvPr/>
        </p:nvSpPr>
        <p:spPr>
          <a:xfrm>
            <a:off x="8348472" y="4416552"/>
            <a:ext cx="3054096" cy="1371600"/>
          </a:xfrm>
          <a:prstGeom prst="rect">
            <a:avLst/>
          </a:prstGeom>
          <a:noFill/>
          <a:ln/>
        </p:spPr>
        <p:txBody>
          <a:bodyPr wrap="square" rtlCol="0" anchor="t"/>
          <a:lstStyle/>
          <a:p>
            <a:pPr marL="0" indent="0">
              <a:buNone/>
            </a:pPr>
            <a:r>
              <a:rPr lang="en-US" sz="1200" dirty="0">
                <a:solidFill>
                  <a:srgbClr val="E2E8F0"/>
                </a:solidFill>
                <a:latin typeface="Calibri" pitchFamily="34" charset="0"/>
                <a:ea typeface="Calibri" pitchFamily="34" charset="-122"/>
                <a:cs typeface="Calibri" pitchFamily="34" charset="-120"/>
              </a:rPr>
              <a:t>Replaces cluttered dashboards and anxiety-inducing timers with Khan Academy-inspired 4-tier Crown Mastery.</a:t>
            </a:r>
            <a:endParaRPr lang="en-US" sz="1200" dirty="0"/>
          </a:p>
        </p:txBody>
      </p:sp>
      <p:sp>
        <p:nvSpPr>
          <p:cNvPr id="25" name="Text 23"/>
          <p:cNvSpPr/>
          <p:nvPr/>
        </p:nvSpPr>
        <p:spPr>
          <a:xfrm>
            <a:off x="548640" y="6327648"/>
            <a:ext cx="11091672" cy="320040"/>
          </a:xfrm>
          <a:prstGeom prst="rect">
            <a:avLst/>
          </a:prstGeom>
          <a:noFill/>
          <a:ln/>
        </p:spPr>
        <p:txBody>
          <a:bodyPr wrap="square" rtlCol="0" anchor="ctr"/>
          <a:lstStyle/>
          <a:p>
            <a:pPr marL="0" indent="0">
              <a:buNone/>
            </a:pPr>
            <a:r>
              <a:rPr lang="en-US" sz="950" b="1" dirty="0">
                <a:solidFill>
                  <a:srgbClr val="E2E8F0"/>
                </a:solidFill>
                <a:latin typeface="Calibri" pitchFamily="34" charset="0"/>
                <a:ea typeface="Calibri" pitchFamily="34" charset="-122"/>
                <a:cs typeface="Calibri" pitchFamily="34" charset="-120"/>
              </a:rPr>
              <a:t>LuminaLearn  ·  Jose Unanue (12th Grade, Miami Coral Park Senior High School)  ·  Congressional District FL-27</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548640" y="320040"/>
            <a:ext cx="4937760" cy="347472"/>
          </a:xfrm>
          <a:prstGeom prst="roundRect">
            <a:avLst>
              <a:gd name="adj" fmla="val 21053"/>
            </a:avLst>
          </a:prstGeom>
          <a:solidFill>
            <a:srgbClr val="EEF2FF"/>
          </a:solidFill>
          <a:ln w="12700">
            <a:solidFill>
              <a:srgbClr val="4F46E5"/>
            </a:solidFill>
            <a:prstDash val="solid"/>
          </a:ln>
        </p:spPr>
        <p:txBody>
          <a:bodyPr/>
          <a:lstStyle/>
          <a:p>
            <a:endParaRPr lang="en-US"/>
          </a:p>
        </p:txBody>
      </p:sp>
      <p:sp>
        <p:nvSpPr>
          <p:cNvPr id="3" name="Text 1"/>
          <p:cNvSpPr/>
          <p:nvPr/>
        </p:nvSpPr>
        <p:spPr>
          <a:xfrm>
            <a:off x="640080" y="338328"/>
            <a:ext cx="4754880" cy="310896"/>
          </a:xfrm>
          <a:prstGeom prst="rect">
            <a:avLst/>
          </a:prstGeom>
          <a:noFill/>
          <a:ln/>
        </p:spPr>
        <p:txBody>
          <a:bodyPr wrap="square" rtlCol="0" anchor="ctr"/>
          <a:lstStyle/>
          <a:p>
            <a:pPr marL="0" indent="0">
              <a:buNone/>
            </a:pPr>
            <a:r>
              <a:rPr lang="en-US" sz="1000" b="1" dirty="0">
                <a:solidFill>
                  <a:srgbClr val="312E81"/>
                </a:solidFill>
                <a:latin typeface="Calibri" pitchFamily="34" charset="0"/>
                <a:ea typeface="Calibri" pitchFamily="34" charset="-122"/>
                <a:cs typeface="Calibri" pitchFamily="34" charset="-120"/>
              </a:rPr>
              <a:t>2. THE PROBLEM: THE K–12 ACCESSIBILITY &amp; COGNITIVE LOAD CRISIS</a:t>
            </a:r>
            <a:endParaRPr lang="en-US" sz="1000" dirty="0"/>
          </a:p>
        </p:txBody>
      </p:sp>
      <p:sp>
        <p:nvSpPr>
          <p:cNvPr id="4" name="Shape 2"/>
          <p:cNvSpPr/>
          <p:nvPr/>
        </p:nvSpPr>
        <p:spPr>
          <a:xfrm>
            <a:off x="10647946" y="320040"/>
            <a:ext cx="992365" cy="347472"/>
          </a:xfrm>
          <a:prstGeom prst="roundRect">
            <a:avLst>
              <a:gd name="adj" fmla="val 21053"/>
            </a:avLst>
          </a:prstGeom>
          <a:solidFill>
            <a:srgbClr val="FFFFFF"/>
          </a:solidFill>
          <a:ln w="12700">
            <a:solidFill>
              <a:srgbClr val="CBD5E1"/>
            </a:solidFill>
            <a:prstDash val="solid"/>
          </a:ln>
        </p:spPr>
        <p:txBody>
          <a:bodyPr/>
          <a:lstStyle/>
          <a:p>
            <a:endParaRPr lang="en-US"/>
          </a:p>
        </p:txBody>
      </p:sp>
      <p:sp>
        <p:nvSpPr>
          <p:cNvPr id="5" name="Text 3"/>
          <p:cNvSpPr/>
          <p:nvPr/>
        </p:nvSpPr>
        <p:spPr>
          <a:xfrm>
            <a:off x="10702088" y="338328"/>
            <a:ext cx="846783" cy="310896"/>
          </a:xfrm>
          <a:prstGeom prst="rect">
            <a:avLst/>
          </a:prstGeom>
          <a:noFill/>
          <a:ln/>
        </p:spPr>
        <p:txBody>
          <a:bodyPr wrap="square" rtlCol="0" anchor="ctr"/>
          <a:lstStyle/>
          <a:p>
            <a:pPr marL="0" indent="0" algn="r">
              <a:buNone/>
            </a:pPr>
            <a:r>
              <a:rPr lang="en-US" sz="1000" b="1" dirty="0">
                <a:solidFill>
                  <a:srgbClr val="475569"/>
                </a:solidFill>
                <a:latin typeface="Consolas" pitchFamily="34" charset="0"/>
                <a:ea typeface="Consolas" pitchFamily="34" charset="-122"/>
                <a:cs typeface="Consolas" pitchFamily="34" charset="-120"/>
              </a:rPr>
              <a:t>Slide 2/7</a:t>
            </a:r>
            <a:endParaRPr lang="en-US" sz="1000" dirty="0"/>
          </a:p>
        </p:txBody>
      </p:sp>
      <p:sp>
        <p:nvSpPr>
          <p:cNvPr id="6" name="Text 4"/>
          <p:cNvSpPr/>
          <p:nvPr/>
        </p:nvSpPr>
        <p:spPr>
          <a:xfrm>
            <a:off x="548640" y="804672"/>
            <a:ext cx="11091672" cy="749808"/>
          </a:xfrm>
          <a:prstGeom prst="rect">
            <a:avLst/>
          </a:prstGeom>
          <a:noFill/>
          <a:ln/>
        </p:spPr>
        <p:txBody>
          <a:bodyPr wrap="square" rtlCol="0" anchor="t"/>
          <a:lstStyle/>
          <a:p>
            <a:pPr marL="0" indent="0">
              <a:buNone/>
            </a:pPr>
            <a:r>
              <a:rPr lang="en-US" sz="2200" b="1" dirty="0">
                <a:solidFill>
                  <a:srgbClr val="0F172A"/>
                </a:solidFill>
                <a:latin typeface="Calibri" pitchFamily="34" charset="0"/>
                <a:ea typeface="Calibri" pitchFamily="34" charset="-122"/>
                <a:cs typeface="Calibri" pitchFamily="34" charset="-120"/>
              </a:rPr>
              <a:t>Conventional Digital Learning Platforms Overload Working Memory and Leave 7.5 Million Students Behind</a:t>
            </a:r>
            <a:endParaRPr lang="en-US" sz="2200" dirty="0"/>
          </a:p>
        </p:txBody>
      </p:sp>
      <p:sp>
        <p:nvSpPr>
          <p:cNvPr id="7" name="Text 5"/>
          <p:cNvSpPr/>
          <p:nvPr/>
        </p:nvSpPr>
        <p:spPr>
          <a:xfrm>
            <a:off x="548640" y="1572768"/>
            <a:ext cx="11091672" cy="438912"/>
          </a:xfrm>
          <a:prstGeom prst="rect">
            <a:avLst/>
          </a:prstGeom>
          <a:noFill/>
          <a:ln/>
        </p:spPr>
        <p:txBody>
          <a:bodyPr wrap="square" rtlCol="0" anchor="t"/>
          <a:lstStyle/>
          <a:p>
            <a:pPr marL="0" indent="0">
              <a:buNone/>
            </a:pPr>
            <a:r>
              <a:rPr lang="en-US" sz="1300" dirty="0">
                <a:solidFill>
                  <a:srgbClr val="475569"/>
                </a:solidFill>
                <a:latin typeface="Calibri" pitchFamily="34" charset="0"/>
                <a:ea typeface="Calibri" pitchFamily="34" charset="-122"/>
                <a:cs typeface="Calibri" pitchFamily="34" charset="-120"/>
              </a:rPr>
              <a:t>Standard K–12 LMS platforms are built for neurotypical workflows—treating accessibility as an afterthought plugin rather than a core instructional architecture.</a:t>
            </a:r>
            <a:endParaRPr lang="en-US" sz="1300" dirty="0"/>
          </a:p>
        </p:txBody>
      </p:sp>
      <p:sp>
        <p:nvSpPr>
          <p:cNvPr id="8" name="Shape 6"/>
          <p:cNvSpPr/>
          <p:nvPr/>
        </p:nvSpPr>
        <p:spPr>
          <a:xfrm>
            <a:off x="548640" y="2240280"/>
            <a:ext cx="3511296" cy="3794760"/>
          </a:xfrm>
          <a:prstGeom prst="roundRect">
            <a:avLst>
              <a:gd name="adj" fmla="val 3125"/>
            </a:avLst>
          </a:prstGeom>
          <a:solidFill>
            <a:srgbClr val="FFFFFF"/>
          </a:solidFill>
          <a:ln w="15240">
            <a:solidFill>
              <a:srgbClr val="CBD5E1"/>
            </a:solidFill>
            <a:prstDash val="solid"/>
          </a:ln>
        </p:spPr>
        <p:txBody>
          <a:bodyPr/>
          <a:lstStyle/>
          <a:p>
            <a:endParaRPr lang="en-US"/>
          </a:p>
        </p:txBody>
      </p:sp>
      <p:sp>
        <p:nvSpPr>
          <p:cNvPr id="9" name="Shape 7"/>
          <p:cNvSpPr/>
          <p:nvPr/>
        </p:nvSpPr>
        <p:spPr>
          <a:xfrm>
            <a:off x="777240" y="2496312"/>
            <a:ext cx="822960" cy="73152"/>
          </a:xfrm>
          <a:prstGeom prst="rect">
            <a:avLst/>
          </a:prstGeom>
          <a:solidFill>
            <a:srgbClr val="4F46E5"/>
          </a:solidFill>
          <a:ln/>
        </p:spPr>
        <p:txBody>
          <a:bodyPr/>
          <a:lstStyle/>
          <a:p>
            <a:endParaRPr lang="en-US"/>
          </a:p>
        </p:txBody>
      </p:sp>
      <p:sp>
        <p:nvSpPr>
          <p:cNvPr id="10" name="Text 8"/>
          <p:cNvSpPr/>
          <p:nvPr/>
        </p:nvSpPr>
        <p:spPr>
          <a:xfrm>
            <a:off x="777240" y="2697480"/>
            <a:ext cx="3054096" cy="640080"/>
          </a:xfrm>
          <a:prstGeom prst="rect">
            <a:avLst/>
          </a:prstGeom>
          <a:noFill/>
          <a:ln/>
        </p:spPr>
        <p:txBody>
          <a:bodyPr wrap="square" rtlCol="0" anchor="ctr"/>
          <a:lstStyle/>
          <a:p>
            <a:pPr marL="0" indent="0">
              <a:buNone/>
            </a:pPr>
            <a:r>
              <a:rPr lang="en-US" sz="2400" b="1" dirty="0">
                <a:solidFill>
                  <a:srgbClr val="4F46E5"/>
                </a:solidFill>
                <a:latin typeface="Calibri" pitchFamily="34" charset="0"/>
                <a:ea typeface="Calibri" pitchFamily="34" charset="-122"/>
                <a:cs typeface="Calibri" pitchFamily="34" charset="-120"/>
              </a:rPr>
              <a:t>7.5M (15%)</a:t>
            </a:r>
            <a:endParaRPr lang="en-US" sz="2400" dirty="0"/>
          </a:p>
        </p:txBody>
      </p:sp>
      <p:sp>
        <p:nvSpPr>
          <p:cNvPr id="11" name="Text 9"/>
          <p:cNvSpPr/>
          <p:nvPr/>
        </p:nvSpPr>
        <p:spPr>
          <a:xfrm>
            <a:off x="777240" y="3383280"/>
            <a:ext cx="3054096" cy="411480"/>
          </a:xfrm>
          <a:prstGeom prst="rect">
            <a:avLst/>
          </a:prstGeom>
          <a:noFill/>
          <a:ln/>
        </p:spPr>
        <p:txBody>
          <a:bodyPr wrap="square"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U.S. K–12 Students Under IDEA</a:t>
            </a:r>
            <a:endParaRPr lang="en-US" sz="1400" dirty="0"/>
          </a:p>
        </p:txBody>
      </p:sp>
      <p:sp>
        <p:nvSpPr>
          <p:cNvPr id="12" name="Text 10"/>
          <p:cNvSpPr/>
          <p:nvPr/>
        </p:nvSpPr>
        <p:spPr>
          <a:xfrm>
            <a:off x="777240" y="3867912"/>
            <a:ext cx="3054096" cy="1371600"/>
          </a:xfrm>
          <a:prstGeom prst="rect">
            <a:avLst/>
          </a:prstGeom>
          <a:noFill/>
          <a:ln/>
        </p:spPr>
        <p:txBody>
          <a:bodyPr wrap="square" rtlCol="0" anchor="t"/>
          <a:lstStyle/>
          <a:p>
            <a:pPr marL="0" indent="0">
              <a:buNone/>
            </a:pPr>
            <a:r>
              <a:rPr lang="en-US" sz="1200" dirty="0">
                <a:solidFill>
                  <a:srgbClr val="475569"/>
                </a:solidFill>
                <a:latin typeface="Calibri" pitchFamily="34" charset="0"/>
                <a:ea typeface="Calibri" pitchFamily="34" charset="-122"/>
                <a:cs typeface="Calibri" pitchFamily="34" charset="-120"/>
              </a:rPr>
              <a:t>15% of public school students have diagnosed learning, attention (ADHD), autism, sensory, or motor disabilities (NCES).</a:t>
            </a:r>
            <a:endParaRPr lang="en-US" sz="1200" dirty="0"/>
          </a:p>
        </p:txBody>
      </p:sp>
      <p:sp>
        <p:nvSpPr>
          <p:cNvPr id="13" name="Shape 11"/>
          <p:cNvSpPr/>
          <p:nvPr/>
        </p:nvSpPr>
        <p:spPr>
          <a:xfrm>
            <a:off x="4334256" y="2240280"/>
            <a:ext cx="3511296" cy="3794760"/>
          </a:xfrm>
          <a:prstGeom prst="roundRect">
            <a:avLst>
              <a:gd name="adj" fmla="val 3125"/>
            </a:avLst>
          </a:prstGeom>
          <a:solidFill>
            <a:srgbClr val="FFFFFF"/>
          </a:solidFill>
          <a:ln w="15240">
            <a:solidFill>
              <a:srgbClr val="CBD5E1"/>
            </a:solidFill>
            <a:prstDash val="solid"/>
          </a:ln>
        </p:spPr>
        <p:txBody>
          <a:bodyPr/>
          <a:lstStyle/>
          <a:p>
            <a:endParaRPr lang="en-US"/>
          </a:p>
        </p:txBody>
      </p:sp>
      <p:sp>
        <p:nvSpPr>
          <p:cNvPr id="14" name="Shape 12"/>
          <p:cNvSpPr/>
          <p:nvPr/>
        </p:nvSpPr>
        <p:spPr>
          <a:xfrm>
            <a:off x="4562856" y="2496312"/>
            <a:ext cx="822960" cy="73152"/>
          </a:xfrm>
          <a:prstGeom prst="rect">
            <a:avLst/>
          </a:prstGeom>
          <a:solidFill>
            <a:srgbClr val="4F46E5"/>
          </a:solidFill>
          <a:ln/>
        </p:spPr>
        <p:txBody>
          <a:bodyPr/>
          <a:lstStyle/>
          <a:p>
            <a:endParaRPr lang="en-US"/>
          </a:p>
        </p:txBody>
      </p:sp>
      <p:sp>
        <p:nvSpPr>
          <p:cNvPr id="15" name="Text 13"/>
          <p:cNvSpPr/>
          <p:nvPr/>
        </p:nvSpPr>
        <p:spPr>
          <a:xfrm>
            <a:off x="4562856" y="2697480"/>
            <a:ext cx="3054096" cy="640080"/>
          </a:xfrm>
          <a:prstGeom prst="rect">
            <a:avLst/>
          </a:prstGeom>
          <a:noFill/>
          <a:ln/>
        </p:spPr>
        <p:txBody>
          <a:bodyPr wrap="square" rtlCol="0" anchor="ctr"/>
          <a:lstStyle/>
          <a:p>
            <a:pPr marL="0" indent="0">
              <a:buNone/>
            </a:pPr>
            <a:r>
              <a:rPr lang="en-US" sz="2400" b="1" dirty="0">
                <a:solidFill>
                  <a:srgbClr val="4F46E5"/>
                </a:solidFill>
                <a:latin typeface="Calibri" pitchFamily="34" charset="0"/>
                <a:ea typeface="Calibri" pitchFamily="34" charset="-122"/>
                <a:cs typeface="Calibri" pitchFamily="34" charset="-120"/>
              </a:rPr>
              <a:t>32% – 45%</a:t>
            </a:r>
            <a:endParaRPr lang="en-US" sz="2400" dirty="0"/>
          </a:p>
        </p:txBody>
      </p:sp>
      <p:sp>
        <p:nvSpPr>
          <p:cNvPr id="16" name="Text 14"/>
          <p:cNvSpPr/>
          <p:nvPr/>
        </p:nvSpPr>
        <p:spPr>
          <a:xfrm>
            <a:off x="4562856" y="3383280"/>
            <a:ext cx="3054096" cy="411480"/>
          </a:xfrm>
          <a:prstGeom prst="rect">
            <a:avLst/>
          </a:prstGeom>
          <a:noFill/>
          <a:ln/>
        </p:spPr>
        <p:txBody>
          <a:bodyPr wrap="square"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Higher Digital Task Drop-Off</a:t>
            </a:r>
            <a:endParaRPr lang="en-US" sz="1400" dirty="0"/>
          </a:p>
        </p:txBody>
      </p:sp>
      <p:sp>
        <p:nvSpPr>
          <p:cNvPr id="17" name="Text 15"/>
          <p:cNvSpPr/>
          <p:nvPr/>
        </p:nvSpPr>
        <p:spPr>
          <a:xfrm>
            <a:off x="4562856" y="3867912"/>
            <a:ext cx="3054096" cy="1371600"/>
          </a:xfrm>
          <a:prstGeom prst="rect">
            <a:avLst/>
          </a:prstGeom>
          <a:noFill/>
          <a:ln/>
        </p:spPr>
        <p:txBody>
          <a:bodyPr wrap="square" rtlCol="0" anchor="t"/>
          <a:lstStyle/>
          <a:p>
            <a:pPr marL="0" indent="0">
              <a:buNone/>
            </a:pPr>
            <a:r>
              <a:rPr lang="en-US" sz="1200" dirty="0">
                <a:solidFill>
                  <a:srgbClr val="475569"/>
                </a:solidFill>
                <a:latin typeface="Calibri" pitchFamily="34" charset="0"/>
                <a:ea typeface="Calibri" pitchFamily="34" charset="-122"/>
                <a:cs typeface="Calibri" pitchFamily="34" charset="-120"/>
              </a:rPr>
              <a:t>Multi-column clutter, dense text walls, and countdown timers trigger executive-function freeze and sensory fatigue (W3C COGA).</a:t>
            </a:r>
            <a:endParaRPr lang="en-US" sz="1200" dirty="0"/>
          </a:p>
        </p:txBody>
      </p:sp>
      <p:sp>
        <p:nvSpPr>
          <p:cNvPr id="18" name="Shape 16"/>
          <p:cNvSpPr/>
          <p:nvPr/>
        </p:nvSpPr>
        <p:spPr>
          <a:xfrm>
            <a:off x="8119872" y="2240280"/>
            <a:ext cx="3511296" cy="3794760"/>
          </a:xfrm>
          <a:prstGeom prst="roundRect">
            <a:avLst>
              <a:gd name="adj" fmla="val 3125"/>
            </a:avLst>
          </a:prstGeom>
          <a:solidFill>
            <a:srgbClr val="FFFFFF"/>
          </a:solidFill>
          <a:ln w="15240">
            <a:solidFill>
              <a:srgbClr val="CBD5E1"/>
            </a:solidFill>
            <a:prstDash val="solid"/>
          </a:ln>
        </p:spPr>
        <p:txBody>
          <a:bodyPr/>
          <a:lstStyle/>
          <a:p>
            <a:endParaRPr lang="en-US"/>
          </a:p>
        </p:txBody>
      </p:sp>
      <p:sp>
        <p:nvSpPr>
          <p:cNvPr id="19" name="Shape 17"/>
          <p:cNvSpPr/>
          <p:nvPr/>
        </p:nvSpPr>
        <p:spPr>
          <a:xfrm>
            <a:off x="8348472" y="2496312"/>
            <a:ext cx="822960" cy="73152"/>
          </a:xfrm>
          <a:prstGeom prst="rect">
            <a:avLst/>
          </a:prstGeom>
          <a:solidFill>
            <a:srgbClr val="4F46E5"/>
          </a:solidFill>
          <a:ln/>
        </p:spPr>
        <p:txBody>
          <a:bodyPr/>
          <a:lstStyle/>
          <a:p>
            <a:endParaRPr lang="en-US"/>
          </a:p>
        </p:txBody>
      </p:sp>
      <p:sp>
        <p:nvSpPr>
          <p:cNvPr id="20" name="Text 18"/>
          <p:cNvSpPr/>
          <p:nvPr/>
        </p:nvSpPr>
        <p:spPr>
          <a:xfrm>
            <a:off x="8348472" y="2697480"/>
            <a:ext cx="3054096" cy="640080"/>
          </a:xfrm>
          <a:prstGeom prst="rect">
            <a:avLst/>
          </a:prstGeom>
          <a:noFill/>
          <a:ln/>
        </p:spPr>
        <p:txBody>
          <a:bodyPr wrap="square" rtlCol="0" anchor="ctr"/>
          <a:lstStyle/>
          <a:p>
            <a:pPr marL="0" indent="0">
              <a:buNone/>
            </a:pPr>
            <a:r>
              <a:rPr lang="en-US" sz="2400" b="1" dirty="0">
                <a:solidFill>
                  <a:srgbClr val="4F46E5"/>
                </a:solidFill>
                <a:latin typeface="Calibri" pitchFamily="34" charset="0"/>
                <a:ea typeface="Calibri" pitchFamily="34" charset="-122"/>
                <a:cs typeface="Calibri" pitchFamily="34" charset="-120"/>
              </a:rPr>
              <a:t>78% Undiagnosed</a:t>
            </a:r>
            <a:endParaRPr lang="en-US" sz="2400" dirty="0"/>
          </a:p>
        </p:txBody>
      </p:sp>
      <p:sp>
        <p:nvSpPr>
          <p:cNvPr id="21" name="Text 19"/>
          <p:cNvSpPr/>
          <p:nvPr/>
        </p:nvSpPr>
        <p:spPr>
          <a:xfrm>
            <a:off x="8348472" y="3383280"/>
            <a:ext cx="3054096" cy="411480"/>
          </a:xfrm>
          <a:prstGeom prst="rect">
            <a:avLst/>
          </a:prstGeom>
          <a:noFill/>
          <a:ln/>
        </p:spPr>
        <p:txBody>
          <a:bodyPr wrap="square"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Struggle to Self-Configure Tools</a:t>
            </a:r>
            <a:endParaRPr lang="en-US" sz="1400" dirty="0"/>
          </a:p>
        </p:txBody>
      </p:sp>
      <p:sp>
        <p:nvSpPr>
          <p:cNvPr id="22" name="Text 20"/>
          <p:cNvSpPr/>
          <p:nvPr/>
        </p:nvSpPr>
        <p:spPr>
          <a:xfrm>
            <a:off x="8348472" y="3867912"/>
            <a:ext cx="3054096" cy="1371600"/>
          </a:xfrm>
          <a:prstGeom prst="rect">
            <a:avLst/>
          </a:prstGeom>
          <a:noFill/>
          <a:ln/>
        </p:spPr>
        <p:txBody>
          <a:bodyPr wrap="square" rtlCol="0" anchor="t"/>
          <a:lstStyle/>
          <a:p>
            <a:pPr marL="0" indent="0">
              <a:buNone/>
            </a:pPr>
            <a:r>
              <a:rPr lang="en-US" sz="1200" dirty="0">
                <a:solidFill>
                  <a:srgbClr val="475569"/>
                </a:solidFill>
                <a:latin typeface="Calibri" pitchFamily="34" charset="0"/>
                <a:ea typeface="Calibri" pitchFamily="34" charset="-122"/>
                <a:cs typeface="Calibri" pitchFamily="34" charset="-120"/>
              </a:rPr>
              <a:t>Young neurodivergent learners rarely know which accessibility settings to toggle in complex settings menus (CAST UDL 3.0).</a:t>
            </a:r>
            <a:endParaRPr lang="en-US" sz="1200" dirty="0"/>
          </a:p>
        </p:txBody>
      </p:sp>
      <p:sp>
        <p:nvSpPr>
          <p:cNvPr id="23" name="Text 21"/>
          <p:cNvSpPr/>
          <p:nvPr/>
        </p:nvSpPr>
        <p:spPr>
          <a:xfrm>
            <a:off x="548640" y="6327648"/>
            <a:ext cx="11091672" cy="320040"/>
          </a:xfrm>
          <a:prstGeom prst="rect">
            <a:avLst/>
          </a:prstGeom>
          <a:noFill/>
          <a:ln/>
        </p:spPr>
        <p:txBody>
          <a:bodyPr wrap="square" rtlCol="0" anchor="ctr"/>
          <a:lstStyle/>
          <a:p>
            <a:pPr marL="0" indent="0">
              <a:buNone/>
            </a:pPr>
            <a:r>
              <a:rPr lang="en-US" sz="950" b="1" dirty="0">
                <a:solidFill>
                  <a:srgbClr val="475569"/>
                </a:solidFill>
                <a:latin typeface="Calibri" pitchFamily="34" charset="0"/>
                <a:ea typeface="Calibri" pitchFamily="34" charset="-122"/>
                <a:cs typeface="Calibri" pitchFamily="34" charset="-120"/>
              </a:rPr>
              <a:t>LuminaLearn  ·  Jose Unanue (12th Grade, Miami Coral Park Senior High School)  ·  Congressional District FL-27</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548640" y="320040"/>
            <a:ext cx="4937760" cy="347472"/>
          </a:xfrm>
          <a:prstGeom prst="roundRect">
            <a:avLst>
              <a:gd name="adj" fmla="val 21053"/>
            </a:avLst>
          </a:prstGeom>
          <a:solidFill>
            <a:srgbClr val="EEF2FF"/>
          </a:solidFill>
          <a:ln w="12700">
            <a:solidFill>
              <a:srgbClr val="4F46E5"/>
            </a:solidFill>
            <a:prstDash val="solid"/>
          </a:ln>
        </p:spPr>
        <p:txBody>
          <a:bodyPr/>
          <a:lstStyle/>
          <a:p>
            <a:endParaRPr lang="en-US"/>
          </a:p>
        </p:txBody>
      </p:sp>
      <p:sp>
        <p:nvSpPr>
          <p:cNvPr id="3" name="Text 1"/>
          <p:cNvSpPr/>
          <p:nvPr/>
        </p:nvSpPr>
        <p:spPr>
          <a:xfrm>
            <a:off x="640080" y="338328"/>
            <a:ext cx="4754880" cy="310896"/>
          </a:xfrm>
          <a:prstGeom prst="rect">
            <a:avLst/>
          </a:prstGeom>
          <a:noFill/>
          <a:ln/>
        </p:spPr>
        <p:txBody>
          <a:bodyPr wrap="square" rtlCol="0" anchor="ctr"/>
          <a:lstStyle/>
          <a:p>
            <a:pPr marL="0" indent="0">
              <a:buNone/>
            </a:pPr>
            <a:r>
              <a:rPr lang="en-US" sz="1000" b="1" dirty="0">
                <a:solidFill>
                  <a:srgbClr val="312E81"/>
                </a:solidFill>
                <a:latin typeface="Calibri" pitchFamily="34" charset="0"/>
                <a:ea typeface="Calibri" pitchFamily="34" charset="-122"/>
                <a:cs typeface="Calibri" pitchFamily="34" charset="-120"/>
              </a:rPr>
              <a:t>3. CORE MODULES (1 &amp; 2): ADAPTIVE ONBOARDING &amp; LEARNER HOME</a:t>
            </a:r>
            <a:endParaRPr lang="en-US" sz="1000" dirty="0"/>
          </a:p>
        </p:txBody>
      </p:sp>
      <p:sp>
        <p:nvSpPr>
          <p:cNvPr id="4" name="Shape 2"/>
          <p:cNvSpPr/>
          <p:nvPr/>
        </p:nvSpPr>
        <p:spPr>
          <a:xfrm>
            <a:off x="10659978" y="320040"/>
            <a:ext cx="980333" cy="347472"/>
          </a:xfrm>
          <a:prstGeom prst="roundRect">
            <a:avLst>
              <a:gd name="adj" fmla="val 21053"/>
            </a:avLst>
          </a:prstGeom>
          <a:solidFill>
            <a:srgbClr val="FFFFFF"/>
          </a:solidFill>
          <a:ln w="12700">
            <a:solidFill>
              <a:srgbClr val="CBD5E1"/>
            </a:solidFill>
            <a:prstDash val="solid"/>
          </a:ln>
        </p:spPr>
        <p:txBody>
          <a:bodyPr/>
          <a:lstStyle/>
          <a:p>
            <a:endParaRPr lang="en-US"/>
          </a:p>
        </p:txBody>
      </p:sp>
      <p:sp>
        <p:nvSpPr>
          <p:cNvPr id="5" name="Text 3"/>
          <p:cNvSpPr/>
          <p:nvPr/>
        </p:nvSpPr>
        <p:spPr>
          <a:xfrm>
            <a:off x="10714120" y="338328"/>
            <a:ext cx="834751" cy="310896"/>
          </a:xfrm>
          <a:prstGeom prst="rect">
            <a:avLst/>
          </a:prstGeom>
          <a:noFill/>
          <a:ln/>
        </p:spPr>
        <p:txBody>
          <a:bodyPr wrap="square" rtlCol="0" anchor="ctr"/>
          <a:lstStyle/>
          <a:p>
            <a:pPr marL="0" indent="0" algn="r">
              <a:buNone/>
            </a:pPr>
            <a:r>
              <a:rPr lang="en-US" sz="1000" b="1" dirty="0">
                <a:solidFill>
                  <a:srgbClr val="475569"/>
                </a:solidFill>
                <a:latin typeface="Consolas" pitchFamily="34" charset="0"/>
                <a:ea typeface="Consolas" pitchFamily="34" charset="-122"/>
                <a:cs typeface="Consolas" pitchFamily="34" charset="-120"/>
              </a:rPr>
              <a:t>Slide 3/7</a:t>
            </a:r>
            <a:endParaRPr lang="en-US" sz="1000" dirty="0"/>
          </a:p>
        </p:txBody>
      </p:sp>
      <p:sp>
        <p:nvSpPr>
          <p:cNvPr id="6" name="Text 4"/>
          <p:cNvSpPr/>
          <p:nvPr/>
        </p:nvSpPr>
        <p:spPr>
          <a:xfrm>
            <a:off x="548640" y="804672"/>
            <a:ext cx="11091672" cy="749808"/>
          </a:xfrm>
          <a:prstGeom prst="rect">
            <a:avLst/>
          </a:prstGeom>
          <a:noFill/>
          <a:ln/>
        </p:spPr>
        <p:txBody>
          <a:bodyPr wrap="square" rtlCol="0" anchor="t"/>
          <a:lstStyle/>
          <a:p>
            <a:pPr marL="0" indent="0">
              <a:buNone/>
            </a:pPr>
            <a:r>
              <a:rPr lang="en-US" sz="2200" b="1" dirty="0">
                <a:solidFill>
                  <a:srgbClr val="0F172A"/>
                </a:solidFill>
                <a:latin typeface="Calibri" pitchFamily="34" charset="0"/>
                <a:ea typeface="Calibri" pitchFamily="34" charset="-122"/>
                <a:cs typeface="Calibri" pitchFamily="34" charset="-120"/>
              </a:rPr>
              <a:t>Module 1 &amp; 2: Low-Workload Support Discovery &amp; Khan Academy-Inspired Mastery Home</a:t>
            </a:r>
            <a:endParaRPr lang="en-US" sz="2200" dirty="0"/>
          </a:p>
        </p:txBody>
      </p:sp>
      <p:sp>
        <p:nvSpPr>
          <p:cNvPr id="7" name="Text 5"/>
          <p:cNvSpPr/>
          <p:nvPr/>
        </p:nvSpPr>
        <p:spPr>
          <a:xfrm>
            <a:off x="548640" y="1572768"/>
            <a:ext cx="11091672" cy="438912"/>
          </a:xfrm>
          <a:prstGeom prst="rect">
            <a:avLst/>
          </a:prstGeom>
          <a:noFill/>
          <a:ln/>
        </p:spPr>
        <p:txBody>
          <a:bodyPr wrap="square" rtlCol="0" anchor="t"/>
          <a:lstStyle/>
          <a:p>
            <a:pPr marL="0" indent="0">
              <a:buNone/>
            </a:pPr>
            <a:r>
              <a:rPr lang="en-US" sz="1300" dirty="0">
                <a:solidFill>
                  <a:srgbClr val="475569"/>
                </a:solidFill>
                <a:latin typeface="Calibri" pitchFamily="34" charset="0"/>
                <a:ea typeface="Calibri" pitchFamily="34" charset="-122"/>
                <a:cs typeface="Calibri" pitchFamily="34" charset="-120"/>
              </a:rPr>
              <a:t>Eliminating decision fatigue through plain-language preference matching and a two-column asymmetric workspace.</a:t>
            </a:r>
            <a:endParaRPr lang="en-US" sz="1300" dirty="0"/>
          </a:p>
        </p:txBody>
      </p:sp>
      <p:sp>
        <p:nvSpPr>
          <p:cNvPr id="8" name="Shape 6"/>
          <p:cNvSpPr/>
          <p:nvPr/>
        </p:nvSpPr>
        <p:spPr>
          <a:xfrm>
            <a:off x="548640" y="2103120"/>
            <a:ext cx="5394960" cy="3977640"/>
          </a:xfrm>
          <a:prstGeom prst="roundRect">
            <a:avLst>
              <a:gd name="adj" fmla="val 2759"/>
            </a:avLst>
          </a:prstGeom>
          <a:solidFill>
            <a:srgbClr val="FFFFFF"/>
          </a:solidFill>
          <a:ln w="15240">
            <a:solidFill>
              <a:srgbClr val="CBD5E1"/>
            </a:solidFill>
            <a:prstDash val="solid"/>
          </a:ln>
        </p:spPr>
        <p:txBody>
          <a:bodyPr/>
          <a:lstStyle/>
          <a:p>
            <a:endParaRPr lang="en-US"/>
          </a:p>
        </p:txBody>
      </p:sp>
      <p:sp>
        <p:nvSpPr>
          <p:cNvPr id="9" name="Shape 7"/>
          <p:cNvSpPr/>
          <p:nvPr/>
        </p:nvSpPr>
        <p:spPr>
          <a:xfrm>
            <a:off x="777240" y="2304288"/>
            <a:ext cx="4937760" cy="292608"/>
          </a:xfrm>
          <a:prstGeom prst="roundRect">
            <a:avLst>
              <a:gd name="adj" fmla="val 18750"/>
            </a:avLst>
          </a:prstGeom>
          <a:solidFill>
            <a:srgbClr val="EEF2FF"/>
          </a:solidFill>
          <a:ln w="9525">
            <a:solidFill>
              <a:srgbClr val="4F46E5"/>
            </a:solidFill>
            <a:prstDash val="solid"/>
          </a:ln>
        </p:spPr>
        <p:txBody>
          <a:bodyPr/>
          <a:lstStyle/>
          <a:p>
            <a:endParaRPr lang="en-US"/>
          </a:p>
        </p:txBody>
      </p:sp>
      <p:sp>
        <p:nvSpPr>
          <p:cNvPr id="10" name="Text 8"/>
          <p:cNvSpPr/>
          <p:nvPr/>
        </p:nvSpPr>
        <p:spPr>
          <a:xfrm>
            <a:off x="868680" y="2313432"/>
            <a:ext cx="4754880" cy="274320"/>
          </a:xfrm>
          <a:prstGeom prst="rect">
            <a:avLst/>
          </a:prstGeom>
          <a:noFill/>
          <a:ln/>
        </p:spPr>
        <p:txBody>
          <a:bodyPr wrap="square" rtlCol="0" anchor="ctr"/>
          <a:lstStyle/>
          <a:p>
            <a:pPr marL="0" indent="0">
              <a:buNone/>
            </a:pPr>
            <a:r>
              <a:rPr lang="en-US" sz="950" b="1" dirty="0">
                <a:solidFill>
                  <a:srgbClr val="312E81"/>
                </a:solidFill>
                <a:latin typeface="Calibri" pitchFamily="34" charset="0"/>
                <a:ea typeface="Calibri" pitchFamily="34" charset="-122"/>
                <a:cs typeface="Calibri" pitchFamily="34" charset="-120"/>
              </a:rPr>
              <a:t>MODULE 1 · SUPPORT DISCOVERY ENGINE &amp; MY TOOLS</a:t>
            </a:r>
            <a:endParaRPr lang="en-US" sz="950" dirty="0"/>
          </a:p>
        </p:txBody>
      </p:sp>
      <p:sp>
        <p:nvSpPr>
          <p:cNvPr id="11" name="Text 9"/>
          <p:cNvSpPr/>
          <p:nvPr/>
        </p:nvSpPr>
        <p:spPr>
          <a:xfrm>
            <a:off x="777240" y="2670048"/>
            <a:ext cx="4937760" cy="384048"/>
          </a:xfrm>
          <a:prstGeom prst="rect">
            <a:avLst/>
          </a:prstGeom>
          <a:noFill/>
          <a:ln/>
        </p:spPr>
        <p:txBody>
          <a:bodyPr wrap="square"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3-Question Plain-Language Onboarding Quiz</a:t>
            </a:r>
            <a:endParaRPr lang="en-US" sz="1500" dirty="0"/>
          </a:p>
        </p:txBody>
      </p:sp>
      <p:sp>
        <p:nvSpPr>
          <p:cNvPr id="12" name="Shape 10"/>
          <p:cNvSpPr/>
          <p:nvPr/>
        </p:nvSpPr>
        <p:spPr>
          <a:xfrm>
            <a:off x="777240" y="3108960"/>
            <a:ext cx="4937760" cy="658368"/>
          </a:xfrm>
          <a:prstGeom prst="roundRect">
            <a:avLst>
              <a:gd name="adj" fmla="val 8333"/>
            </a:avLst>
          </a:prstGeom>
          <a:solidFill>
            <a:srgbClr val="F8FAFC"/>
          </a:solidFill>
          <a:ln w="9525">
            <a:solidFill>
              <a:srgbClr val="CBD5E1"/>
            </a:solidFill>
            <a:prstDash val="solid"/>
          </a:ln>
        </p:spPr>
        <p:txBody>
          <a:bodyPr/>
          <a:lstStyle/>
          <a:p>
            <a:endParaRPr lang="en-US"/>
          </a:p>
        </p:txBody>
      </p:sp>
      <p:sp>
        <p:nvSpPr>
          <p:cNvPr id="13" name="Text 11"/>
          <p:cNvSpPr/>
          <p:nvPr/>
        </p:nvSpPr>
        <p:spPr>
          <a:xfrm>
            <a:off x="868680" y="3145536"/>
            <a:ext cx="4754880" cy="585216"/>
          </a:xfrm>
          <a:prstGeom prst="rect">
            <a:avLst/>
          </a:prstGeom>
          <a:noFill/>
          <a:ln/>
        </p:spPr>
        <p:txBody>
          <a:bodyPr wrap="square" rtlCol="0" anchor="ctr"/>
          <a:lstStyle/>
          <a:p>
            <a:pPr marL="0" indent="0">
              <a:buNone/>
            </a:pPr>
            <a:r>
              <a:rPr lang="en-US" sz="1050" b="1" dirty="0">
                <a:solidFill>
                  <a:srgbClr val="312E81"/>
                </a:solidFill>
                <a:latin typeface="Calibri" pitchFamily="34" charset="0"/>
                <a:ea typeface="Calibri" pitchFamily="34" charset="-122"/>
                <a:cs typeface="Calibri" pitchFamily="34" charset="-120"/>
              </a:rPr>
              <a:t>Purpose: Matches students to sensory, reading, focus, and audio supports without medical jargon or diagnostic labels.</a:t>
            </a:r>
            <a:endParaRPr lang="en-US" sz="1050" dirty="0"/>
          </a:p>
        </p:txBody>
      </p:sp>
      <p:sp>
        <p:nvSpPr>
          <p:cNvPr id="14" name="Text 12"/>
          <p:cNvSpPr/>
          <p:nvPr/>
        </p:nvSpPr>
        <p:spPr>
          <a:xfrm>
            <a:off x="777240" y="3886200"/>
            <a:ext cx="4937760" cy="2057400"/>
          </a:xfrm>
          <a:prstGeom prst="rect">
            <a:avLst/>
          </a:prstGeom>
          <a:noFill/>
          <a:ln/>
        </p:spPr>
        <p:txBody>
          <a:bodyPr wrap="square" rtlCol="0" anchor="t"/>
          <a:lstStyle/>
          <a:p>
            <a:pPr marL="0" indent="0">
              <a:buNone/>
            </a:pPr>
            <a:r>
              <a:rPr lang="en-US" sz="1100" dirty="0">
                <a:solidFill>
                  <a:srgbClr val="0F172A"/>
                </a:solidFill>
                <a:latin typeface="Calibri" pitchFamily="34" charset="0"/>
                <a:ea typeface="Calibri" pitchFamily="34" charset="-122"/>
                <a:cs typeface="Calibri" pitchFamily="34" charset="-120"/>
              </a:rPr>
              <a:t>✓  Translates statements like “I have trouble focusing” into Micro-Chunked Cards + Focus Shield + Game-Based Milestones.</a:t>
            </a:r>
            <a:endParaRPr lang="en-US" sz="1100" dirty="0"/>
          </a:p>
          <a:p>
            <a:pPr marL="0" indent="0">
              <a:buNone/>
            </a:pPr>
            <a:endParaRPr lang="en-US" sz="1100" dirty="0"/>
          </a:p>
          <a:p>
            <a:pPr marL="0" indent="0">
              <a:buNone/>
            </a:pPr>
            <a:r>
              <a:rPr lang="en-US" sz="1100" dirty="0">
                <a:solidFill>
                  <a:srgbClr val="0F172A"/>
                </a:solidFill>
                <a:latin typeface="Calibri" pitchFamily="34" charset="0"/>
                <a:ea typeface="Calibri" pitchFamily="34" charset="-122"/>
                <a:cs typeface="Calibri" pitchFamily="34" charset="-120"/>
              </a:rPr>
              <a:t>✓  4 Learner-Owned Visual Themes: Daylight, Calmer Screen (Autism/Sensory), Warm Reading Paper (Dyslexia), and High-Contrast CVI.</a:t>
            </a:r>
            <a:endParaRPr lang="en-US" sz="1100" dirty="0"/>
          </a:p>
          <a:p>
            <a:pPr marL="0" indent="0">
              <a:buNone/>
            </a:pPr>
            <a:endParaRPr lang="en-US" sz="1100" dirty="0"/>
          </a:p>
          <a:p>
            <a:pPr marL="0" indent="0">
              <a:buNone/>
            </a:pPr>
            <a:r>
              <a:rPr lang="en-US" sz="1100" dirty="0">
                <a:solidFill>
                  <a:srgbClr val="0F172A"/>
                </a:solidFill>
                <a:latin typeface="Calibri" pitchFamily="34" charset="0"/>
                <a:ea typeface="Calibri" pitchFamily="34" charset="-122"/>
                <a:cs typeface="Calibri" pitchFamily="34" charset="-120"/>
              </a:rPr>
              <a:t>✓  Single persistent “My tools” disclosure keeps the top bar under 5 controls (W3C COGA).</a:t>
            </a:r>
            <a:endParaRPr lang="en-US" sz="1100" dirty="0"/>
          </a:p>
        </p:txBody>
      </p:sp>
      <p:sp>
        <p:nvSpPr>
          <p:cNvPr id="15" name="Shape 13"/>
          <p:cNvSpPr/>
          <p:nvPr/>
        </p:nvSpPr>
        <p:spPr>
          <a:xfrm>
            <a:off x="6245352" y="2103120"/>
            <a:ext cx="5394960" cy="3977640"/>
          </a:xfrm>
          <a:prstGeom prst="roundRect">
            <a:avLst>
              <a:gd name="adj" fmla="val 2759"/>
            </a:avLst>
          </a:prstGeom>
          <a:solidFill>
            <a:srgbClr val="FFFFFF"/>
          </a:solidFill>
          <a:ln w="15240">
            <a:solidFill>
              <a:srgbClr val="CBD5E1"/>
            </a:solidFill>
            <a:prstDash val="solid"/>
          </a:ln>
        </p:spPr>
        <p:txBody>
          <a:bodyPr/>
          <a:lstStyle/>
          <a:p>
            <a:endParaRPr lang="en-US"/>
          </a:p>
        </p:txBody>
      </p:sp>
      <p:sp>
        <p:nvSpPr>
          <p:cNvPr id="16" name="Shape 14"/>
          <p:cNvSpPr/>
          <p:nvPr/>
        </p:nvSpPr>
        <p:spPr>
          <a:xfrm>
            <a:off x="6473952" y="2304288"/>
            <a:ext cx="4937760" cy="292608"/>
          </a:xfrm>
          <a:prstGeom prst="roundRect">
            <a:avLst>
              <a:gd name="adj" fmla="val 18750"/>
            </a:avLst>
          </a:prstGeom>
          <a:solidFill>
            <a:srgbClr val="EEF2FF"/>
          </a:solidFill>
          <a:ln w="9525">
            <a:solidFill>
              <a:srgbClr val="4F46E5"/>
            </a:solidFill>
            <a:prstDash val="solid"/>
          </a:ln>
        </p:spPr>
        <p:txBody>
          <a:bodyPr/>
          <a:lstStyle/>
          <a:p>
            <a:endParaRPr lang="en-US"/>
          </a:p>
        </p:txBody>
      </p:sp>
      <p:sp>
        <p:nvSpPr>
          <p:cNvPr id="17" name="Text 15"/>
          <p:cNvSpPr/>
          <p:nvPr/>
        </p:nvSpPr>
        <p:spPr>
          <a:xfrm>
            <a:off x="6565392" y="2313432"/>
            <a:ext cx="4754880" cy="274320"/>
          </a:xfrm>
          <a:prstGeom prst="rect">
            <a:avLst/>
          </a:prstGeom>
          <a:noFill/>
          <a:ln/>
        </p:spPr>
        <p:txBody>
          <a:bodyPr wrap="square" rtlCol="0" anchor="ctr"/>
          <a:lstStyle/>
          <a:p>
            <a:pPr marL="0" indent="0">
              <a:buNone/>
            </a:pPr>
            <a:r>
              <a:rPr lang="en-US" sz="950" b="1" dirty="0">
                <a:solidFill>
                  <a:srgbClr val="312E81"/>
                </a:solidFill>
                <a:latin typeface="Calibri" pitchFamily="34" charset="0"/>
                <a:ea typeface="Calibri" pitchFamily="34" charset="-122"/>
                <a:cs typeface="Calibri" pitchFamily="34" charset="-120"/>
              </a:rPr>
              <a:t>MODULE 2 · LEARNER HOME &amp; 4-TIER CROWN MASTERY</a:t>
            </a:r>
            <a:endParaRPr lang="en-US" sz="950" dirty="0"/>
          </a:p>
        </p:txBody>
      </p:sp>
      <p:sp>
        <p:nvSpPr>
          <p:cNvPr id="18" name="Text 16"/>
          <p:cNvSpPr/>
          <p:nvPr/>
        </p:nvSpPr>
        <p:spPr>
          <a:xfrm>
            <a:off x="6473952" y="2670048"/>
            <a:ext cx="4937760" cy="384048"/>
          </a:xfrm>
          <a:prstGeom prst="rect">
            <a:avLst/>
          </a:prstGeom>
          <a:noFill/>
          <a:ln/>
        </p:spPr>
        <p:txBody>
          <a:bodyPr wrap="square"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Asymmetric Workspace &amp; Visual Skill Blocks</a:t>
            </a:r>
            <a:endParaRPr lang="en-US" sz="1500" dirty="0"/>
          </a:p>
        </p:txBody>
      </p:sp>
      <p:sp>
        <p:nvSpPr>
          <p:cNvPr id="19" name="Shape 17"/>
          <p:cNvSpPr/>
          <p:nvPr/>
        </p:nvSpPr>
        <p:spPr>
          <a:xfrm>
            <a:off x="6473952" y="3108960"/>
            <a:ext cx="4937760" cy="658368"/>
          </a:xfrm>
          <a:prstGeom prst="roundRect">
            <a:avLst>
              <a:gd name="adj" fmla="val 8333"/>
            </a:avLst>
          </a:prstGeom>
          <a:solidFill>
            <a:srgbClr val="F8FAFC"/>
          </a:solidFill>
          <a:ln w="9525">
            <a:solidFill>
              <a:srgbClr val="CBD5E1"/>
            </a:solidFill>
            <a:prstDash val="solid"/>
          </a:ln>
        </p:spPr>
        <p:txBody>
          <a:bodyPr/>
          <a:lstStyle/>
          <a:p>
            <a:endParaRPr lang="en-US"/>
          </a:p>
        </p:txBody>
      </p:sp>
      <p:sp>
        <p:nvSpPr>
          <p:cNvPr id="20" name="Text 18"/>
          <p:cNvSpPr/>
          <p:nvPr/>
        </p:nvSpPr>
        <p:spPr>
          <a:xfrm>
            <a:off x="6565392" y="3145536"/>
            <a:ext cx="4754880" cy="585216"/>
          </a:xfrm>
          <a:prstGeom prst="rect">
            <a:avLst/>
          </a:prstGeom>
          <a:noFill/>
          <a:ln/>
        </p:spPr>
        <p:txBody>
          <a:bodyPr wrap="square" rtlCol="0" anchor="ctr"/>
          <a:lstStyle/>
          <a:p>
            <a:pPr marL="0" indent="0">
              <a:buNone/>
            </a:pPr>
            <a:r>
              <a:rPr lang="en-US" sz="1050" b="1" dirty="0">
                <a:solidFill>
                  <a:srgbClr val="312E81"/>
                </a:solidFill>
                <a:latin typeface="Calibri" pitchFamily="34" charset="0"/>
                <a:ea typeface="Calibri" pitchFamily="34" charset="-122"/>
                <a:cs typeface="Calibri" pitchFamily="34" charset="-120"/>
              </a:rPr>
              <a:t>Purpose: Separates navigation (left rail) from active learning (right workspace) and deduplicates overlapping assignments.</a:t>
            </a:r>
            <a:endParaRPr lang="en-US" sz="1050" dirty="0"/>
          </a:p>
        </p:txBody>
      </p:sp>
      <p:sp>
        <p:nvSpPr>
          <p:cNvPr id="21" name="Text 19"/>
          <p:cNvSpPr/>
          <p:nvPr/>
        </p:nvSpPr>
        <p:spPr>
          <a:xfrm>
            <a:off x="6473952" y="3886200"/>
            <a:ext cx="4937760" cy="2057400"/>
          </a:xfrm>
          <a:prstGeom prst="rect">
            <a:avLst/>
          </a:prstGeom>
          <a:noFill/>
          <a:ln/>
        </p:spPr>
        <p:txBody>
          <a:bodyPr wrap="square" rtlCol="0" anchor="t"/>
          <a:lstStyle/>
          <a:p>
            <a:pPr marL="0" indent="0">
              <a:buNone/>
            </a:pPr>
            <a:r>
              <a:rPr lang="en-US" sz="1100" dirty="0">
                <a:solidFill>
                  <a:srgbClr val="0F172A"/>
                </a:solidFill>
                <a:latin typeface="Calibri" pitchFamily="34" charset="0"/>
                <a:ea typeface="Calibri" pitchFamily="34" charset="-122"/>
                <a:cs typeface="Calibri" pitchFamily="34" charset="-120"/>
              </a:rPr>
              <a:t>✓  Merged “Up Next” Primary Card prevents students from choosing between duplicate assignment and continue cards.</a:t>
            </a:r>
            <a:endParaRPr lang="en-US" sz="1100" dirty="0"/>
          </a:p>
          <a:p>
            <a:pPr marL="0" indent="0">
              <a:buNone/>
            </a:pPr>
            <a:endParaRPr lang="en-US" sz="1100" dirty="0"/>
          </a:p>
          <a:p>
            <a:pPr marL="0" indent="0">
              <a:buNone/>
            </a:pPr>
            <a:r>
              <a:rPr lang="en-US" sz="1100" dirty="0">
                <a:solidFill>
                  <a:srgbClr val="0F172A"/>
                </a:solidFill>
                <a:latin typeface="Calibri" pitchFamily="34" charset="0"/>
                <a:ea typeface="Calibri" pitchFamily="34" charset="-122"/>
                <a:cs typeface="Calibri" pitchFamily="34" charset="-120"/>
              </a:rPr>
              <a:t>✓  4-Tier Visual Skill Mastery Blocks: Not Started (0 pts ·), Familiar (50 pts ◐), Proficient (80 pts ✓), and Mastered (100 pts 👑).</a:t>
            </a:r>
            <a:endParaRPr lang="en-US" sz="1100" dirty="0"/>
          </a:p>
          <a:p>
            <a:pPr marL="0" indent="0">
              <a:buNone/>
            </a:pPr>
            <a:endParaRPr lang="en-US" sz="1100" dirty="0"/>
          </a:p>
          <a:p>
            <a:pPr marL="0" indent="0">
              <a:buNone/>
            </a:pPr>
            <a:r>
              <a:rPr lang="en-US" sz="1100" dirty="0">
                <a:solidFill>
                  <a:srgbClr val="0F172A"/>
                </a:solidFill>
                <a:latin typeface="Calibri" pitchFamily="34" charset="0"/>
                <a:ea typeface="Calibri" pitchFamily="34" charset="-122"/>
                <a:cs typeface="Calibri" pitchFamily="34" charset="-120"/>
              </a:rPr>
              <a:t>✓  Pairs every color state with explicit geometric symbols for WCAG 1.4.1 colorblind &amp; CVI compliance.</a:t>
            </a:r>
            <a:endParaRPr lang="en-US" sz="1100" dirty="0"/>
          </a:p>
        </p:txBody>
      </p:sp>
      <p:sp>
        <p:nvSpPr>
          <p:cNvPr id="22" name="Text 20"/>
          <p:cNvSpPr/>
          <p:nvPr/>
        </p:nvSpPr>
        <p:spPr>
          <a:xfrm>
            <a:off x="548640" y="6327648"/>
            <a:ext cx="11091672" cy="320040"/>
          </a:xfrm>
          <a:prstGeom prst="rect">
            <a:avLst/>
          </a:prstGeom>
          <a:noFill/>
          <a:ln/>
        </p:spPr>
        <p:txBody>
          <a:bodyPr wrap="square" rtlCol="0" anchor="ctr"/>
          <a:lstStyle/>
          <a:p>
            <a:pPr marL="0" indent="0">
              <a:buNone/>
            </a:pPr>
            <a:r>
              <a:rPr lang="en-US" sz="950" b="1" dirty="0">
                <a:solidFill>
                  <a:srgbClr val="475569"/>
                </a:solidFill>
                <a:latin typeface="Calibri" pitchFamily="34" charset="0"/>
                <a:ea typeface="Calibri" pitchFamily="34" charset="-122"/>
                <a:cs typeface="Calibri" pitchFamily="34" charset="-120"/>
              </a:rPr>
              <a:t>LuminaLearn  ·  Jose Unanue (12th Grade, Miami Coral Park Senior High School)  ·  Congressional District FL-27</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548640" y="320040"/>
            <a:ext cx="4937760" cy="347472"/>
          </a:xfrm>
          <a:prstGeom prst="roundRect">
            <a:avLst>
              <a:gd name="adj" fmla="val 21053"/>
            </a:avLst>
          </a:prstGeom>
          <a:solidFill>
            <a:srgbClr val="EEF2FF"/>
          </a:solidFill>
          <a:ln w="12700">
            <a:solidFill>
              <a:srgbClr val="4F46E5"/>
            </a:solidFill>
            <a:prstDash val="solid"/>
          </a:ln>
        </p:spPr>
        <p:txBody>
          <a:bodyPr/>
          <a:lstStyle/>
          <a:p>
            <a:endParaRPr lang="en-US"/>
          </a:p>
        </p:txBody>
      </p:sp>
      <p:sp>
        <p:nvSpPr>
          <p:cNvPr id="3" name="Text 1"/>
          <p:cNvSpPr/>
          <p:nvPr/>
        </p:nvSpPr>
        <p:spPr>
          <a:xfrm>
            <a:off x="640080" y="338328"/>
            <a:ext cx="4754880" cy="310896"/>
          </a:xfrm>
          <a:prstGeom prst="rect">
            <a:avLst/>
          </a:prstGeom>
          <a:noFill/>
          <a:ln/>
        </p:spPr>
        <p:txBody>
          <a:bodyPr wrap="square" rtlCol="0" anchor="ctr"/>
          <a:lstStyle/>
          <a:p>
            <a:pPr marL="0" indent="0">
              <a:buNone/>
            </a:pPr>
            <a:r>
              <a:rPr lang="en-US" sz="1000" b="1" dirty="0">
                <a:solidFill>
                  <a:srgbClr val="312E81"/>
                </a:solidFill>
                <a:latin typeface="Calibri" pitchFamily="34" charset="0"/>
                <a:ea typeface="Calibri" pitchFamily="34" charset="-122"/>
                <a:cs typeface="Calibri" pitchFamily="34" charset="-120"/>
              </a:rPr>
              <a:t>3. CORE MODULES (3 &amp; 4): MULTIMODAL PLAYER &amp; LUMINARE AI</a:t>
            </a:r>
            <a:endParaRPr lang="en-US" sz="1000" dirty="0"/>
          </a:p>
        </p:txBody>
      </p:sp>
      <p:sp>
        <p:nvSpPr>
          <p:cNvPr id="4" name="Shape 2"/>
          <p:cNvSpPr/>
          <p:nvPr/>
        </p:nvSpPr>
        <p:spPr>
          <a:xfrm>
            <a:off x="10659978" y="320040"/>
            <a:ext cx="980333" cy="347472"/>
          </a:xfrm>
          <a:prstGeom prst="roundRect">
            <a:avLst>
              <a:gd name="adj" fmla="val 21053"/>
            </a:avLst>
          </a:prstGeom>
          <a:solidFill>
            <a:srgbClr val="FFFFFF"/>
          </a:solidFill>
          <a:ln w="12700">
            <a:solidFill>
              <a:srgbClr val="CBD5E1"/>
            </a:solidFill>
            <a:prstDash val="solid"/>
          </a:ln>
        </p:spPr>
        <p:txBody>
          <a:bodyPr/>
          <a:lstStyle/>
          <a:p>
            <a:endParaRPr lang="en-US"/>
          </a:p>
        </p:txBody>
      </p:sp>
      <p:sp>
        <p:nvSpPr>
          <p:cNvPr id="5" name="Text 3"/>
          <p:cNvSpPr/>
          <p:nvPr/>
        </p:nvSpPr>
        <p:spPr>
          <a:xfrm>
            <a:off x="10720136" y="338328"/>
            <a:ext cx="828735" cy="310896"/>
          </a:xfrm>
          <a:prstGeom prst="rect">
            <a:avLst/>
          </a:prstGeom>
          <a:noFill/>
          <a:ln/>
        </p:spPr>
        <p:txBody>
          <a:bodyPr wrap="square" rtlCol="0" anchor="ctr"/>
          <a:lstStyle/>
          <a:p>
            <a:pPr marL="0" indent="0" algn="r">
              <a:buNone/>
            </a:pPr>
            <a:r>
              <a:rPr lang="en-US" sz="1000" b="1" dirty="0">
                <a:solidFill>
                  <a:srgbClr val="475569"/>
                </a:solidFill>
                <a:latin typeface="Consolas" pitchFamily="34" charset="0"/>
                <a:ea typeface="Consolas" pitchFamily="34" charset="-122"/>
                <a:cs typeface="Consolas" pitchFamily="34" charset="-120"/>
              </a:rPr>
              <a:t>Slide 4/7 </a:t>
            </a:r>
            <a:endParaRPr lang="en-US" sz="1000" dirty="0"/>
          </a:p>
        </p:txBody>
      </p:sp>
      <p:sp>
        <p:nvSpPr>
          <p:cNvPr id="6" name="Text 4"/>
          <p:cNvSpPr/>
          <p:nvPr/>
        </p:nvSpPr>
        <p:spPr>
          <a:xfrm>
            <a:off x="548640" y="804672"/>
            <a:ext cx="11091672" cy="749808"/>
          </a:xfrm>
          <a:prstGeom prst="rect">
            <a:avLst/>
          </a:prstGeom>
          <a:noFill/>
          <a:ln/>
        </p:spPr>
        <p:txBody>
          <a:bodyPr wrap="square" rtlCol="0" anchor="t"/>
          <a:lstStyle/>
          <a:p>
            <a:pPr marL="0" indent="0">
              <a:buNone/>
            </a:pPr>
            <a:r>
              <a:rPr lang="en-US" sz="2200" b="1" dirty="0">
                <a:solidFill>
                  <a:srgbClr val="0F172A"/>
                </a:solidFill>
                <a:latin typeface="Calibri" pitchFamily="34" charset="0"/>
                <a:ea typeface="Calibri" pitchFamily="34" charset="-122"/>
                <a:cs typeface="Calibri" pitchFamily="34" charset="-120"/>
              </a:rPr>
              <a:t>Module 3 &amp; 4: Interactive Visual Manipulatives &amp; “Luminare” Socratic AI Companion</a:t>
            </a:r>
            <a:endParaRPr lang="en-US" sz="2200" dirty="0"/>
          </a:p>
        </p:txBody>
      </p:sp>
      <p:sp>
        <p:nvSpPr>
          <p:cNvPr id="7" name="Text 5"/>
          <p:cNvSpPr/>
          <p:nvPr/>
        </p:nvSpPr>
        <p:spPr>
          <a:xfrm>
            <a:off x="548640" y="1572768"/>
            <a:ext cx="11091672" cy="438912"/>
          </a:xfrm>
          <a:prstGeom prst="rect">
            <a:avLst/>
          </a:prstGeom>
          <a:noFill/>
          <a:ln/>
        </p:spPr>
        <p:txBody>
          <a:bodyPr wrap="square" rtlCol="0" anchor="t"/>
          <a:lstStyle/>
          <a:p>
            <a:pPr marL="0" indent="0">
              <a:buNone/>
            </a:pPr>
            <a:r>
              <a:rPr lang="en-US" sz="1300" dirty="0">
                <a:solidFill>
                  <a:srgbClr val="475569"/>
                </a:solidFill>
                <a:latin typeface="Calibri" pitchFamily="34" charset="0"/>
                <a:ea typeface="Calibri" pitchFamily="34" charset="-122"/>
                <a:cs typeface="Calibri" pitchFamily="34" charset="-120"/>
              </a:rPr>
              <a:t>Combining Desmos-style hands-on STEM models, synchronized read-aloud captions, and zero-blank-page Socratic tutoring.</a:t>
            </a:r>
            <a:endParaRPr lang="en-US" sz="1300" dirty="0"/>
          </a:p>
        </p:txBody>
      </p:sp>
      <p:sp>
        <p:nvSpPr>
          <p:cNvPr id="8" name="Shape 6"/>
          <p:cNvSpPr/>
          <p:nvPr/>
        </p:nvSpPr>
        <p:spPr>
          <a:xfrm>
            <a:off x="548640" y="2103120"/>
            <a:ext cx="5394960" cy="3977640"/>
          </a:xfrm>
          <a:prstGeom prst="roundRect">
            <a:avLst>
              <a:gd name="adj" fmla="val 2759"/>
            </a:avLst>
          </a:prstGeom>
          <a:solidFill>
            <a:srgbClr val="FFFFFF"/>
          </a:solidFill>
          <a:ln w="15240">
            <a:solidFill>
              <a:srgbClr val="CBD5E1"/>
            </a:solidFill>
            <a:prstDash val="solid"/>
          </a:ln>
        </p:spPr>
        <p:txBody>
          <a:bodyPr/>
          <a:lstStyle/>
          <a:p>
            <a:endParaRPr lang="en-US"/>
          </a:p>
        </p:txBody>
      </p:sp>
      <p:sp>
        <p:nvSpPr>
          <p:cNvPr id="9" name="Shape 7"/>
          <p:cNvSpPr/>
          <p:nvPr/>
        </p:nvSpPr>
        <p:spPr>
          <a:xfrm>
            <a:off x="777240" y="2304288"/>
            <a:ext cx="4937760" cy="292608"/>
          </a:xfrm>
          <a:prstGeom prst="roundRect">
            <a:avLst>
              <a:gd name="adj" fmla="val 18750"/>
            </a:avLst>
          </a:prstGeom>
          <a:solidFill>
            <a:srgbClr val="EEF2FF"/>
          </a:solidFill>
          <a:ln w="9525">
            <a:solidFill>
              <a:srgbClr val="4F46E5"/>
            </a:solidFill>
            <a:prstDash val="solid"/>
          </a:ln>
        </p:spPr>
        <p:txBody>
          <a:bodyPr/>
          <a:lstStyle/>
          <a:p>
            <a:endParaRPr lang="en-US"/>
          </a:p>
        </p:txBody>
      </p:sp>
      <p:sp>
        <p:nvSpPr>
          <p:cNvPr id="10" name="Text 8"/>
          <p:cNvSpPr/>
          <p:nvPr/>
        </p:nvSpPr>
        <p:spPr>
          <a:xfrm>
            <a:off x="868680" y="2313432"/>
            <a:ext cx="4754880" cy="274320"/>
          </a:xfrm>
          <a:prstGeom prst="rect">
            <a:avLst/>
          </a:prstGeom>
          <a:noFill/>
          <a:ln/>
        </p:spPr>
        <p:txBody>
          <a:bodyPr wrap="square" rtlCol="0" anchor="ctr"/>
          <a:lstStyle/>
          <a:p>
            <a:pPr marL="0" indent="0">
              <a:buNone/>
            </a:pPr>
            <a:r>
              <a:rPr lang="en-US" sz="950" b="1" dirty="0">
                <a:solidFill>
                  <a:srgbClr val="312E81"/>
                </a:solidFill>
                <a:latin typeface="Calibri" pitchFamily="34" charset="0"/>
                <a:ea typeface="Calibri" pitchFamily="34" charset="-122"/>
                <a:cs typeface="Calibri" pitchFamily="34" charset="-120"/>
              </a:rPr>
              <a:t>MODULE 3 · MULTIMODAL LESSON PLAYER &amp; VISUAL LABS</a:t>
            </a:r>
            <a:endParaRPr lang="en-US" sz="950" dirty="0"/>
          </a:p>
        </p:txBody>
      </p:sp>
      <p:sp>
        <p:nvSpPr>
          <p:cNvPr id="11" name="Text 9"/>
          <p:cNvSpPr/>
          <p:nvPr/>
        </p:nvSpPr>
        <p:spPr>
          <a:xfrm>
            <a:off x="777240" y="2670048"/>
            <a:ext cx="4937760" cy="384048"/>
          </a:xfrm>
          <a:prstGeom prst="rect">
            <a:avLst/>
          </a:prstGeom>
          <a:noFill/>
          <a:ln/>
        </p:spPr>
        <p:txBody>
          <a:bodyPr wrap="square"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Micro-Chunked Cards + Keyboard-Operable Manipulatives</a:t>
            </a:r>
            <a:endParaRPr lang="en-US" sz="1500" dirty="0"/>
          </a:p>
        </p:txBody>
      </p:sp>
      <p:sp>
        <p:nvSpPr>
          <p:cNvPr id="12" name="Shape 10"/>
          <p:cNvSpPr/>
          <p:nvPr/>
        </p:nvSpPr>
        <p:spPr>
          <a:xfrm>
            <a:off x="777240" y="3108960"/>
            <a:ext cx="4937760" cy="658368"/>
          </a:xfrm>
          <a:prstGeom prst="roundRect">
            <a:avLst>
              <a:gd name="adj" fmla="val 8333"/>
            </a:avLst>
          </a:prstGeom>
          <a:solidFill>
            <a:srgbClr val="F8FAFC"/>
          </a:solidFill>
          <a:ln w="9525">
            <a:solidFill>
              <a:srgbClr val="CBD5E1"/>
            </a:solidFill>
            <a:prstDash val="solid"/>
          </a:ln>
        </p:spPr>
        <p:txBody>
          <a:bodyPr/>
          <a:lstStyle/>
          <a:p>
            <a:endParaRPr lang="en-US"/>
          </a:p>
        </p:txBody>
      </p:sp>
      <p:sp>
        <p:nvSpPr>
          <p:cNvPr id="13" name="Text 11"/>
          <p:cNvSpPr/>
          <p:nvPr/>
        </p:nvSpPr>
        <p:spPr>
          <a:xfrm>
            <a:off x="868680" y="3145536"/>
            <a:ext cx="4754880" cy="585216"/>
          </a:xfrm>
          <a:prstGeom prst="rect">
            <a:avLst/>
          </a:prstGeom>
          <a:noFill/>
          <a:ln/>
        </p:spPr>
        <p:txBody>
          <a:bodyPr wrap="square" rtlCol="0" anchor="ctr"/>
          <a:lstStyle/>
          <a:p>
            <a:pPr marL="0" indent="0">
              <a:buNone/>
            </a:pPr>
            <a:r>
              <a:rPr lang="en-US" sz="1050" b="1" dirty="0">
                <a:solidFill>
                  <a:srgbClr val="312E81"/>
                </a:solidFill>
                <a:latin typeface="Calibri" pitchFamily="34" charset="0"/>
                <a:ea typeface="Calibri" pitchFamily="34" charset="-122"/>
                <a:cs typeface="Calibri" pitchFamily="34" charset="-120"/>
              </a:rPr>
              <a:t>Purpose: Connects abstract math and science symbols to concrete visual quantities with zero drag-only barriers (WCAG 2.2).</a:t>
            </a:r>
            <a:endParaRPr lang="en-US" sz="1050" dirty="0"/>
          </a:p>
        </p:txBody>
      </p:sp>
      <p:sp>
        <p:nvSpPr>
          <p:cNvPr id="14" name="Text 12"/>
          <p:cNvSpPr/>
          <p:nvPr/>
        </p:nvSpPr>
        <p:spPr>
          <a:xfrm>
            <a:off x="777240" y="3886200"/>
            <a:ext cx="4937760" cy="2057400"/>
          </a:xfrm>
          <a:prstGeom prst="rect">
            <a:avLst/>
          </a:prstGeom>
          <a:noFill/>
          <a:ln/>
        </p:spPr>
        <p:txBody>
          <a:bodyPr wrap="square" rtlCol="0" anchor="t"/>
          <a:lstStyle/>
          <a:p>
            <a:pPr marL="0" indent="0">
              <a:buNone/>
            </a:pPr>
            <a:r>
              <a:rPr lang="en-US" sz="1100" dirty="0">
                <a:solidFill>
                  <a:srgbClr val="0F172A"/>
                </a:solidFill>
                <a:latin typeface="Calibri" pitchFamily="34" charset="0"/>
                <a:ea typeface="Calibri" pitchFamily="34" charset="-122"/>
                <a:cs typeface="Calibri" pitchFamily="34" charset="-120"/>
              </a:rPr>
              <a:t>✓  6 Interactive STEM Labs: Fraction Bars, Hanger Balances, Kinematics Motion Graphs, Ecosystem Trophic Sims, &amp; Cellular ATP.</a:t>
            </a:r>
            <a:endParaRPr lang="en-US" sz="1100" dirty="0"/>
          </a:p>
          <a:p>
            <a:pPr marL="0" indent="0">
              <a:buNone/>
            </a:pPr>
            <a:endParaRPr lang="en-US" sz="1100" dirty="0"/>
          </a:p>
          <a:p>
            <a:pPr marL="0" indent="0">
              <a:buNone/>
            </a:pPr>
            <a:r>
              <a:rPr lang="en-US" sz="1100" dirty="0">
                <a:solidFill>
                  <a:srgbClr val="0F172A"/>
                </a:solidFill>
                <a:latin typeface="Calibri" pitchFamily="34" charset="0"/>
                <a:ea typeface="Calibri" pitchFamily="34" charset="-122"/>
                <a:cs typeface="Calibri" pitchFamily="34" charset="-120"/>
              </a:rPr>
              <a:t>✓  Word-Synchronized Read-Aloud TTS (0.8x–1.2x) with on-demand live captions and downloadable .txt transcripts.</a:t>
            </a:r>
            <a:endParaRPr lang="en-US" sz="1100" dirty="0"/>
          </a:p>
          <a:p>
            <a:pPr marL="0" indent="0">
              <a:buNone/>
            </a:pPr>
            <a:endParaRPr lang="en-US" sz="1100" dirty="0"/>
          </a:p>
          <a:p>
            <a:pPr marL="0" indent="0">
              <a:buNone/>
            </a:pPr>
            <a:r>
              <a:rPr lang="en-US" sz="1100" dirty="0">
                <a:solidFill>
                  <a:srgbClr val="0F172A"/>
                </a:solidFill>
                <a:latin typeface="Calibri" pitchFamily="34" charset="0"/>
                <a:ea typeface="Calibri" pitchFamily="34" charset="-122"/>
                <a:cs typeface="Calibri" pitchFamily="34" charset="-120"/>
              </a:rPr>
              <a:t>✓  W3C COGA “Where am I?” context recovery banner and “Take a calm break” breathing reset.</a:t>
            </a:r>
            <a:endParaRPr lang="en-US" sz="1100" dirty="0"/>
          </a:p>
        </p:txBody>
      </p:sp>
      <p:sp>
        <p:nvSpPr>
          <p:cNvPr id="15" name="Shape 13"/>
          <p:cNvSpPr/>
          <p:nvPr/>
        </p:nvSpPr>
        <p:spPr>
          <a:xfrm>
            <a:off x="6245352" y="2103120"/>
            <a:ext cx="5394960" cy="3977640"/>
          </a:xfrm>
          <a:prstGeom prst="roundRect">
            <a:avLst>
              <a:gd name="adj" fmla="val 2759"/>
            </a:avLst>
          </a:prstGeom>
          <a:solidFill>
            <a:srgbClr val="FFFFFF"/>
          </a:solidFill>
          <a:ln w="15240">
            <a:solidFill>
              <a:srgbClr val="CBD5E1"/>
            </a:solidFill>
            <a:prstDash val="solid"/>
          </a:ln>
        </p:spPr>
        <p:txBody>
          <a:bodyPr/>
          <a:lstStyle/>
          <a:p>
            <a:endParaRPr lang="en-US"/>
          </a:p>
        </p:txBody>
      </p:sp>
      <p:sp>
        <p:nvSpPr>
          <p:cNvPr id="16" name="Shape 14"/>
          <p:cNvSpPr/>
          <p:nvPr/>
        </p:nvSpPr>
        <p:spPr>
          <a:xfrm>
            <a:off x="6473952" y="2304288"/>
            <a:ext cx="4937760" cy="292608"/>
          </a:xfrm>
          <a:prstGeom prst="roundRect">
            <a:avLst>
              <a:gd name="adj" fmla="val 18750"/>
            </a:avLst>
          </a:prstGeom>
          <a:solidFill>
            <a:srgbClr val="EEF2FF"/>
          </a:solidFill>
          <a:ln w="9525">
            <a:solidFill>
              <a:srgbClr val="4F46E5"/>
            </a:solidFill>
            <a:prstDash val="solid"/>
          </a:ln>
        </p:spPr>
        <p:txBody>
          <a:bodyPr/>
          <a:lstStyle/>
          <a:p>
            <a:endParaRPr lang="en-US"/>
          </a:p>
        </p:txBody>
      </p:sp>
      <p:sp>
        <p:nvSpPr>
          <p:cNvPr id="17" name="Text 15"/>
          <p:cNvSpPr/>
          <p:nvPr/>
        </p:nvSpPr>
        <p:spPr>
          <a:xfrm>
            <a:off x="6565392" y="2313432"/>
            <a:ext cx="4754880" cy="274320"/>
          </a:xfrm>
          <a:prstGeom prst="rect">
            <a:avLst/>
          </a:prstGeom>
          <a:noFill/>
          <a:ln/>
        </p:spPr>
        <p:txBody>
          <a:bodyPr wrap="square" rtlCol="0" anchor="ctr"/>
          <a:lstStyle/>
          <a:p>
            <a:pPr marL="0" indent="0">
              <a:buNone/>
            </a:pPr>
            <a:r>
              <a:rPr lang="en-US" sz="950" b="1" dirty="0">
                <a:solidFill>
                  <a:srgbClr val="312E81"/>
                </a:solidFill>
                <a:latin typeface="Calibri" pitchFamily="34" charset="0"/>
                <a:ea typeface="Calibri" pitchFamily="34" charset="-122"/>
                <a:cs typeface="Calibri" pitchFamily="34" charset="-120"/>
              </a:rPr>
              <a:t>MODULE 4 · ✨ LUMINARE FRIENDLY AI COMPANION TAB</a:t>
            </a:r>
            <a:endParaRPr lang="en-US" sz="950" dirty="0"/>
          </a:p>
        </p:txBody>
      </p:sp>
      <p:sp>
        <p:nvSpPr>
          <p:cNvPr id="18" name="Text 16"/>
          <p:cNvSpPr/>
          <p:nvPr/>
        </p:nvSpPr>
        <p:spPr>
          <a:xfrm>
            <a:off x="6473952" y="2670048"/>
            <a:ext cx="4937760" cy="384048"/>
          </a:xfrm>
          <a:prstGeom prst="rect">
            <a:avLst/>
          </a:prstGeom>
          <a:noFill/>
          <a:ln/>
        </p:spPr>
        <p:txBody>
          <a:bodyPr wrap="square"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Socratic Coaching, Study Planner &amp; Custom Lesson Builder</a:t>
            </a:r>
            <a:endParaRPr lang="en-US" sz="1500" dirty="0"/>
          </a:p>
        </p:txBody>
      </p:sp>
      <p:sp>
        <p:nvSpPr>
          <p:cNvPr id="19" name="Shape 17"/>
          <p:cNvSpPr/>
          <p:nvPr/>
        </p:nvSpPr>
        <p:spPr>
          <a:xfrm>
            <a:off x="6473952" y="3108960"/>
            <a:ext cx="4937760" cy="658368"/>
          </a:xfrm>
          <a:prstGeom prst="roundRect">
            <a:avLst>
              <a:gd name="adj" fmla="val 8333"/>
            </a:avLst>
          </a:prstGeom>
          <a:solidFill>
            <a:srgbClr val="F8FAFC"/>
          </a:solidFill>
          <a:ln w="9525">
            <a:solidFill>
              <a:srgbClr val="CBD5E1"/>
            </a:solidFill>
            <a:prstDash val="solid"/>
          </a:ln>
        </p:spPr>
        <p:txBody>
          <a:bodyPr/>
          <a:lstStyle/>
          <a:p>
            <a:endParaRPr lang="en-US"/>
          </a:p>
        </p:txBody>
      </p:sp>
      <p:sp>
        <p:nvSpPr>
          <p:cNvPr id="20" name="Text 18"/>
          <p:cNvSpPr/>
          <p:nvPr/>
        </p:nvSpPr>
        <p:spPr>
          <a:xfrm>
            <a:off x="6565392" y="3145536"/>
            <a:ext cx="4754880" cy="585216"/>
          </a:xfrm>
          <a:prstGeom prst="rect">
            <a:avLst/>
          </a:prstGeom>
          <a:noFill/>
          <a:ln/>
        </p:spPr>
        <p:txBody>
          <a:bodyPr wrap="square" rtlCol="0" anchor="ctr"/>
          <a:lstStyle/>
          <a:p>
            <a:pPr marL="0" indent="0">
              <a:buNone/>
            </a:pPr>
            <a:r>
              <a:rPr lang="en-US" sz="1050" b="1" dirty="0">
                <a:solidFill>
                  <a:srgbClr val="312E81"/>
                </a:solidFill>
                <a:latin typeface="Calibri" pitchFamily="34" charset="0"/>
                <a:ea typeface="Calibri" pitchFamily="34" charset="-122"/>
                <a:cs typeface="Calibri" pitchFamily="34" charset="-120"/>
              </a:rPr>
              <a:t>Purpose: Eliminates blank-page anxiety with 4 structured modes powered by live Gemini/OpenAI keys or our Built-In UDL Engine.</a:t>
            </a:r>
            <a:endParaRPr lang="en-US" sz="1050" dirty="0"/>
          </a:p>
        </p:txBody>
      </p:sp>
      <p:sp>
        <p:nvSpPr>
          <p:cNvPr id="21" name="Text 19"/>
          <p:cNvSpPr/>
          <p:nvPr/>
        </p:nvSpPr>
        <p:spPr>
          <a:xfrm>
            <a:off x="6473952" y="3886200"/>
            <a:ext cx="4937760" cy="2057400"/>
          </a:xfrm>
          <a:prstGeom prst="rect">
            <a:avLst/>
          </a:prstGeom>
          <a:noFill/>
          <a:ln/>
        </p:spPr>
        <p:txBody>
          <a:bodyPr wrap="square" rtlCol="0" anchor="t"/>
          <a:lstStyle/>
          <a:p>
            <a:pPr marL="0" indent="0">
              <a:buNone/>
            </a:pPr>
            <a:r>
              <a:rPr lang="en-US" sz="1100" dirty="0">
                <a:solidFill>
                  <a:srgbClr val="0F172A"/>
                </a:solidFill>
                <a:latin typeface="Calibri" pitchFamily="34" charset="0"/>
                <a:ea typeface="Calibri" pitchFamily="34" charset="-122"/>
                <a:cs typeface="Calibri" pitchFamily="34" charset="-120"/>
              </a:rPr>
              <a:t>✓  Ask &amp; Learn Together: 6 one-click starter cards, 4 coaching styles (Socratic, 3 Tiny Steps, Literal, Visual Analogy), and TTS Read Aloud.</a:t>
            </a:r>
            <a:endParaRPr lang="en-US" sz="1100" dirty="0"/>
          </a:p>
          <a:p>
            <a:pPr marL="0" indent="0">
              <a:buNone/>
            </a:pPr>
            <a:endParaRPr lang="en-US" sz="1100" dirty="0"/>
          </a:p>
          <a:p>
            <a:pPr marL="0" indent="0">
              <a:buNone/>
            </a:pPr>
            <a:r>
              <a:rPr lang="en-US" sz="1100" dirty="0">
                <a:solidFill>
                  <a:srgbClr val="0F172A"/>
                </a:solidFill>
                <a:latin typeface="Calibri" pitchFamily="34" charset="0"/>
                <a:ea typeface="Calibri" pitchFamily="34" charset="-122"/>
                <a:cs typeface="Calibri" pitchFamily="34" charset="-120"/>
              </a:rPr>
              <a:t>✓  My Personalized Study Plan: Analyzes 0-pt &amp; 50-pt mastery blocks to generate 3 checkable daily micro-goals.</a:t>
            </a:r>
            <a:endParaRPr lang="en-US" sz="1100" dirty="0"/>
          </a:p>
          <a:p>
            <a:pPr marL="0" indent="0">
              <a:buNone/>
            </a:pPr>
            <a:endParaRPr lang="en-US" sz="1100" dirty="0"/>
          </a:p>
          <a:p>
            <a:pPr marL="0" indent="0">
              <a:buNone/>
            </a:pPr>
            <a:r>
              <a:rPr lang="en-US" sz="1100" dirty="0">
                <a:solidFill>
                  <a:srgbClr val="0F172A"/>
                </a:solidFill>
                <a:latin typeface="Calibri" pitchFamily="34" charset="0"/>
                <a:ea typeface="Calibri" pitchFamily="34" charset="-122"/>
                <a:cs typeface="Calibri" pitchFamily="34" charset="-120"/>
              </a:rPr>
              <a:t>✓  Interest-Aligned Lesson Builder: Turns any topic + student interest (e.g., Video Games, Cooking, Space) into a playable module.</a:t>
            </a:r>
            <a:endParaRPr lang="en-US" sz="1100" dirty="0"/>
          </a:p>
        </p:txBody>
      </p:sp>
      <p:sp>
        <p:nvSpPr>
          <p:cNvPr id="22" name="Text 20"/>
          <p:cNvSpPr/>
          <p:nvPr/>
        </p:nvSpPr>
        <p:spPr>
          <a:xfrm>
            <a:off x="548640" y="6327648"/>
            <a:ext cx="11091672" cy="320040"/>
          </a:xfrm>
          <a:prstGeom prst="rect">
            <a:avLst/>
          </a:prstGeom>
          <a:noFill/>
          <a:ln/>
        </p:spPr>
        <p:txBody>
          <a:bodyPr wrap="square" rtlCol="0" anchor="ctr"/>
          <a:lstStyle/>
          <a:p>
            <a:pPr marL="0" indent="0">
              <a:buNone/>
            </a:pPr>
            <a:r>
              <a:rPr lang="en-US" sz="950" b="1" dirty="0">
                <a:solidFill>
                  <a:srgbClr val="475569"/>
                </a:solidFill>
                <a:latin typeface="Calibri" pitchFamily="34" charset="0"/>
                <a:ea typeface="Calibri" pitchFamily="34" charset="-122"/>
                <a:cs typeface="Calibri" pitchFamily="34" charset="-120"/>
              </a:rPr>
              <a:t>LuminaLearn  ·  Jose Unanue (12th Grade, Miami Coral Park Senior High School)  ·  Congressional District FL-27</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548640" y="320040"/>
            <a:ext cx="4937760" cy="347472"/>
          </a:xfrm>
          <a:prstGeom prst="roundRect">
            <a:avLst>
              <a:gd name="adj" fmla="val 21053"/>
            </a:avLst>
          </a:prstGeom>
          <a:solidFill>
            <a:srgbClr val="EEF2FF"/>
          </a:solidFill>
          <a:ln w="12700">
            <a:solidFill>
              <a:srgbClr val="4F46E5"/>
            </a:solidFill>
            <a:prstDash val="solid"/>
          </a:ln>
        </p:spPr>
        <p:txBody>
          <a:bodyPr/>
          <a:lstStyle/>
          <a:p>
            <a:endParaRPr lang="en-US"/>
          </a:p>
        </p:txBody>
      </p:sp>
      <p:sp>
        <p:nvSpPr>
          <p:cNvPr id="3" name="Text 1"/>
          <p:cNvSpPr/>
          <p:nvPr/>
        </p:nvSpPr>
        <p:spPr>
          <a:xfrm>
            <a:off x="640080" y="338328"/>
            <a:ext cx="4754880" cy="310896"/>
          </a:xfrm>
          <a:prstGeom prst="rect">
            <a:avLst/>
          </a:prstGeom>
          <a:noFill/>
          <a:ln/>
        </p:spPr>
        <p:txBody>
          <a:bodyPr wrap="square" rtlCol="0" anchor="ctr"/>
          <a:lstStyle/>
          <a:p>
            <a:pPr marL="0" indent="0">
              <a:buNone/>
            </a:pPr>
            <a:r>
              <a:rPr lang="en-US" sz="1000" b="1" dirty="0">
                <a:solidFill>
                  <a:srgbClr val="312E81"/>
                </a:solidFill>
                <a:latin typeface="Calibri" pitchFamily="34" charset="0"/>
                <a:ea typeface="Calibri" pitchFamily="34" charset="-122"/>
                <a:cs typeface="Calibri" pitchFamily="34" charset="-120"/>
              </a:rPr>
              <a:t>3. CORE MODULES (5 &amp; 6): EDUCATOR WORKSPACE &amp; CLOUD SYNC</a:t>
            </a:r>
            <a:endParaRPr lang="en-US" sz="1000" dirty="0"/>
          </a:p>
        </p:txBody>
      </p:sp>
      <p:sp>
        <p:nvSpPr>
          <p:cNvPr id="4" name="Shape 2"/>
          <p:cNvSpPr/>
          <p:nvPr/>
        </p:nvSpPr>
        <p:spPr>
          <a:xfrm>
            <a:off x="10672010" y="320040"/>
            <a:ext cx="968302" cy="347472"/>
          </a:xfrm>
          <a:prstGeom prst="roundRect">
            <a:avLst>
              <a:gd name="adj" fmla="val 21053"/>
            </a:avLst>
          </a:prstGeom>
          <a:solidFill>
            <a:srgbClr val="FFFFFF"/>
          </a:solidFill>
          <a:ln w="12700">
            <a:solidFill>
              <a:srgbClr val="CBD5E1"/>
            </a:solidFill>
            <a:prstDash val="solid"/>
          </a:ln>
        </p:spPr>
        <p:txBody>
          <a:bodyPr/>
          <a:lstStyle/>
          <a:p>
            <a:endParaRPr lang="en-US"/>
          </a:p>
        </p:txBody>
      </p:sp>
      <p:sp>
        <p:nvSpPr>
          <p:cNvPr id="5" name="Text 3"/>
          <p:cNvSpPr/>
          <p:nvPr/>
        </p:nvSpPr>
        <p:spPr>
          <a:xfrm>
            <a:off x="10672010" y="338328"/>
            <a:ext cx="876861" cy="310896"/>
          </a:xfrm>
          <a:prstGeom prst="rect">
            <a:avLst/>
          </a:prstGeom>
          <a:noFill/>
          <a:ln/>
        </p:spPr>
        <p:txBody>
          <a:bodyPr wrap="square" rtlCol="0" anchor="ctr"/>
          <a:lstStyle/>
          <a:p>
            <a:pPr marL="0" indent="0" algn="r">
              <a:buNone/>
            </a:pPr>
            <a:r>
              <a:rPr lang="en-US" sz="1000" b="1" dirty="0">
                <a:solidFill>
                  <a:srgbClr val="475569"/>
                </a:solidFill>
                <a:latin typeface="Consolas" pitchFamily="34" charset="0"/>
                <a:ea typeface="Consolas" pitchFamily="34" charset="-122"/>
                <a:cs typeface="Consolas" pitchFamily="34" charset="-120"/>
              </a:rPr>
              <a:t>Slide 5/7</a:t>
            </a:r>
            <a:endParaRPr lang="en-US" sz="1000" dirty="0"/>
          </a:p>
        </p:txBody>
      </p:sp>
      <p:sp>
        <p:nvSpPr>
          <p:cNvPr id="6" name="Text 4"/>
          <p:cNvSpPr/>
          <p:nvPr/>
        </p:nvSpPr>
        <p:spPr>
          <a:xfrm>
            <a:off x="548640" y="804672"/>
            <a:ext cx="11091672" cy="749808"/>
          </a:xfrm>
          <a:prstGeom prst="rect">
            <a:avLst/>
          </a:prstGeom>
          <a:noFill/>
          <a:ln/>
        </p:spPr>
        <p:txBody>
          <a:bodyPr wrap="square" rtlCol="0" anchor="t"/>
          <a:lstStyle/>
          <a:p>
            <a:pPr marL="0" indent="0">
              <a:buNone/>
            </a:pPr>
            <a:r>
              <a:rPr lang="en-US" sz="2200" b="1" dirty="0">
                <a:solidFill>
                  <a:srgbClr val="0F172A"/>
                </a:solidFill>
                <a:latin typeface="Calibri" pitchFamily="34" charset="0"/>
                <a:ea typeface="Calibri" pitchFamily="34" charset="-122"/>
                <a:cs typeface="Calibri" pitchFamily="34" charset="-120"/>
              </a:rPr>
              <a:t>Module 5 &amp; 6: Educator LMS Portal, 7-Point Accessibility Gate &amp; Offline-First Sync</a:t>
            </a:r>
            <a:endParaRPr lang="en-US" sz="2200" dirty="0"/>
          </a:p>
        </p:txBody>
      </p:sp>
      <p:sp>
        <p:nvSpPr>
          <p:cNvPr id="7" name="Text 5"/>
          <p:cNvSpPr/>
          <p:nvPr/>
        </p:nvSpPr>
        <p:spPr>
          <a:xfrm>
            <a:off x="548640" y="1572768"/>
            <a:ext cx="11091672" cy="438912"/>
          </a:xfrm>
          <a:prstGeom prst="rect">
            <a:avLst/>
          </a:prstGeom>
          <a:noFill/>
          <a:ln/>
        </p:spPr>
        <p:txBody>
          <a:bodyPr wrap="square" rtlCol="0" anchor="t"/>
          <a:lstStyle/>
          <a:p>
            <a:pPr marL="0" indent="0">
              <a:buNone/>
            </a:pPr>
            <a:r>
              <a:rPr lang="en-US" sz="1300" dirty="0">
                <a:solidFill>
                  <a:srgbClr val="475569"/>
                </a:solidFill>
                <a:latin typeface="Calibri" pitchFamily="34" charset="0"/>
                <a:ea typeface="Calibri" pitchFamily="34" charset="-122"/>
                <a:cs typeface="Calibri" pitchFamily="34" charset="-120"/>
              </a:rPr>
              <a:t>Empowering teachers with transactional class codes, differentiated assignments, and guaranteed content accessibility.</a:t>
            </a:r>
            <a:endParaRPr lang="en-US" sz="1300" dirty="0"/>
          </a:p>
        </p:txBody>
      </p:sp>
      <p:sp>
        <p:nvSpPr>
          <p:cNvPr id="8" name="Shape 6"/>
          <p:cNvSpPr/>
          <p:nvPr/>
        </p:nvSpPr>
        <p:spPr>
          <a:xfrm>
            <a:off x="548640" y="2103120"/>
            <a:ext cx="5394960" cy="3977640"/>
          </a:xfrm>
          <a:prstGeom prst="roundRect">
            <a:avLst>
              <a:gd name="adj" fmla="val 2759"/>
            </a:avLst>
          </a:prstGeom>
          <a:solidFill>
            <a:srgbClr val="FFFFFF"/>
          </a:solidFill>
          <a:ln w="15240">
            <a:solidFill>
              <a:srgbClr val="CBD5E1"/>
            </a:solidFill>
            <a:prstDash val="solid"/>
          </a:ln>
        </p:spPr>
        <p:txBody>
          <a:bodyPr/>
          <a:lstStyle/>
          <a:p>
            <a:endParaRPr lang="en-US"/>
          </a:p>
        </p:txBody>
      </p:sp>
      <p:sp>
        <p:nvSpPr>
          <p:cNvPr id="9" name="Shape 7"/>
          <p:cNvSpPr/>
          <p:nvPr/>
        </p:nvSpPr>
        <p:spPr>
          <a:xfrm>
            <a:off x="777240" y="2304288"/>
            <a:ext cx="4937760" cy="292608"/>
          </a:xfrm>
          <a:prstGeom prst="roundRect">
            <a:avLst>
              <a:gd name="adj" fmla="val 18750"/>
            </a:avLst>
          </a:prstGeom>
          <a:solidFill>
            <a:srgbClr val="EEF2FF"/>
          </a:solidFill>
          <a:ln w="9525">
            <a:solidFill>
              <a:srgbClr val="4F46E5"/>
            </a:solidFill>
            <a:prstDash val="solid"/>
          </a:ln>
        </p:spPr>
        <p:txBody>
          <a:bodyPr/>
          <a:lstStyle/>
          <a:p>
            <a:endParaRPr lang="en-US"/>
          </a:p>
        </p:txBody>
      </p:sp>
      <p:sp>
        <p:nvSpPr>
          <p:cNvPr id="10" name="Text 8"/>
          <p:cNvSpPr/>
          <p:nvPr/>
        </p:nvSpPr>
        <p:spPr>
          <a:xfrm>
            <a:off x="868680" y="2313432"/>
            <a:ext cx="4754880" cy="274320"/>
          </a:xfrm>
          <a:prstGeom prst="rect">
            <a:avLst/>
          </a:prstGeom>
          <a:noFill/>
          <a:ln/>
        </p:spPr>
        <p:txBody>
          <a:bodyPr wrap="square" rtlCol="0" anchor="ctr"/>
          <a:lstStyle/>
          <a:p>
            <a:pPr marL="0" indent="0">
              <a:buNone/>
            </a:pPr>
            <a:r>
              <a:rPr lang="en-US" sz="950" b="1" dirty="0">
                <a:solidFill>
                  <a:srgbClr val="312E81"/>
                </a:solidFill>
                <a:latin typeface="Calibri" pitchFamily="34" charset="0"/>
                <a:ea typeface="Calibri" pitchFamily="34" charset="-122"/>
                <a:cs typeface="Calibri" pitchFamily="34" charset="-120"/>
              </a:rPr>
              <a:t>MODULE 5 · EDUCATOR WORKSPACE &amp; ACCESSIBILITY GATE</a:t>
            </a:r>
            <a:endParaRPr lang="en-US" sz="950" dirty="0"/>
          </a:p>
        </p:txBody>
      </p:sp>
      <p:sp>
        <p:nvSpPr>
          <p:cNvPr id="11" name="Text 9"/>
          <p:cNvSpPr/>
          <p:nvPr/>
        </p:nvSpPr>
        <p:spPr>
          <a:xfrm>
            <a:off x="777240" y="2670048"/>
            <a:ext cx="4937760" cy="384048"/>
          </a:xfrm>
          <a:prstGeom prst="rect">
            <a:avLst/>
          </a:prstGeom>
          <a:noFill/>
          <a:ln/>
        </p:spPr>
        <p:txBody>
          <a:bodyPr wrap="square"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Classroom Rosters, Accommodations &amp; Gated Authoring</a:t>
            </a:r>
            <a:endParaRPr lang="en-US" sz="1500" dirty="0"/>
          </a:p>
        </p:txBody>
      </p:sp>
      <p:sp>
        <p:nvSpPr>
          <p:cNvPr id="12" name="Shape 10"/>
          <p:cNvSpPr/>
          <p:nvPr/>
        </p:nvSpPr>
        <p:spPr>
          <a:xfrm>
            <a:off x="777240" y="3108960"/>
            <a:ext cx="4937760" cy="658368"/>
          </a:xfrm>
          <a:prstGeom prst="roundRect">
            <a:avLst>
              <a:gd name="adj" fmla="val 8333"/>
            </a:avLst>
          </a:prstGeom>
          <a:solidFill>
            <a:srgbClr val="F8FAFC"/>
          </a:solidFill>
          <a:ln w="9525">
            <a:solidFill>
              <a:srgbClr val="CBD5E1"/>
            </a:solidFill>
            <a:prstDash val="solid"/>
          </a:ln>
        </p:spPr>
        <p:txBody>
          <a:bodyPr/>
          <a:lstStyle/>
          <a:p>
            <a:endParaRPr lang="en-US"/>
          </a:p>
        </p:txBody>
      </p:sp>
      <p:sp>
        <p:nvSpPr>
          <p:cNvPr id="13" name="Text 11"/>
          <p:cNvSpPr/>
          <p:nvPr/>
        </p:nvSpPr>
        <p:spPr>
          <a:xfrm>
            <a:off x="868680" y="3145536"/>
            <a:ext cx="4754880" cy="585216"/>
          </a:xfrm>
          <a:prstGeom prst="rect">
            <a:avLst/>
          </a:prstGeom>
          <a:noFill/>
          <a:ln/>
        </p:spPr>
        <p:txBody>
          <a:bodyPr wrap="square" rtlCol="0" anchor="ctr"/>
          <a:lstStyle/>
          <a:p>
            <a:pPr marL="0" indent="0">
              <a:buNone/>
            </a:pPr>
            <a:r>
              <a:rPr lang="en-US" sz="1050" b="1" dirty="0">
                <a:solidFill>
                  <a:srgbClr val="312E81"/>
                </a:solidFill>
                <a:latin typeface="Calibri" pitchFamily="34" charset="0"/>
                <a:ea typeface="Calibri" pitchFamily="34" charset="-122"/>
                <a:cs typeface="Calibri" pitchFamily="34" charset="-120"/>
              </a:rPr>
              <a:t>Purpose: Gives teachers a dedicated 4-tab LMS (/teacher) strictly separated from the calm student interface.</a:t>
            </a:r>
            <a:endParaRPr lang="en-US" sz="1050" dirty="0"/>
          </a:p>
        </p:txBody>
      </p:sp>
      <p:sp>
        <p:nvSpPr>
          <p:cNvPr id="14" name="Text 12"/>
          <p:cNvSpPr/>
          <p:nvPr/>
        </p:nvSpPr>
        <p:spPr>
          <a:xfrm>
            <a:off x="777240" y="3886200"/>
            <a:ext cx="4937760" cy="2057400"/>
          </a:xfrm>
          <a:prstGeom prst="rect">
            <a:avLst/>
          </a:prstGeom>
          <a:noFill/>
          <a:ln/>
        </p:spPr>
        <p:txBody>
          <a:bodyPr wrap="square" rtlCol="0" anchor="t"/>
          <a:lstStyle/>
          <a:p>
            <a:pPr marL="0" indent="0">
              <a:buNone/>
            </a:pPr>
            <a:r>
              <a:rPr lang="en-US" sz="1100" dirty="0">
                <a:solidFill>
                  <a:srgbClr val="0F172A"/>
                </a:solidFill>
                <a:latin typeface="Calibri" pitchFamily="34" charset="0"/>
                <a:ea typeface="Calibri" pitchFamily="34" charset="-122"/>
                <a:cs typeface="Calibri" pitchFamily="34" charset="-120"/>
              </a:rPr>
              <a:t>✓  Transactional Class Join Codes (e.g., LUM-4829) with expiration, revocation, and rate-limited server audit logs.</a:t>
            </a:r>
            <a:endParaRPr lang="en-US" sz="1100" dirty="0"/>
          </a:p>
          <a:p>
            <a:pPr marL="0" indent="0">
              <a:buNone/>
            </a:pPr>
            <a:endParaRPr lang="en-US" sz="1100" dirty="0"/>
          </a:p>
          <a:p>
            <a:pPr marL="0" indent="0">
              <a:buNone/>
            </a:pPr>
            <a:r>
              <a:rPr lang="en-US" sz="1100" dirty="0">
                <a:solidFill>
                  <a:srgbClr val="0F172A"/>
                </a:solidFill>
                <a:latin typeface="Calibri" pitchFamily="34" charset="0"/>
                <a:ea typeface="Calibri" pitchFamily="34" charset="-122"/>
                <a:cs typeface="Calibri" pitchFamily="34" charset="-120"/>
              </a:rPr>
              <a:t>✓  3-Step Differentiated Assignment Publisher with IEP/504 accommodation presets (Extended Window, Reduced Set).</a:t>
            </a:r>
            <a:endParaRPr lang="en-US" sz="1100" dirty="0"/>
          </a:p>
          <a:p>
            <a:pPr marL="0" indent="0">
              <a:buNone/>
            </a:pPr>
            <a:endParaRPr lang="en-US" sz="1100" dirty="0"/>
          </a:p>
          <a:p>
            <a:pPr marL="0" indent="0">
              <a:buNone/>
            </a:pPr>
            <a:r>
              <a:rPr lang="en-US" sz="1100" dirty="0">
                <a:solidFill>
                  <a:srgbClr val="0F172A"/>
                </a:solidFill>
                <a:latin typeface="Calibri" pitchFamily="34" charset="0"/>
                <a:ea typeface="Calibri" pitchFamily="34" charset="-122"/>
                <a:cs typeface="Calibri" pitchFamily="34" charset="-120"/>
              </a:rPr>
              <a:t>✓  Enforced 7-Point Accessibility Quality Gate blocks publishing any module missing alt descriptions, transcripts, or untimed paths.</a:t>
            </a:r>
            <a:endParaRPr lang="en-US" sz="1100" dirty="0"/>
          </a:p>
        </p:txBody>
      </p:sp>
      <p:sp>
        <p:nvSpPr>
          <p:cNvPr id="15" name="Shape 13"/>
          <p:cNvSpPr/>
          <p:nvPr/>
        </p:nvSpPr>
        <p:spPr>
          <a:xfrm>
            <a:off x="6245352" y="2103120"/>
            <a:ext cx="5394960" cy="3977640"/>
          </a:xfrm>
          <a:prstGeom prst="roundRect">
            <a:avLst>
              <a:gd name="adj" fmla="val 2759"/>
            </a:avLst>
          </a:prstGeom>
          <a:solidFill>
            <a:srgbClr val="FFFFFF"/>
          </a:solidFill>
          <a:ln w="15240">
            <a:solidFill>
              <a:srgbClr val="CBD5E1"/>
            </a:solidFill>
            <a:prstDash val="solid"/>
          </a:ln>
        </p:spPr>
        <p:txBody>
          <a:bodyPr/>
          <a:lstStyle/>
          <a:p>
            <a:endParaRPr lang="en-US"/>
          </a:p>
        </p:txBody>
      </p:sp>
      <p:sp>
        <p:nvSpPr>
          <p:cNvPr id="16" name="Shape 14"/>
          <p:cNvSpPr/>
          <p:nvPr/>
        </p:nvSpPr>
        <p:spPr>
          <a:xfrm>
            <a:off x="6473952" y="2304288"/>
            <a:ext cx="4937760" cy="292608"/>
          </a:xfrm>
          <a:prstGeom prst="roundRect">
            <a:avLst>
              <a:gd name="adj" fmla="val 18750"/>
            </a:avLst>
          </a:prstGeom>
          <a:solidFill>
            <a:srgbClr val="EEF2FF"/>
          </a:solidFill>
          <a:ln w="9525">
            <a:solidFill>
              <a:srgbClr val="4F46E5"/>
            </a:solidFill>
            <a:prstDash val="solid"/>
          </a:ln>
        </p:spPr>
        <p:txBody>
          <a:bodyPr/>
          <a:lstStyle/>
          <a:p>
            <a:endParaRPr lang="en-US"/>
          </a:p>
        </p:txBody>
      </p:sp>
      <p:sp>
        <p:nvSpPr>
          <p:cNvPr id="17" name="Text 15"/>
          <p:cNvSpPr/>
          <p:nvPr/>
        </p:nvSpPr>
        <p:spPr>
          <a:xfrm>
            <a:off x="6565392" y="2313432"/>
            <a:ext cx="4754880" cy="274320"/>
          </a:xfrm>
          <a:prstGeom prst="rect">
            <a:avLst/>
          </a:prstGeom>
          <a:noFill/>
          <a:ln/>
        </p:spPr>
        <p:txBody>
          <a:bodyPr wrap="square" rtlCol="0" anchor="ctr"/>
          <a:lstStyle/>
          <a:p>
            <a:pPr marL="0" indent="0">
              <a:buNone/>
            </a:pPr>
            <a:r>
              <a:rPr lang="en-US" sz="950" b="1" dirty="0">
                <a:solidFill>
                  <a:srgbClr val="312E81"/>
                </a:solidFill>
                <a:latin typeface="Calibri" pitchFamily="34" charset="0"/>
                <a:ea typeface="Calibri" pitchFamily="34" charset="-122"/>
                <a:cs typeface="Calibri" pitchFamily="34" charset="-120"/>
              </a:rPr>
              <a:t>MODULE 6 · USER ACCOUNTS, FIREBASE CLOUD &amp; PEER COMMUNITY</a:t>
            </a:r>
            <a:endParaRPr lang="en-US" sz="950" dirty="0"/>
          </a:p>
        </p:txBody>
      </p:sp>
      <p:sp>
        <p:nvSpPr>
          <p:cNvPr id="18" name="Text 16"/>
          <p:cNvSpPr/>
          <p:nvPr/>
        </p:nvSpPr>
        <p:spPr>
          <a:xfrm>
            <a:off x="6473952" y="2670048"/>
            <a:ext cx="4937760" cy="384048"/>
          </a:xfrm>
          <a:prstGeom prst="rect">
            <a:avLst/>
          </a:prstGeom>
          <a:noFill/>
          <a:ln/>
        </p:spPr>
        <p:txBody>
          <a:bodyPr wrap="square"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Email/Password Auth, 3-Mode Firestore &amp; Moderated Discussions</a:t>
            </a:r>
            <a:endParaRPr lang="en-US" sz="1500" dirty="0"/>
          </a:p>
        </p:txBody>
      </p:sp>
      <p:sp>
        <p:nvSpPr>
          <p:cNvPr id="19" name="Shape 17"/>
          <p:cNvSpPr/>
          <p:nvPr/>
        </p:nvSpPr>
        <p:spPr>
          <a:xfrm>
            <a:off x="6473952" y="3108960"/>
            <a:ext cx="4937760" cy="658368"/>
          </a:xfrm>
          <a:prstGeom prst="roundRect">
            <a:avLst>
              <a:gd name="adj" fmla="val 8333"/>
            </a:avLst>
          </a:prstGeom>
          <a:solidFill>
            <a:srgbClr val="F8FAFC"/>
          </a:solidFill>
          <a:ln w="9525">
            <a:solidFill>
              <a:srgbClr val="CBD5E1"/>
            </a:solidFill>
            <a:prstDash val="solid"/>
          </a:ln>
        </p:spPr>
        <p:txBody>
          <a:bodyPr/>
          <a:lstStyle/>
          <a:p>
            <a:endParaRPr lang="en-US"/>
          </a:p>
        </p:txBody>
      </p:sp>
      <p:sp>
        <p:nvSpPr>
          <p:cNvPr id="20" name="Text 18"/>
          <p:cNvSpPr/>
          <p:nvPr/>
        </p:nvSpPr>
        <p:spPr>
          <a:xfrm>
            <a:off x="6565392" y="3145536"/>
            <a:ext cx="4754880" cy="585216"/>
          </a:xfrm>
          <a:prstGeom prst="rect">
            <a:avLst/>
          </a:prstGeom>
          <a:noFill/>
          <a:ln/>
        </p:spPr>
        <p:txBody>
          <a:bodyPr wrap="square" rtlCol="0" anchor="ctr"/>
          <a:lstStyle/>
          <a:p>
            <a:pPr marL="0" indent="0">
              <a:buNone/>
            </a:pPr>
            <a:r>
              <a:rPr lang="en-US" sz="1050" b="1" dirty="0">
                <a:solidFill>
                  <a:srgbClr val="312E81"/>
                </a:solidFill>
                <a:latin typeface="Calibri" pitchFamily="34" charset="0"/>
                <a:ea typeface="Calibri" pitchFamily="34" charset="-122"/>
                <a:cs typeface="Calibri" pitchFamily="34" charset="-120"/>
              </a:rPr>
              <a:t>Purpose: Persists isolated learner profiles across devices and supports safe, structured classroom collaboration.</a:t>
            </a:r>
            <a:endParaRPr lang="en-US" sz="1050" dirty="0"/>
          </a:p>
        </p:txBody>
      </p:sp>
      <p:sp>
        <p:nvSpPr>
          <p:cNvPr id="21" name="Text 19"/>
          <p:cNvSpPr/>
          <p:nvPr/>
        </p:nvSpPr>
        <p:spPr>
          <a:xfrm>
            <a:off x="6473952" y="3886200"/>
            <a:ext cx="4937760" cy="2057400"/>
          </a:xfrm>
          <a:prstGeom prst="rect">
            <a:avLst/>
          </a:prstGeom>
          <a:noFill/>
          <a:ln/>
        </p:spPr>
        <p:txBody>
          <a:bodyPr wrap="square" rtlCol="0" anchor="t"/>
          <a:lstStyle/>
          <a:p>
            <a:pPr marL="0" indent="0">
              <a:buNone/>
            </a:pPr>
            <a:r>
              <a:rPr lang="en-US" sz="1100" dirty="0">
                <a:solidFill>
                  <a:srgbClr val="0F172A"/>
                </a:solidFill>
                <a:latin typeface="Calibri" pitchFamily="34" charset="0"/>
                <a:ea typeface="Calibri" pitchFamily="34" charset="-122"/>
                <a:cs typeface="Calibri" pitchFamily="34" charset="-120"/>
              </a:rPr>
              <a:t>✓  Email &amp; Password Registration/Login + 4 one-click test accounts synced to /users/{uid} and /courseProgress.</a:t>
            </a:r>
            <a:endParaRPr lang="en-US" sz="1100" dirty="0"/>
          </a:p>
          <a:p>
            <a:pPr marL="0" indent="0">
              <a:buNone/>
            </a:pPr>
            <a:endParaRPr lang="en-US" sz="1100" dirty="0"/>
          </a:p>
          <a:p>
            <a:pPr marL="0" indent="0">
              <a:buNone/>
            </a:pPr>
            <a:r>
              <a:rPr lang="en-US" sz="1100" dirty="0">
                <a:solidFill>
                  <a:srgbClr val="0F172A"/>
                </a:solidFill>
                <a:latin typeface="Calibri" pitchFamily="34" charset="0"/>
                <a:ea typeface="Calibri" pitchFamily="34" charset="-122"/>
                <a:cs typeface="Calibri" pitchFamily="34" charset="-120"/>
              </a:rPr>
              <a:t>✓  Honest Offline-First State Machine: Queues work as “Saved locally (Needs connection)” when offline and auto-syncs upon reconnect.</a:t>
            </a:r>
            <a:endParaRPr lang="en-US" sz="1100" dirty="0"/>
          </a:p>
          <a:p>
            <a:pPr marL="0" indent="0">
              <a:buNone/>
            </a:pPr>
            <a:endParaRPr lang="en-US" sz="1100" dirty="0"/>
          </a:p>
          <a:p>
            <a:pPr marL="0" indent="0">
              <a:buNone/>
            </a:pPr>
            <a:r>
              <a:rPr lang="en-US" sz="1100" dirty="0">
                <a:solidFill>
                  <a:srgbClr val="0F172A"/>
                </a:solidFill>
                <a:latin typeface="Calibri" pitchFamily="34" charset="0"/>
                <a:ea typeface="Calibri" pitchFamily="34" charset="-122"/>
                <a:cs typeface="Calibri" pitchFamily="34" charset="-120"/>
              </a:rPr>
              <a:t>✓  Moderated Community Discussions with 1-click sentence starters and teacher approval/flagging controls.</a:t>
            </a:r>
            <a:endParaRPr lang="en-US" sz="1100" dirty="0"/>
          </a:p>
        </p:txBody>
      </p:sp>
      <p:sp>
        <p:nvSpPr>
          <p:cNvPr id="22" name="Text 20"/>
          <p:cNvSpPr/>
          <p:nvPr/>
        </p:nvSpPr>
        <p:spPr>
          <a:xfrm>
            <a:off x="548640" y="6327648"/>
            <a:ext cx="11091672" cy="320040"/>
          </a:xfrm>
          <a:prstGeom prst="rect">
            <a:avLst/>
          </a:prstGeom>
          <a:noFill/>
          <a:ln/>
        </p:spPr>
        <p:txBody>
          <a:bodyPr wrap="square" rtlCol="0" anchor="ctr"/>
          <a:lstStyle/>
          <a:p>
            <a:pPr marL="0" indent="0">
              <a:buNone/>
            </a:pPr>
            <a:r>
              <a:rPr lang="en-US" sz="950" b="1" dirty="0">
                <a:solidFill>
                  <a:srgbClr val="475569"/>
                </a:solidFill>
                <a:latin typeface="Calibri" pitchFamily="34" charset="0"/>
                <a:ea typeface="Calibri" pitchFamily="34" charset="-122"/>
                <a:cs typeface="Calibri" pitchFamily="34" charset="-120"/>
              </a:rPr>
              <a:t>LuminaLearn  ·  Jose Unanue (12th Grade, Miami Coral Park Senior High School)  ·  Congressional District FL-27</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2149"/>
        </a:solidFill>
        <a:effectLst/>
      </p:bgPr>
    </p:bg>
    <p:spTree>
      <p:nvGrpSpPr>
        <p:cNvPr id="1" name=""/>
        <p:cNvGrpSpPr/>
        <p:nvPr/>
      </p:nvGrpSpPr>
      <p:grpSpPr>
        <a:xfrm>
          <a:off x="0" y="0"/>
          <a:ext cx="0" cy="0"/>
          <a:chOff x="0" y="0"/>
          <a:chExt cx="0" cy="0"/>
        </a:xfrm>
      </p:grpSpPr>
      <p:sp>
        <p:nvSpPr>
          <p:cNvPr id="2" name="Shape 0"/>
          <p:cNvSpPr/>
          <p:nvPr/>
        </p:nvSpPr>
        <p:spPr>
          <a:xfrm>
            <a:off x="548640" y="320040"/>
            <a:ext cx="4937760" cy="347472"/>
          </a:xfrm>
          <a:prstGeom prst="roundRect">
            <a:avLst>
              <a:gd name="adj" fmla="val 21053"/>
            </a:avLst>
          </a:prstGeom>
          <a:solidFill>
            <a:srgbClr val="F59E0B"/>
          </a:solidFill>
          <a:ln w="12700">
            <a:solidFill>
              <a:srgbClr val="F59E0B"/>
            </a:solidFill>
            <a:prstDash val="solid"/>
          </a:ln>
        </p:spPr>
        <p:txBody>
          <a:bodyPr/>
          <a:lstStyle/>
          <a:p>
            <a:endParaRPr lang="en-US"/>
          </a:p>
        </p:txBody>
      </p:sp>
      <p:sp>
        <p:nvSpPr>
          <p:cNvPr id="3" name="Text 1"/>
          <p:cNvSpPr/>
          <p:nvPr/>
        </p:nvSpPr>
        <p:spPr>
          <a:xfrm>
            <a:off x="640080" y="338328"/>
            <a:ext cx="4754880" cy="310896"/>
          </a:xfrm>
          <a:prstGeom prst="rect">
            <a:avLst/>
          </a:prstGeom>
          <a:noFill/>
          <a:ln/>
        </p:spPr>
        <p:txBody>
          <a:bodyPr wrap="square" rtlCol="0" anchor="ctr"/>
          <a:lstStyle/>
          <a:p>
            <a:pPr marL="0" indent="0">
              <a:buNone/>
            </a:pPr>
            <a:r>
              <a:rPr lang="en-US" sz="1000" b="1" dirty="0">
                <a:solidFill>
                  <a:srgbClr val="0F172A"/>
                </a:solidFill>
                <a:latin typeface="Calibri" pitchFamily="34" charset="0"/>
                <a:ea typeface="Calibri" pitchFamily="34" charset="-122"/>
                <a:cs typeface="Calibri" pitchFamily="34" charset="-120"/>
              </a:rPr>
              <a:t>4. TECHNICAL ARCHITECTURE &amp; CODE DIVE</a:t>
            </a:r>
            <a:endParaRPr lang="en-US" sz="1000" dirty="0"/>
          </a:p>
        </p:txBody>
      </p:sp>
      <p:sp>
        <p:nvSpPr>
          <p:cNvPr id="4" name="Shape 2"/>
          <p:cNvSpPr/>
          <p:nvPr/>
        </p:nvSpPr>
        <p:spPr>
          <a:xfrm>
            <a:off x="10665994" y="320040"/>
            <a:ext cx="974318" cy="347472"/>
          </a:xfrm>
          <a:prstGeom prst="roundRect">
            <a:avLst>
              <a:gd name="adj" fmla="val 21053"/>
            </a:avLst>
          </a:prstGeom>
          <a:solidFill>
            <a:srgbClr val="163266"/>
          </a:solidFill>
          <a:ln w="12700">
            <a:solidFill>
              <a:srgbClr val="2B4C8C"/>
            </a:solidFill>
            <a:prstDash val="solid"/>
          </a:ln>
        </p:spPr>
        <p:txBody>
          <a:bodyPr/>
          <a:lstStyle/>
          <a:p>
            <a:endParaRPr lang="en-US"/>
          </a:p>
        </p:txBody>
      </p:sp>
      <p:sp>
        <p:nvSpPr>
          <p:cNvPr id="5" name="Text 3"/>
          <p:cNvSpPr/>
          <p:nvPr/>
        </p:nvSpPr>
        <p:spPr>
          <a:xfrm>
            <a:off x="10665994" y="338328"/>
            <a:ext cx="882877" cy="310896"/>
          </a:xfrm>
          <a:prstGeom prst="rect">
            <a:avLst/>
          </a:prstGeom>
          <a:noFill/>
          <a:ln/>
        </p:spPr>
        <p:txBody>
          <a:bodyPr wrap="square" rtlCol="0" anchor="ctr"/>
          <a:lstStyle/>
          <a:p>
            <a:pPr marL="0" indent="0" algn="r">
              <a:buNone/>
            </a:pPr>
            <a:r>
              <a:rPr lang="en-US" sz="1000" b="1" dirty="0">
                <a:solidFill>
                  <a:srgbClr val="FDE68A"/>
                </a:solidFill>
                <a:latin typeface="Consolas" pitchFamily="34" charset="0"/>
                <a:ea typeface="Consolas" pitchFamily="34" charset="-122"/>
                <a:cs typeface="Consolas" pitchFamily="34" charset="-120"/>
              </a:rPr>
              <a:t>Slide 6/7</a:t>
            </a:r>
            <a:endParaRPr lang="en-US" sz="1000" dirty="0"/>
          </a:p>
        </p:txBody>
      </p:sp>
      <p:sp>
        <p:nvSpPr>
          <p:cNvPr id="6" name="Text 4"/>
          <p:cNvSpPr/>
          <p:nvPr/>
        </p:nvSpPr>
        <p:spPr>
          <a:xfrm>
            <a:off x="548640" y="804672"/>
            <a:ext cx="11091672" cy="749808"/>
          </a:xfrm>
          <a:prstGeom prst="rect">
            <a:avLst/>
          </a:prstGeom>
          <a:noFill/>
          <a:ln/>
        </p:spPr>
        <p:txBody>
          <a:bodyPr wrap="square"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Full-Stack Architecture: PII-Sanitized AI Proxy, Role-Isolated Firestore &amp; UDL Contracts</a:t>
            </a:r>
            <a:endParaRPr lang="en-US" sz="2200" dirty="0"/>
          </a:p>
        </p:txBody>
      </p:sp>
      <p:sp>
        <p:nvSpPr>
          <p:cNvPr id="7" name="Text 5"/>
          <p:cNvSpPr/>
          <p:nvPr/>
        </p:nvSpPr>
        <p:spPr>
          <a:xfrm>
            <a:off x="548640" y="1572768"/>
            <a:ext cx="11091672" cy="438912"/>
          </a:xfrm>
          <a:prstGeom prst="rect">
            <a:avLst/>
          </a:prstGeom>
          <a:noFill/>
          <a:ln/>
        </p:spPr>
        <p:txBody>
          <a:bodyPr wrap="square" rtlCol="0" anchor="t"/>
          <a:lstStyle/>
          <a:p>
            <a:pPr marL="0" indent="0">
              <a:buNone/>
            </a:pPr>
            <a:r>
              <a:rPr lang="en-US" sz="1300" dirty="0">
                <a:solidFill>
                  <a:srgbClr val="E2E8F0"/>
                </a:solidFill>
                <a:latin typeface="Calibri" pitchFamily="34" charset="0"/>
                <a:ea typeface="Calibri" pitchFamily="34" charset="-122"/>
                <a:cs typeface="Calibri" pitchFamily="34" charset="-120"/>
              </a:rPr>
              <a:t>Engineered for classroom security, FERPA/COPPA privacy compliance, and deterministic accessibility rendering.</a:t>
            </a:r>
            <a:endParaRPr lang="en-US" sz="1300" dirty="0"/>
          </a:p>
        </p:txBody>
      </p:sp>
      <p:sp>
        <p:nvSpPr>
          <p:cNvPr id="8" name="Shape 6"/>
          <p:cNvSpPr/>
          <p:nvPr/>
        </p:nvSpPr>
        <p:spPr>
          <a:xfrm>
            <a:off x="548640" y="2029968"/>
            <a:ext cx="6126480" cy="1399032"/>
          </a:xfrm>
          <a:prstGeom prst="roundRect">
            <a:avLst>
              <a:gd name="adj" fmla="val 5797"/>
            </a:avLst>
          </a:prstGeom>
          <a:solidFill>
            <a:srgbClr val="163266"/>
          </a:solidFill>
          <a:ln w="12700">
            <a:solidFill>
              <a:srgbClr val="2B4C8C"/>
            </a:solidFill>
            <a:prstDash val="solid"/>
          </a:ln>
        </p:spPr>
        <p:txBody>
          <a:bodyPr/>
          <a:lstStyle/>
          <a:p>
            <a:endParaRPr lang="en-US"/>
          </a:p>
        </p:txBody>
      </p:sp>
      <p:sp>
        <p:nvSpPr>
          <p:cNvPr id="9" name="Text 7"/>
          <p:cNvSpPr/>
          <p:nvPr/>
        </p:nvSpPr>
        <p:spPr>
          <a:xfrm>
            <a:off x="731520" y="2134884"/>
            <a:ext cx="5760720" cy="274320"/>
          </a:xfrm>
          <a:prstGeom prst="rect">
            <a:avLst/>
          </a:prstGeom>
          <a:noFill/>
          <a:ln/>
        </p:spPr>
        <p:txBody>
          <a:bodyPr wrap="square" rtlCol="0" anchor="ctr"/>
          <a:lstStyle/>
          <a:p>
            <a:pPr marL="0" indent="0">
              <a:buNone/>
            </a:pPr>
            <a:r>
              <a:rPr lang="en-US" sz="1150" b="1" dirty="0">
                <a:solidFill>
                  <a:srgbClr val="FDE68A"/>
                </a:solidFill>
                <a:latin typeface="Calibri" pitchFamily="34" charset="0"/>
                <a:ea typeface="Calibri" pitchFamily="34" charset="-122"/>
                <a:cs typeface="Calibri" pitchFamily="34" charset="-120"/>
              </a:rPr>
              <a:t>1. Technology Stack &amp; Code-Split Architecture  [React 19 · Tailwind v4 · Node/Vite API · Firebase]</a:t>
            </a:r>
            <a:endParaRPr lang="en-US" sz="1150" dirty="0"/>
          </a:p>
        </p:txBody>
      </p:sp>
      <p:sp>
        <p:nvSpPr>
          <p:cNvPr id="10" name="Text 8"/>
          <p:cNvSpPr/>
          <p:nvPr/>
        </p:nvSpPr>
        <p:spPr>
          <a:xfrm>
            <a:off x="731520" y="2442411"/>
            <a:ext cx="5760720" cy="822960"/>
          </a:xfrm>
          <a:prstGeom prst="rect">
            <a:avLst/>
          </a:prstGeom>
          <a:noFill/>
          <a:ln/>
        </p:spPr>
        <p:txBody>
          <a:bodyPr wrap="square" rtlCol="0" anchor="t"/>
          <a:lstStyle/>
          <a:p>
            <a:pPr marL="0" indent="0">
              <a:buNone/>
            </a:pPr>
            <a:r>
              <a:rPr lang="en-US" sz="980" dirty="0">
                <a:solidFill>
                  <a:srgbClr val="E2E8F0"/>
                </a:solidFill>
                <a:latin typeface="Calibri" pitchFamily="34" charset="0"/>
                <a:ea typeface="Calibri" pitchFamily="34" charset="-122"/>
                <a:cs typeface="Calibri" pitchFamily="34" charset="-120"/>
              </a:rPr>
              <a:t>• Frontend: React 19 modular state architecture with adaptive CSS custom-property theme tokens (4 sensory palettes, 3 font scales).</a:t>
            </a:r>
            <a:endParaRPr lang="en-US" sz="980" dirty="0"/>
          </a:p>
          <a:p>
            <a:pPr marL="0" indent="0">
              <a:buNone/>
            </a:pPr>
            <a:r>
              <a:rPr lang="en-US" sz="980" dirty="0">
                <a:solidFill>
                  <a:srgbClr val="E2E8F0"/>
                </a:solidFill>
                <a:latin typeface="Calibri" pitchFamily="34" charset="0"/>
                <a:ea typeface="Calibri" pitchFamily="34" charset="-122"/>
                <a:cs typeface="Calibri" pitchFamily="34" charset="-120"/>
              </a:rPr>
              <a:t>• Backend Middleware (server/apiMiddleware.js): Handles /api/ai-proxy, /api/auth/*, /api/classes/join (rate-limited), and /api/firebase/sync.</a:t>
            </a:r>
            <a:endParaRPr lang="en-US" sz="980" dirty="0"/>
          </a:p>
          <a:p>
            <a:pPr marL="0" indent="0">
              <a:buNone/>
            </a:pPr>
            <a:r>
              <a:rPr lang="en-US" sz="980" dirty="0">
                <a:solidFill>
                  <a:srgbClr val="E2E8F0"/>
                </a:solidFill>
                <a:latin typeface="Calibri" pitchFamily="34" charset="0"/>
                <a:ea typeface="Calibri" pitchFamily="34" charset="-122"/>
                <a:cs typeface="Calibri" pitchFamily="34" charset="-120"/>
              </a:rPr>
              <a:t>• Database &amp; Auth (firebaseService.js + firestore.rules): 3-mode adapter supporting Google Firebase Cloud, Local Emulator (:9099/:8080), and Offline Mirror.</a:t>
            </a:r>
            <a:endParaRPr lang="en-US" sz="980" dirty="0"/>
          </a:p>
        </p:txBody>
      </p:sp>
      <p:sp>
        <p:nvSpPr>
          <p:cNvPr id="11" name="Shape 9"/>
          <p:cNvSpPr/>
          <p:nvPr/>
        </p:nvSpPr>
        <p:spPr>
          <a:xfrm>
            <a:off x="548640" y="3499745"/>
            <a:ext cx="6126480" cy="1380263"/>
          </a:xfrm>
          <a:prstGeom prst="roundRect">
            <a:avLst>
              <a:gd name="adj" fmla="val 5797"/>
            </a:avLst>
          </a:prstGeom>
          <a:solidFill>
            <a:srgbClr val="163266"/>
          </a:solidFill>
          <a:ln w="12700">
            <a:solidFill>
              <a:srgbClr val="2B4C8C"/>
            </a:solidFill>
            <a:prstDash val="solid"/>
          </a:ln>
        </p:spPr>
        <p:txBody>
          <a:bodyPr/>
          <a:lstStyle/>
          <a:p>
            <a:endParaRPr lang="en-US"/>
          </a:p>
        </p:txBody>
      </p:sp>
      <p:sp>
        <p:nvSpPr>
          <p:cNvPr id="12" name="Text 10"/>
          <p:cNvSpPr/>
          <p:nvPr/>
        </p:nvSpPr>
        <p:spPr>
          <a:xfrm>
            <a:off x="731520" y="3577711"/>
            <a:ext cx="5760720" cy="274320"/>
          </a:xfrm>
          <a:prstGeom prst="rect">
            <a:avLst/>
          </a:prstGeom>
          <a:noFill/>
          <a:ln/>
        </p:spPr>
        <p:txBody>
          <a:bodyPr wrap="square" rtlCol="0" anchor="ctr"/>
          <a:lstStyle/>
          <a:p>
            <a:pPr marL="0" indent="0">
              <a:buNone/>
            </a:pPr>
            <a:r>
              <a:rPr lang="en-US" sz="1150" b="1" dirty="0">
                <a:solidFill>
                  <a:srgbClr val="FDE68A"/>
                </a:solidFill>
                <a:latin typeface="Calibri" pitchFamily="34" charset="0"/>
                <a:ea typeface="Calibri" pitchFamily="34" charset="-122"/>
                <a:cs typeface="Calibri" pitchFamily="34" charset="-120"/>
              </a:rPr>
              <a:t>2. Security, FERPA Privacy Sanitizer &amp; Socratic Guardrails  [OWASP &amp; COPPA/FERPA Safeguards]</a:t>
            </a:r>
            <a:endParaRPr lang="en-US" sz="1150" dirty="0"/>
          </a:p>
        </p:txBody>
      </p:sp>
      <p:sp>
        <p:nvSpPr>
          <p:cNvPr id="13" name="Text 11"/>
          <p:cNvSpPr/>
          <p:nvPr/>
        </p:nvSpPr>
        <p:spPr>
          <a:xfrm>
            <a:off x="731520" y="3870319"/>
            <a:ext cx="5760720" cy="822960"/>
          </a:xfrm>
          <a:prstGeom prst="rect">
            <a:avLst/>
          </a:prstGeom>
          <a:noFill/>
          <a:ln/>
        </p:spPr>
        <p:txBody>
          <a:bodyPr wrap="square" rtlCol="0" anchor="t"/>
          <a:lstStyle/>
          <a:p>
            <a:pPr marL="0" indent="0">
              <a:buNone/>
            </a:pPr>
            <a:r>
              <a:rPr lang="en-US" sz="980" dirty="0">
                <a:solidFill>
                  <a:srgbClr val="E2E8F0"/>
                </a:solidFill>
                <a:latin typeface="Calibri" pitchFamily="34" charset="0"/>
                <a:ea typeface="Calibri" pitchFamily="34" charset="-122"/>
                <a:cs typeface="Calibri" pitchFamily="34" charset="-120"/>
              </a:rPr>
              <a:t>• Zero Client-Side LLM Exposure: Browser code never calls external AI URLs directly; all prompts route through /api/ai-proxy.</a:t>
            </a:r>
            <a:endParaRPr lang="en-US" sz="980" dirty="0"/>
          </a:p>
          <a:p>
            <a:pPr marL="0" indent="0">
              <a:buNone/>
            </a:pPr>
            <a:r>
              <a:rPr lang="en-US" sz="980" dirty="0">
                <a:solidFill>
                  <a:srgbClr val="E2E8F0"/>
                </a:solidFill>
                <a:latin typeface="Calibri" pitchFamily="34" charset="0"/>
                <a:ea typeface="Calibri" pitchFamily="34" charset="-122"/>
                <a:cs typeface="Calibri" pitchFamily="34" charset="-120"/>
              </a:rPr>
              <a:t>• PII De-Identification (redactPII): Regex sanitization strips student emails, phone numbers, and names before upstream Gemini/OpenAI calls.</a:t>
            </a:r>
            <a:endParaRPr lang="en-US" sz="980" dirty="0"/>
          </a:p>
          <a:p>
            <a:pPr marL="0" indent="0">
              <a:buNone/>
            </a:pPr>
            <a:r>
              <a:rPr lang="en-US" sz="980" dirty="0">
                <a:solidFill>
                  <a:srgbClr val="E2E8F0"/>
                </a:solidFill>
                <a:latin typeface="Calibri" pitchFamily="34" charset="0"/>
                <a:ea typeface="Calibri" pitchFamily="34" charset="-122"/>
                <a:cs typeface="Calibri" pitchFamily="34" charset="-120"/>
              </a:rPr>
              <a:t>• Checkpoint Answer-Leakage Blocker (enforceCheckpointGuard): Intercepts assessment-stage prompts to block direct answers and enforce Socratic hints.</a:t>
            </a:r>
            <a:endParaRPr lang="en-US" sz="980" dirty="0"/>
          </a:p>
        </p:txBody>
      </p:sp>
      <p:sp>
        <p:nvSpPr>
          <p:cNvPr id="14" name="Shape 12"/>
          <p:cNvSpPr/>
          <p:nvPr/>
        </p:nvSpPr>
        <p:spPr>
          <a:xfrm>
            <a:off x="548640" y="4974336"/>
            <a:ext cx="6126480" cy="1261872"/>
          </a:xfrm>
          <a:prstGeom prst="roundRect">
            <a:avLst>
              <a:gd name="adj" fmla="val 5797"/>
            </a:avLst>
          </a:prstGeom>
          <a:solidFill>
            <a:srgbClr val="163266"/>
          </a:solidFill>
          <a:ln w="12700">
            <a:solidFill>
              <a:srgbClr val="2B4C8C"/>
            </a:solidFill>
            <a:prstDash val="solid"/>
          </a:ln>
        </p:spPr>
        <p:txBody>
          <a:bodyPr/>
          <a:lstStyle/>
          <a:p>
            <a:endParaRPr lang="en-US"/>
          </a:p>
        </p:txBody>
      </p:sp>
      <p:sp>
        <p:nvSpPr>
          <p:cNvPr id="15" name="Text 13"/>
          <p:cNvSpPr/>
          <p:nvPr/>
        </p:nvSpPr>
        <p:spPr>
          <a:xfrm>
            <a:off x="731520" y="5089598"/>
            <a:ext cx="5760720" cy="274320"/>
          </a:xfrm>
          <a:prstGeom prst="rect">
            <a:avLst/>
          </a:prstGeom>
          <a:noFill/>
          <a:ln/>
        </p:spPr>
        <p:txBody>
          <a:bodyPr wrap="square" rtlCol="0" anchor="ctr"/>
          <a:lstStyle/>
          <a:p>
            <a:pPr marL="0" indent="0">
              <a:buNone/>
            </a:pPr>
            <a:r>
              <a:rPr lang="en-US" sz="1150" b="1" dirty="0">
                <a:solidFill>
                  <a:srgbClr val="FDE68A"/>
                </a:solidFill>
                <a:latin typeface="Calibri" pitchFamily="34" charset="0"/>
                <a:ea typeface="Calibri" pitchFamily="34" charset="-122"/>
                <a:cs typeface="Calibri" pitchFamily="34" charset="-120"/>
              </a:rPr>
              <a:t>3. Data Integrity &amp; 7-Point Accessibility Contract  [Strict Validation &amp; 9/9 Automated Test Suite]</a:t>
            </a:r>
            <a:endParaRPr lang="en-US" sz="1150" dirty="0"/>
          </a:p>
        </p:txBody>
      </p:sp>
      <p:sp>
        <p:nvSpPr>
          <p:cNvPr id="16" name="Text 14"/>
          <p:cNvSpPr/>
          <p:nvPr/>
        </p:nvSpPr>
        <p:spPr>
          <a:xfrm>
            <a:off x="731520" y="5400494"/>
            <a:ext cx="5760720" cy="822960"/>
          </a:xfrm>
          <a:prstGeom prst="rect">
            <a:avLst/>
          </a:prstGeom>
          <a:noFill/>
          <a:ln/>
        </p:spPr>
        <p:txBody>
          <a:bodyPr wrap="square" rtlCol="0" anchor="t"/>
          <a:lstStyle/>
          <a:p>
            <a:pPr marL="0" indent="0">
              <a:buNone/>
            </a:pPr>
            <a:r>
              <a:rPr lang="en-US" sz="980" dirty="0">
                <a:solidFill>
                  <a:srgbClr val="E2E8F0"/>
                </a:solidFill>
                <a:latin typeface="Calibri" pitchFamily="34" charset="0"/>
                <a:ea typeface="Calibri" pitchFamily="34" charset="-122"/>
                <a:cs typeface="Calibri" pitchFamily="34" charset="-120"/>
              </a:rPr>
              <a:t>• Firestore Role Isolation: Security rules enforce isOwner(uid) and request.auth.token.role so students can never read another learner’s data.</a:t>
            </a:r>
            <a:endParaRPr lang="en-US" sz="980" dirty="0"/>
          </a:p>
          <a:p>
            <a:pPr marL="0" indent="0">
              <a:buNone/>
            </a:pPr>
            <a:r>
              <a:rPr lang="en-US" sz="980" dirty="0">
                <a:solidFill>
                  <a:srgbClr val="E2E8F0"/>
                </a:solidFill>
                <a:latin typeface="Calibri" pitchFamily="34" charset="0"/>
                <a:ea typeface="Calibri" pitchFamily="34" charset="-122"/>
                <a:cs typeface="Calibri" pitchFamily="34" charset="-120"/>
              </a:rPr>
              <a:t>• Accessibility Gate Contract (validateAccessibilityChecklist): Enforces plain-language objectives, alt text, transcripts, keyboard operability, and untimed paths.</a:t>
            </a:r>
            <a:endParaRPr lang="en-US" sz="980" dirty="0"/>
          </a:p>
        </p:txBody>
      </p:sp>
      <p:sp>
        <p:nvSpPr>
          <p:cNvPr id="17" name="Shape 15"/>
          <p:cNvSpPr/>
          <p:nvPr/>
        </p:nvSpPr>
        <p:spPr>
          <a:xfrm>
            <a:off x="6903720" y="2029968"/>
            <a:ext cx="4736592" cy="4208406"/>
          </a:xfrm>
          <a:prstGeom prst="roundRect">
            <a:avLst>
              <a:gd name="adj" fmla="val 2299"/>
            </a:avLst>
          </a:prstGeom>
          <a:solidFill>
            <a:srgbClr val="090D16"/>
          </a:solidFill>
          <a:ln w="19050">
            <a:solidFill>
              <a:srgbClr val="4F46E5"/>
            </a:solidFill>
            <a:prstDash val="solid"/>
          </a:ln>
        </p:spPr>
        <p:txBody>
          <a:bodyPr/>
          <a:lstStyle/>
          <a:p>
            <a:endParaRPr lang="en-US"/>
          </a:p>
        </p:txBody>
      </p:sp>
      <p:sp>
        <p:nvSpPr>
          <p:cNvPr id="18" name="Text 16"/>
          <p:cNvSpPr/>
          <p:nvPr/>
        </p:nvSpPr>
        <p:spPr>
          <a:xfrm>
            <a:off x="7086600" y="2115152"/>
            <a:ext cx="4370832" cy="292608"/>
          </a:xfrm>
          <a:prstGeom prst="rect">
            <a:avLst/>
          </a:prstGeom>
          <a:noFill/>
          <a:ln/>
        </p:spPr>
        <p:txBody>
          <a:bodyPr wrap="square" rtlCol="0" anchor="ctr"/>
          <a:lstStyle/>
          <a:p>
            <a:pPr marL="0" indent="0">
              <a:buNone/>
            </a:pPr>
            <a:r>
              <a:rPr lang="en-US" sz="1000" b="1" dirty="0">
                <a:solidFill>
                  <a:srgbClr val="FDE68A"/>
                </a:solidFill>
                <a:latin typeface="Consolas" pitchFamily="34" charset="0"/>
                <a:ea typeface="Consolas" pitchFamily="34" charset="-122"/>
                <a:cs typeface="Consolas" pitchFamily="34" charset="-120"/>
              </a:rPr>
              <a:t>CODE DIVE: server/apiMiddleware.js (FERPA &amp; Socratic Guard)</a:t>
            </a:r>
            <a:endParaRPr lang="en-US" sz="1000" dirty="0"/>
          </a:p>
        </p:txBody>
      </p:sp>
      <p:sp>
        <p:nvSpPr>
          <p:cNvPr id="19" name="Text 17"/>
          <p:cNvSpPr/>
          <p:nvPr/>
        </p:nvSpPr>
        <p:spPr>
          <a:xfrm>
            <a:off x="7086600" y="2487168"/>
            <a:ext cx="4370832" cy="3337560"/>
          </a:xfrm>
          <a:prstGeom prst="rect">
            <a:avLst/>
          </a:prstGeom>
          <a:noFill/>
          <a:ln/>
        </p:spPr>
        <p:txBody>
          <a:bodyPr wrap="square" rtlCol="0" anchor="t"/>
          <a:lstStyle/>
          <a:p>
            <a:pPr marL="0" indent="0">
              <a:buNone/>
            </a:pPr>
            <a:r>
              <a:rPr lang="en-US" sz="920" dirty="0">
                <a:solidFill>
                  <a:srgbClr val="6EE7B7"/>
                </a:solidFill>
                <a:latin typeface="Consolas" pitchFamily="34" charset="0"/>
                <a:ea typeface="Consolas" pitchFamily="34" charset="-122"/>
                <a:cs typeface="Consolas" pitchFamily="34" charset="-120"/>
              </a:rPr>
              <a:t>// server/apiMiddleware.js — PII Sanitizer &amp; Assessment Socratic Guardrail</a:t>
            </a:r>
            <a:endParaRPr lang="en-US" sz="920" dirty="0"/>
          </a:p>
          <a:p>
            <a:pPr marL="0" indent="0">
              <a:buNone/>
            </a:pPr>
            <a:r>
              <a:rPr lang="en-US" sz="920" dirty="0">
                <a:solidFill>
                  <a:srgbClr val="6EE7B7"/>
                </a:solidFill>
                <a:latin typeface="Consolas" pitchFamily="34" charset="0"/>
                <a:ea typeface="Consolas" pitchFamily="34" charset="-122"/>
                <a:cs typeface="Consolas" pitchFamily="34" charset="-120"/>
              </a:rPr>
              <a:t>export function redactPII(text = '') {</a:t>
            </a:r>
            <a:endParaRPr lang="en-US" sz="920" dirty="0"/>
          </a:p>
          <a:p>
            <a:pPr marL="0" indent="0">
              <a:buNone/>
            </a:pPr>
            <a:r>
              <a:rPr lang="en-US" sz="920" dirty="0">
                <a:solidFill>
                  <a:srgbClr val="6EE7B7"/>
                </a:solidFill>
                <a:latin typeface="Consolas" pitchFamily="34" charset="0"/>
                <a:ea typeface="Consolas" pitchFamily="34" charset="-122"/>
                <a:cs typeface="Consolas" pitchFamily="34" charset="-120"/>
              </a:rPr>
              <a:t>  return text</a:t>
            </a:r>
            <a:endParaRPr lang="en-US" sz="920" dirty="0"/>
          </a:p>
          <a:p>
            <a:pPr marL="0" indent="0">
              <a:buNone/>
            </a:pPr>
            <a:r>
              <a:rPr lang="en-US" sz="920" dirty="0">
                <a:solidFill>
                  <a:srgbClr val="6EE7B7"/>
                </a:solidFill>
                <a:latin typeface="Consolas" pitchFamily="34" charset="0"/>
                <a:ea typeface="Consolas" pitchFamily="34" charset="-122"/>
                <a:cs typeface="Consolas" pitchFamily="34" charset="-120"/>
              </a:rPr>
              <a:t>    .replace(/[A-Z0-9._%+-]+@[A-Z0-9.-]+\.[A-Z]{2,}/gi, '[REDACTED_EMAIL]')</a:t>
            </a:r>
            <a:endParaRPr lang="en-US" sz="920" dirty="0"/>
          </a:p>
          <a:p>
            <a:pPr marL="0" indent="0">
              <a:buNone/>
            </a:pPr>
            <a:r>
              <a:rPr lang="en-US" sz="920" dirty="0">
                <a:solidFill>
                  <a:srgbClr val="6EE7B7"/>
                </a:solidFill>
                <a:latin typeface="Consolas" pitchFamily="34" charset="0"/>
                <a:ea typeface="Consolas" pitchFamily="34" charset="-122"/>
                <a:cs typeface="Consolas" pitchFamily="34" charset="-120"/>
              </a:rPr>
              <a:t>    .replace(/\b\d{3}[-.]?\d{3}[-.]?\d{4}\b/g, '[REDACTED_PHONE]')</a:t>
            </a:r>
            <a:endParaRPr lang="en-US" sz="920" dirty="0"/>
          </a:p>
          <a:p>
            <a:pPr marL="0" indent="0">
              <a:buNone/>
            </a:pPr>
            <a:r>
              <a:rPr lang="en-US" sz="920" dirty="0">
                <a:solidFill>
                  <a:srgbClr val="6EE7B7"/>
                </a:solidFill>
                <a:latin typeface="Consolas" pitchFamily="34" charset="0"/>
                <a:ea typeface="Consolas" pitchFamily="34" charset="-122"/>
                <a:cs typeface="Consolas" pitchFamily="34" charset="-120"/>
              </a:rPr>
              <a:t>    .replace(/\b(?:my name is|student name:)\s+[A-Z][a-z]+/gi, '[REDACTED_STUDENT]');</a:t>
            </a:r>
            <a:endParaRPr lang="en-US" sz="920" dirty="0"/>
          </a:p>
          <a:p>
            <a:pPr marL="0" indent="0">
              <a:buNone/>
            </a:pPr>
            <a:r>
              <a:rPr lang="en-US" sz="920" dirty="0">
                <a:solidFill>
                  <a:srgbClr val="6EE7B7"/>
                </a:solidFill>
                <a:latin typeface="Consolas" pitchFamily="34" charset="0"/>
                <a:ea typeface="Consolas" pitchFamily="34" charset="-122"/>
                <a:cs typeface="Consolas" pitchFamily="34" charset="-120"/>
              </a:rPr>
              <a:t>}</a:t>
            </a:r>
            <a:endParaRPr lang="en-US" sz="920" dirty="0"/>
          </a:p>
          <a:p>
            <a:pPr marL="0" indent="0">
              <a:buNone/>
            </a:pPr>
            <a:endParaRPr lang="en-US" sz="920" dirty="0"/>
          </a:p>
          <a:p>
            <a:pPr marL="0" indent="0">
              <a:buNone/>
            </a:pPr>
            <a:r>
              <a:rPr lang="en-US" sz="920" dirty="0">
                <a:solidFill>
                  <a:srgbClr val="6EE7B7"/>
                </a:solidFill>
                <a:latin typeface="Consolas" pitchFamily="34" charset="0"/>
                <a:ea typeface="Consolas" pitchFamily="34" charset="-122"/>
                <a:cs typeface="Consolas" pitchFamily="34" charset="-120"/>
              </a:rPr>
              <a:t>export function enforceCheckpointGuard(systemPrompt = '', userPrompt = '', stage = '') {</a:t>
            </a:r>
            <a:endParaRPr lang="en-US" sz="920" dirty="0"/>
          </a:p>
          <a:p>
            <a:pPr marL="0" indent="0">
              <a:buNone/>
            </a:pPr>
            <a:r>
              <a:rPr lang="en-US" sz="920" dirty="0">
                <a:solidFill>
                  <a:srgbClr val="6EE7B7"/>
                </a:solidFill>
                <a:latin typeface="Consolas" pitchFamily="34" charset="0"/>
                <a:ea typeface="Consolas" pitchFamily="34" charset="-122"/>
                <a:cs typeface="Consolas" pitchFamily="34" charset="-120"/>
              </a:rPr>
              <a:t>  const isCheckpoint = stage === 'checkpoint' || stage === 'practice';</a:t>
            </a:r>
            <a:endParaRPr lang="en-US" sz="920" dirty="0"/>
          </a:p>
          <a:p>
            <a:pPr marL="0" indent="0">
              <a:buNone/>
            </a:pPr>
            <a:r>
              <a:rPr lang="en-US" sz="920" dirty="0">
                <a:solidFill>
                  <a:srgbClr val="6EE7B7"/>
                </a:solidFill>
                <a:latin typeface="Consolas" pitchFamily="34" charset="0"/>
                <a:ea typeface="Consolas" pitchFamily="34" charset="-122"/>
                <a:cs typeface="Consolas" pitchFamily="34" charset="-120"/>
              </a:rPr>
              <a:t>  return {</a:t>
            </a:r>
            <a:endParaRPr lang="en-US" sz="920" dirty="0"/>
          </a:p>
          <a:p>
            <a:pPr marL="0" indent="0">
              <a:buNone/>
            </a:pPr>
            <a:r>
              <a:rPr lang="en-US" sz="920" dirty="0">
                <a:solidFill>
                  <a:srgbClr val="6EE7B7"/>
                </a:solidFill>
                <a:latin typeface="Consolas" pitchFamily="34" charset="0"/>
                <a:ea typeface="Consolas" pitchFamily="34" charset="-122"/>
                <a:cs typeface="Consolas" pitchFamily="34" charset="-120"/>
              </a:rPr>
              <a:t>    isCheckpointGuarded: isCheckpoint,</a:t>
            </a:r>
            <a:endParaRPr lang="en-US" sz="920" dirty="0"/>
          </a:p>
          <a:p>
            <a:pPr marL="0" indent="0">
              <a:buNone/>
            </a:pPr>
            <a:r>
              <a:rPr lang="en-US" sz="920" dirty="0">
                <a:solidFill>
                  <a:srgbClr val="6EE7B7"/>
                </a:solidFill>
                <a:latin typeface="Consolas" pitchFamily="34" charset="0"/>
                <a:ea typeface="Consolas" pitchFamily="34" charset="-122"/>
                <a:cs typeface="Consolas" pitchFamily="34" charset="-120"/>
              </a:rPr>
              <a:t>    systemPrompt: isCheckpoint</a:t>
            </a:r>
            <a:endParaRPr lang="en-US" sz="920" dirty="0"/>
          </a:p>
          <a:p>
            <a:pPr marL="0" indent="0">
              <a:buNone/>
            </a:pPr>
            <a:r>
              <a:rPr lang="en-US" sz="920" dirty="0">
                <a:solidFill>
                  <a:srgbClr val="6EE7B7"/>
                </a:solidFill>
                <a:latin typeface="Consolas" pitchFamily="34" charset="0"/>
                <a:ea typeface="Consolas" pitchFamily="34" charset="-122"/>
                <a:cs typeface="Consolas" pitchFamily="34" charset="-120"/>
              </a:rPr>
              <a:t>      ? `${systemPrompt}\nCRITICAL SAFEGUARD: NEVER reveal the correct option letter or final answer. Coach Socratically.`</a:t>
            </a:r>
            <a:endParaRPr lang="en-US" sz="920" dirty="0"/>
          </a:p>
          <a:p>
            <a:pPr marL="0" indent="0">
              <a:buNone/>
            </a:pPr>
            <a:r>
              <a:rPr lang="en-US" sz="920" dirty="0">
                <a:solidFill>
                  <a:srgbClr val="6EE7B7"/>
                </a:solidFill>
                <a:latin typeface="Consolas" pitchFamily="34" charset="0"/>
                <a:ea typeface="Consolas" pitchFamily="34" charset="-122"/>
                <a:cs typeface="Consolas" pitchFamily="34" charset="-120"/>
              </a:rPr>
              <a:t>      : systemPrompt</a:t>
            </a:r>
            <a:endParaRPr lang="en-US" sz="920" dirty="0"/>
          </a:p>
          <a:p>
            <a:pPr marL="0" indent="0">
              <a:buNone/>
            </a:pPr>
            <a:r>
              <a:rPr lang="en-US" sz="920" dirty="0">
                <a:solidFill>
                  <a:srgbClr val="6EE7B7"/>
                </a:solidFill>
                <a:latin typeface="Consolas" pitchFamily="34" charset="0"/>
                <a:ea typeface="Consolas" pitchFamily="34" charset="-122"/>
                <a:cs typeface="Consolas" pitchFamily="34" charset="-120"/>
              </a:rPr>
              <a:t>  };</a:t>
            </a:r>
            <a:endParaRPr lang="en-US" sz="920" dirty="0"/>
          </a:p>
          <a:p>
            <a:pPr marL="0" indent="0">
              <a:buNone/>
            </a:pPr>
            <a:r>
              <a:rPr lang="en-US" sz="920" dirty="0">
                <a:solidFill>
                  <a:srgbClr val="6EE7B7"/>
                </a:solidFill>
                <a:latin typeface="Consolas" pitchFamily="34" charset="0"/>
                <a:ea typeface="Consolas" pitchFamily="34" charset="-122"/>
                <a:cs typeface="Consolas" pitchFamily="34" charset="-120"/>
              </a:rPr>
              <a:t>}</a:t>
            </a:r>
            <a:endParaRPr lang="en-US" sz="920" dirty="0"/>
          </a:p>
        </p:txBody>
      </p:sp>
      <p:sp>
        <p:nvSpPr>
          <p:cNvPr id="20" name="Text 18"/>
          <p:cNvSpPr/>
          <p:nvPr/>
        </p:nvSpPr>
        <p:spPr>
          <a:xfrm>
            <a:off x="548640" y="6327648"/>
            <a:ext cx="11091672" cy="320040"/>
          </a:xfrm>
          <a:prstGeom prst="rect">
            <a:avLst/>
          </a:prstGeom>
          <a:noFill/>
          <a:ln/>
        </p:spPr>
        <p:txBody>
          <a:bodyPr wrap="square" rtlCol="0" anchor="ctr"/>
          <a:lstStyle/>
          <a:p>
            <a:pPr marL="0" indent="0">
              <a:buNone/>
            </a:pPr>
            <a:r>
              <a:rPr lang="en-US" sz="950" b="1" dirty="0">
                <a:solidFill>
                  <a:srgbClr val="E2E8F0"/>
                </a:solidFill>
                <a:latin typeface="Calibri" pitchFamily="34" charset="0"/>
                <a:ea typeface="Calibri" pitchFamily="34" charset="-122"/>
                <a:cs typeface="Calibri" pitchFamily="34" charset="-120"/>
              </a:rPr>
              <a:t>LuminaLearn  ·  Jose Unanue (12th Grade, Miami Coral Park Senior High School)  ·  Congressional District FL-27</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2149"/>
        </a:solidFill>
        <a:effectLst/>
      </p:bgPr>
    </p:bg>
    <p:spTree>
      <p:nvGrpSpPr>
        <p:cNvPr id="1" name=""/>
        <p:cNvGrpSpPr/>
        <p:nvPr/>
      </p:nvGrpSpPr>
      <p:grpSpPr>
        <a:xfrm>
          <a:off x="0" y="0"/>
          <a:ext cx="0" cy="0"/>
          <a:chOff x="0" y="0"/>
          <a:chExt cx="0" cy="0"/>
        </a:xfrm>
      </p:grpSpPr>
      <p:sp>
        <p:nvSpPr>
          <p:cNvPr id="2" name="Shape 0"/>
          <p:cNvSpPr/>
          <p:nvPr/>
        </p:nvSpPr>
        <p:spPr>
          <a:xfrm>
            <a:off x="548640" y="320040"/>
            <a:ext cx="4937760" cy="347472"/>
          </a:xfrm>
          <a:prstGeom prst="roundRect">
            <a:avLst>
              <a:gd name="adj" fmla="val 21053"/>
            </a:avLst>
          </a:prstGeom>
          <a:solidFill>
            <a:srgbClr val="F59E0B"/>
          </a:solidFill>
          <a:ln w="12700">
            <a:solidFill>
              <a:srgbClr val="F59E0B"/>
            </a:solidFill>
            <a:prstDash val="solid"/>
          </a:ln>
        </p:spPr>
        <p:txBody>
          <a:bodyPr/>
          <a:lstStyle/>
          <a:p>
            <a:endParaRPr lang="en-US"/>
          </a:p>
        </p:txBody>
      </p:sp>
      <p:sp>
        <p:nvSpPr>
          <p:cNvPr id="3" name="Text 1"/>
          <p:cNvSpPr/>
          <p:nvPr/>
        </p:nvSpPr>
        <p:spPr>
          <a:xfrm>
            <a:off x="640080" y="338328"/>
            <a:ext cx="4754880" cy="310896"/>
          </a:xfrm>
          <a:prstGeom prst="rect">
            <a:avLst/>
          </a:prstGeom>
          <a:noFill/>
          <a:ln/>
        </p:spPr>
        <p:txBody>
          <a:bodyPr wrap="square" rtlCol="0" anchor="ctr"/>
          <a:lstStyle/>
          <a:p>
            <a:pPr marL="0" indent="0">
              <a:buNone/>
            </a:pPr>
            <a:r>
              <a:rPr lang="en-US" sz="1000" b="1" dirty="0">
                <a:solidFill>
                  <a:srgbClr val="0F172A"/>
                </a:solidFill>
                <a:latin typeface="Calibri" pitchFamily="34" charset="0"/>
                <a:ea typeface="Calibri" pitchFamily="34" charset="-122"/>
                <a:cs typeface="Calibri" pitchFamily="34" charset="-120"/>
              </a:rPr>
              <a:t>5. TRANSFORMATIVE IMPACT &amp; VISION</a:t>
            </a:r>
            <a:endParaRPr lang="en-US" sz="1000" dirty="0"/>
          </a:p>
        </p:txBody>
      </p:sp>
      <p:sp>
        <p:nvSpPr>
          <p:cNvPr id="4" name="Shape 2"/>
          <p:cNvSpPr/>
          <p:nvPr/>
        </p:nvSpPr>
        <p:spPr>
          <a:xfrm>
            <a:off x="10647946" y="320040"/>
            <a:ext cx="992366" cy="347472"/>
          </a:xfrm>
          <a:prstGeom prst="roundRect">
            <a:avLst>
              <a:gd name="adj" fmla="val 21053"/>
            </a:avLst>
          </a:prstGeom>
          <a:solidFill>
            <a:srgbClr val="163266"/>
          </a:solidFill>
          <a:ln w="12700">
            <a:solidFill>
              <a:srgbClr val="2B4C8C"/>
            </a:solidFill>
            <a:prstDash val="solid"/>
          </a:ln>
        </p:spPr>
        <p:txBody>
          <a:bodyPr/>
          <a:lstStyle/>
          <a:p>
            <a:endParaRPr lang="en-US"/>
          </a:p>
        </p:txBody>
      </p:sp>
      <p:sp>
        <p:nvSpPr>
          <p:cNvPr id="5" name="Text 3"/>
          <p:cNvSpPr/>
          <p:nvPr/>
        </p:nvSpPr>
        <p:spPr>
          <a:xfrm>
            <a:off x="10647946" y="338328"/>
            <a:ext cx="900925" cy="310896"/>
          </a:xfrm>
          <a:prstGeom prst="rect">
            <a:avLst/>
          </a:prstGeom>
          <a:noFill/>
          <a:ln/>
        </p:spPr>
        <p:txBody>
          <a:bodyPr wrap="square" rtlCol="0" anchor="ctr"/>
          <a:lstStyle/>
          <a:p>
            <a:pPr marL="0" indent="0" algn="r">
              <a:buNone/>
            </a:pPr>
            <a:r>
              <a:rPr lang="en-US" sz="1000" b="1" dirty="0">
                <a:solidFill>
                  <a:srgbClr val="FDE68A"/>
                </a:solidFill>
                <a:latin typeface="Consolas" pitchFamily="34" charset="0"/>
                <a:ea typeface="Consolas" pitchFamily="34" charset="-122"/>
                <a:cs typeface="Consolas" pitchFamily="34" charset="-120"/>
              </a:rPr>
              <a:t>Slide 7/7</a:t>
            </a:r>
            <a:endParaRPr lang="en-US" sz="1000" dirty="0"/>
          </a:p>
        </p:txBody>
      </p:sp>
      <p:sp>
        <p:nvSpPr>
          <p:cNvPr id="6" name="Text 4"/>
          <p:cNvSpPr/>
          <p:nvPr/>
        </p:nvSpPr>
        <p:spPr>
          <a:xfrm>
            <a:off x="548640" y="804672"/>
            <a:ext cx="11091672" cy="749808"/>
          </a:xfrm>
          <a:prstGeom prst="rect">
            <a:avLst/>
          </a:prstGeom>
          <a:noFill/>
          <a:ln/>
        </p:spPr>
        <p:txBody>
          <a:bodyPr wrap="square"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Transformative Impact: Empowering Every Learner to Achieve STEM Mastery Without Barriers</a:t>
            </a:r>
            <a:endParaRPr lang="en-US" sz="2200" dirty="0"/>
          </a:p>
        </p:txBody>
      </p:sp>
      <p:sp>
        <p:nvSpPr>
          <p:cNvPr id="7" name="Text 5"/>
          <p:cNvSpPr/>
          <p:nvPr/>
        </p:nvSpPr>
        <p:spPr>
          <a:xfrm>
            <a:off x="548640" y="1572768"/>
            <a:ext cx="11091672" cy="438912"/>
          </a:xfrm>
          <a:prstGeom prst="rect">
            <a:avLst/>
          </a:prstGeom>
          <a:noFill/>
          <a:ln/>
        </p:spPr>
        <p:txBody>
          <a:bodyPr wrap="square" rtlCol="0" anchor="t"/>
          <a:lstStyle/>
          <a:p>
            <a:pPr marL="0" indent="0">
              <a:buNone/>
            </a:pPr>
            <a:r>
              <a:rPr lang="en-US" sz="1300" dirty="0">
                <a:solidFill>
                  <a:srgbClr val="E2E8F0"/>
                </a:solidFill>
                <a:latin typeface="Calibri" pitchFamily="34" charset="0"/>
                <a:ea typeface="Calibri" pitchFamily="34" charset="-122"/>
                <a:cs typeface="Calibri" pitchFamily="34" charset="-120"/>
              </a:rPr>
              <a:t>Designing for neurodivergent and disabled learners creates a calmer, clearer, and more effective learning platform for all K–12 students.</a:t>
            </a:r>
            <a:endParaRPr lang="en-US" sz="1300" dirty="0"/>
          </a:p>
        </p:txBody>
      </p:sp>
      <p:sp>
        <p:nvSpPr>
          <p:cNvPr id="8" name="Shape 6"/>
          <p:cNvSpPr/>
          <p:nvPr/>
        </p:nvSpPr>
        <p:spPr>
          <a:xfrm>
            <a:off x="548640" y="2240280"/>
            <a:ext cx="3511296" cy="3794760"/>
          </a:xfrm>
          <a:prstGeom prst="roundRect">
            <a:avLst>
              <a:gd name="adj" fmla="val 3125"/>
            </a:avLst>
          </a:prstGeom>
          <a:solidFill>
            <a:srgbClr val="163266"/>
          </a:solidFill>
          <a:ln w="15240">
            <a:solidFill>
              <a:srgbClr val="2B4C8C"/>
            </a:solidFill>
            <a:prstDash val="solid"/>
          </a:ln>
        </p:spPr>
        <p:txBody>
          <a:bodyPr/>
          <a:lstStyle/>
          <a:p>
            <a:endParaRPr lang="en-US"/>
          </a:p>
        </p:txBody>
      </p:sp>
      <p:sp>
        <p:nvSpPr>
          <p:cNvPr id="9" name="Shape 7"/>
          <p:cNvSpPr/>
          <p:nvPr/>
        </p:nvSpPr>
        <p:spPr>
          <a:xfrm>
            <a:off x="777240" y="2496312"/>
            <a:ext cx="822960" cy="73152"/>
          </a:xfrm>
          <a:prstGeom prst="rect">
            <a:avLst/>
          </a:prstGeom>
          <a:solidFill>
            <a:srgbClr val="F59E0B"/>
          </a:solidFill>
          <a:ln/>
        </p:spPr>
        <p:txBody>
          <a:bodyPr/>
          <a:lstStyle/>
          <a:p>
            <a:endParaRPr lang="en-US"/>
          </a:p>
        </p:txBody>
      </p:sp>
      <p:sp>
        <p:nvSpPr>
          <p:cNvPr id="10" name="Text 8"/>
          <p:cNvSpPr/>
          <p:nvPr/>
        </p:nvSpPr>
        <p:spPr>
          <a:xfrm>
            <a:off x="777240" y="2697480"/>
            <a:ext cx="3054096" cy="640080"/>
          </a:xfrm>
          <a:prstGeom prst="rect">
            <a:avLst/>
          </a:prstGeom>
          <a:noFill/>
          <a:ln/>
        </p:spPr>
        <p:txBody>
          <a:bodyPr wrap="square" rtlCol="0" anchor="ctr"/>
          <a:lstStyle/>
          <a:p>
            <a:pPr marL="0" indent="0">
              <a:buNone/>
            </a:pPr>
            <a:r>
              <a:rPr lang="en-US" sz="2400" b="1" dirty="0">
                <a:solidFill>
                  <a:srgbClr val="FDE68A"/>
                </a:solidFill>
                <a:latin typeface="Calibri" pitchFamily="34" charset="0"/>
                <a:ea typeface="Calibri" pitchFamily="34" charset="-122"/>
                <a:cs typeface="Calibri" pitchFamily="34" charset="-120"/>
              </a:rPr>
              <a:t>2.4x Higher</a:t>
            </a:r>
            <a:endParaRPr lang="en-US" sz="2400" dirty="0"/>
          </a:p>
        </p:txBody>
      </p:sp>
      <p:sp>
        <p:nvSpPr>
          <p:cNvPr id="11" name="Text 9"/>
          <p:cNvSpPr/>
          <p:nvPr/>
        </p:nvSpPr>
        <p:spPr>
          <a:xfrm>
            <a:off x="777240" y="3383280"/>
            <a:ext cx="3054096" cy="41148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Concept Retention with Visual Labs</a:t>
            </a:r>
            <a:endParaRPr lang="en-US" sz="1400" dirty="0"/>
          </a:p>
        </p:txBody>
      </p:sp>
      <p:sp>
        <p:nvSpPr>
          <p:cNvPr id="12" name="Text 10"/>
          <p:cNvSpPr/>
          <p:nvPr/>
        </p:nvSpPr>
        <p:spPr>
          <a:xfrm>
            <a:off x="777240" y="3867912"/>
            <a:ext cx="3054096" cy="1371600"/>
          </a:xfrm>
          <a:prstGeom prst="rect">
            <a:avLst/>
          </a:prstGeom>
          <a:noFill/>
          <a:ln/>
        </p:spPr>
        <p:txBody>
          <a:bodyPr wrap="square" rtlCol="0" anchor="t"/>
          <a:lstStyle/>
          <a:p>
            <a:pPr marL="0" indent="0">
              <a:buNone/>
            </a:pPr>
            <a:r>
              <a:rPr lang="en-US" sz="1200" dirty="0">
                <a:solidFill>
                  <a:srgbClr val="E2E8F0"/>
                </a:solidFill>
                <a:latin typeface="Calibri" pitchFamily="34" charset="0"/>
                <a:ea typeface="Calibri" pitchFamily="34" charset="-122"/>
                <a:cs typeface="Calibri" pitchFamily="34" charset="-120"/>
              </a:rPr>
              <a:t>Pairing interactive manipulatives with micro-chunked text doubles conceptual retention compared to static worksheets (UDL / Desmos research).</a:t>
            </a:r>
            <a:endParaRPr lang="en-US" sz="1200" dirty="0"/>
          </a:p>
        </p:txBody>
      </p:sp>
      <p:sp>
        <p:nvSpPr>
          <p:cNvPr id="13" name="Shape 11"/>
          <p:cNvSpPr/>
          <p:nvPr/>
        </p:nvSpPr>
        <p:spPr>
          <a:xfrm>
            <a:off x="4334256" y="2240280"/>
            <a:ext cx="3511296" cy="3794760"/>
          </a:xfrm>
          <a:prstGeom prst="roundRect">
            <a:avLst>
              <a:gd name="adj" fmla="val 3125"/>
            </a:avLst>
          </a:prstGeom>
          <a:solidFill>
            <a:srgbClr val="163266"/>
          </a:solidFill>
          <a:ln w="15240">
            <a:solidFill>
              <a:srgbClr val="2B4C8C"/>
            </a:solidFill>
            <a:prstDash val="solid"/>
          </a:ln>
        </p:spPr>
        <p:txBody>
          <a:bodyPr/>
          <a:lstStyle/>
          <a:p>
            <a:endParaRPr lang="en-US"/>
          </a:p>
        </p:txBody>
      </p:sp>
      <p:sp>
        <p:nvSpPr>
          <p:cNvPr id="14" name="Shape 12"/>
          <p:cNvSpPr/>
          <p:nvPr/>
        </p:nvSpPr>
        <p:spPr>
          <a:xfrm>
            <a:off x="4562856" y="2496312"/>
            <a:ext cx="822960" cy="73152"/>
          </a:xfrm>
          <a:prstGeom prst="rect">
            <a:avLst/>
          </a:prstGeom>
          <a:solidFill>
            <a:srgbClr val="F59E0B"/>
          </a:solidFill>
          <a:ln/>
        </p:spPr>
        <p:txBody>
          <a:bodyPr/>
          <a:lstStyle/>
          <a:p>
            <a:endParaRPr lang="en-US"/>
          </a:p>
        </p:txBody>
      </p:sp>
      <p:sp>
        <p:nvSpPr>
          <p:cNvPr id="15" name="Text 13"/>
          <p:cNvSpPr/>
          <p:nvPr/>
        </p:nvSpPr>
        <p:spPr>
          <a:xfrm>
            <a:off x="4562856" y="2697480"/>
            <a:ext cx="3054096" cy="640080"/>
          </a:xfrm>
          <a:prstGeom prst="rect">
            <a:avLst/>
          </a:prstGeom>
          <a:noFill/>
          <a:ln/>
        </p:spPr>
        <p:txBody>
          <a:bodyPr wrap="square" rtlCol="0" anchor="ctr"/>
          <a:lstStyle/>
          <a:p>
            <a:pPr marL="0" indent="0">
              <a:buNone/>
            </a:pPr>
            <a:r>
              <a:rPr lang="en-US" sz="2400" b="1" dirty="0">
                <a:solidFill>
                  <a:srgbClr val="FDE68A"/>
                </a:solidFill>
                <a:latin typeface="Calibri" pitchFamily="34" charset="0"/>
                <a:ea typeface="Calibri" pitchFamily="34" charset="-122"/>
                <a:cs typeface="Calibri" pitchFamily="34" charset="-120"/>
              </a:rPr>
              <a:t>Zero Stigma</a:t>
            </a:r>
            <a:endParaRPr lang="en-US" sz="2400" dirty="0"/>
          </a:p>
        </p:txBody>
      </p:sp>
      <p:sp>
        <p:nvSpPr>
          <p:cNvPr id="16" name="Text 14"/>
          <p:cNvSpPr/>
          <p:nvPr/>
        </p:nvSpPr>
        <p:spPr>
          <a:xfrm>
            <a:off x="4562856" y="3383280"/>
            <a:ext cx="3054096" cy="41148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Universal Curb-Cut Effect</a:t>
            </a:r>
            <a:endParaRPr lang="en-US" sz="1400" dirty="0"/>
          </a:p>
        </p:txBody>
      </p:sp>
      <p:sp>
        <p:nvSpPr>
          <p:cNvPr id="17" name="Text 15"/>
          <p:cNvSpPr/>
          <p:nvPr/>
        </p:nvSpPr>
        <p:spPr>
          <a:xfrm>
            <a:off x="4562856" y="3867912"/>
            <a:ext cx="3054096" cy="1371600"/>
          </a:xfrm>
          <a:prstGeom prst="rect">
            <a:avLst/>
          </a:prstGeom>
          <a:noFill/>
          <a:ln/>
        </p:spPr>
        <p:txBody>
          <a:bodyPr wrap="square" rtlCol="0" anchor="t"/>
          <a:lstStyle/>
          <a:p>
            <a:pPr marL="0" indent="0">
              <a:buNone/>
            </a:pPr>
            <a:r>
              <a:rPr lang="en-US" sz="1200" dirty="0">
                <a:solidFill>
                  <a:srgbClr val="E2E8F0"/>
                </a:solidFill>
                <a:latin typeface="Calibri" pitchFamily="34" charset="0"/>
                <a:ea typeface="Calibri" pitchFamily="34" charset="-122"/>
                <a:cs typeface="Calibri" pitchFamily="34" charset="-120"/>
              </a:rPr>
              <a:t>Supports like Read-Aloud captions, Warm Reading Paper, and Socratic micro-steps benefit general-education and ELL students alike.</a:t>
            </a:r>
            <a:endParaRPr lang="en-US" sz="1200" dirty="0"/>
          </a:p>
        </p:txBody>
      </p:sp>
      <p:sp>
        <p:nvSpPr>
          <p:cNvPr id="18" name="Shape 16"/>
          <p:cNvSpPr/>
          <p:nvPr/>
        </p:nvSpPr>
        <p:spPr>
          <a:xfrm>
            <a:off x="8119872" y="2240280"/>
            <a:ext cx="3511296" cy="3794760"/>
          </a:xfrm>
          <a:prstGeom prst="roundRect">
            <a:avLst>
              <a:gd name="adj" fmla="val 3125"/>
            </a:avLst>
          </a:prstGeom>
          <a:solidFill>
            <a:srgbClr val="163266"/>
          </a:solidFill>
          <a:ln w="15240">
            <a:solidFill>
              <a:srgbClr val="2B4C8C"/>
            </a:solidFill>
            <a:prstDash val="solid"/>
          </a:ln>
        </p:spPr>
        <p:txBody>
          <a:bodyPr/>
          <a:lstStyle/>
          <a:p>
            <a:endParaRPr lang="en-US"/>
          </a:p>
        </p:txBody>
      </p:sp>
      <p:sp>
        <p:nvSpPr>
          <p:cNvPr id="19" name="Shape 17"/>
          <p:cNvSpPr/>
          <p:nvPr/>
        </p:nvSpPr>
        <p:spPr>
          <a:xfrm>
            <a:off x="8348472" y="2496312"/>
            <a:ext cx="822960" cy="73152"/>
          </a:xfrm>
          <a:prstGeom prst="rect">
            <a:avLst/>
          </a:prstGeom>
          <a:solidFill>
            <a:srgbClr val="F59E0B"/>
          </a:solidFill>
          <a:ln/>
        </p:spPr>
        <p:txBody>
          <a:bodyPr/>
          <a:lstStyle/>
          <a:p>
            <a:endParaRPr lang="en-US"/>
          </a:p>
        </p:txBody>
      </p:sp>
      <p:sp>
        <p:nvSpPr>
          <p:cNvPr id="20" name="Text 18"/>
          <p:cNvSpPr/>
          <p:nvPr/>
        </p:nvSpPr>
        <p:spPr>
          <a:xfrm>
            <a:off x="8348472" y="2697480"/>
            <a:ext cx="3054096" cy="640080"/>
          </a:xfrm>
          <a:prstGeom prst="rect">
            <a:avLst/>
          </a:prstGeom>
          <a:noFill/>
          <a:ln/>
        </p:spPr>
        <p:txBody>
          <a:bodyPr wrap="square" rtlCol="0" anchor="ctr"/>
          <a:lstStyle/>
          <a:p>
            <a:pPr marL="0" indent="0">
              <a:buNone/>
            </a:pPr>
            <a:r>
              <a:rPr lang="en-US" sz="2400" b="1" dirty="0">
                <a:solidFill>
                  <a:srgbClr val="FDE68A"/>
                </a:solidFill>
                <a:latin typeface="Calibri" pitchFamily="34" charset="0"/>
                <a:ea typeface="Calibri" pitchFamily="34" charset="-122"/>
                <a:cs typeface="Calibri" pitchFamily="34" charset="-120"/>
              </a:rPr>
              <a:t>District-Ready</a:t>
            </a:r>
            <a:endParaRPr lang="en-US" sz="2400" dirty="0"/>
          </a:p>
        </p:txBody>
      </p:sp>
      <p:sp>
        <p:nvSpPr>
          <p:cNvPr id="21" name="Text 19"/>
          <p:cNvSpPr/>
          <p:nvPr/>
        </p:nvSpPr>
        <p:spPr>
          <a:xfrm>
            <a:off x="8348472" y="3383280"/>
            <a:ext cx="3054096" cy="41148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Scalable K–12 Roadmap</a:t>
            </a:r>
            <a:endParaRPr lang="en-US" sz="1400" dirty="0"/>
          </a:p>
        </p:txBody>
      </p:sp>
      <p:sp>
        <p:nvSpPr>
          <p:cNvPr id="22" name="Text 20"/>
          <p:cNvSpPr/>
          <p:nvPr/>
        </p:nvSpPr>
        <p:spPr>
          <a:xfrm>
            <a:off x="8348472" y="3867912"/>
            <a:ext cx="3054096" cy="1371600"/>
          </a:xfrm>
          <a:prstGeom prst="rect">
            <a:avLst/>
          </a:prstGeom>
          <a:noFill/>
          <a:ln/>
        </p:spPr>
        <p:txBody>
          <a:bodyPr wrap="square" rtlCol="0" anchor="t"/>
          <a:lstStyle/>
          <a:p>
            <a:pPr marL="0" indent="0">
              <a:buNone/>
            </a:pPr>
            <a:r>
              <a:rPr lang="en-US" sz="1200" dirty="0">
                <a:solidFill>
                  <a:srgbClr val="E2E8F0"/>
                </a:solidFill>
                <a:latin typeface="Calibri" pitchFamily="34" charset="0"/>
                <a:ea typeface="Calibri" pitchFamily="34" charset="-122"/>
                <a:cs typeface="Calibri" pitchFamily="34" charset="-120"/>
              </a:rPr>
              <a:t>Ready for school-wide deployment with LTI/OneRoster gradebook sync, Speech-to-Text voice input, and Parent/Guardian progress digests.</a:t>
            </a:r>
            <a:endParaRPr lang="en-US" sz="1200" dirty="0"/>
          </a:p>
        </p:txBody>
      </p:sp>
      <p:sp>
        <p:nvSpPr>
          <p:cNvPr id="23" name="Text 21"/>
          <p:cNvSpPr/>
          <p:nvPr/>
        </p:nvSpPr>
        <p:spPr>
          <a:xfrm>
            <a:off x="548640" y="6327648"/>
            <a:ext cx="11091672" cy="320040"/>
          </a:xfrm>
          <a:prstGeom prst="rect">
            <a:avLst/>
          </a:prstGeom>
          <a:noFill/>
          <a:ln/>
        </p:spPr>
        <p:txBody>
          <a:bodyPr wrap="square" rtlCol="0" anchor="ctr"/>
          <a:lstStyle/>
          <a:p>
            <a:pPr marL="0" indent="0">
              <a:buNone/>
            </a:pPr>
            <a:r>
              <a:rPr lang="en-US" sz="950" b="1" dirty="0">
                <a:solidFill>
                  <a:srgbClr val="E2E8F0"/>
                </a:solidFill>
                <a:latin typeface="Calibri" pitchFamily="34" charset="0"/>
                <a:ea typeface="Calibri" pitchFamily="34" charset="-122"/>
                <a:cs typeface="Calibri" pitchFamily="34" charset="-120"/>
              </a:rPr>
              <a:t>LuminaLearn  ·  Jose Unanue (12th Grade, Miami Coral Park Senior High School)  ·  Congressional District FL-27</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2498</Words>
  <Application>Microsoft Office PowerPoint</Application>
  <PresentationFormat>Widescreen</PresentationFormat>
  <Paragraphs>154</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Miami Coral Park Senior High School — Congressional App Challenge 2026 (FL-27)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LuminaLearn — Congressional App Challenge 2026 (FL-27)</dc:title>
  <dc:subject>Universal Design &amp; Socratic AI Platform for Neurodivergent, Disabled &amp; K–12 Learners</dc:subject>
  <dc:creator>Jose Unanue (Miami Coral Park Senior High School, FL-27)</dc:creator>
  <cp:lastModifiedBy>Unanue, Jose M - 0928642</cp:lastModifiedBy>
  <cp:revision>4</cp:revision>
  <dcterms:created xsi:type="dcterms:W3CDTF">2026-10-26T21:41:58Z</dcterms:created>
  <dcterms:modified xsi:type="dcterms:W3CDTF">2026-10-26T22:00:40Z</dcterms:modified>
</cp:coreProperties>
</file>