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Project Overview &amp; Mission — Timecode 0:00 – 0:18]
Voiceover Script:
[00:00] LuminaLearn is a revolutionary AI-powered Universal Design for Learning platform designed to bridge the critical accessibility gap for neurodivergent, disabled, and K–12 students.
[00:08] Our mission is to transform overwhelming, one-size-fits-all coursework into calm, multimodal, and Socratic learning guidance that empowers every child to master STEM with confidence.
Live App Demo Action: Explore Student Learner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The Problem: The K–12 Accessibility &amp; Cognitive Load Crisis — Timecode 0:18 – 0:42]
Voiceover Script:
[00:18] Cognitive and sensory barriers represent one of the most pressing challenges in modern education. Today, 7.5 million U.S. students—15 percent of public school enrollment—receive special education services under IDEA for conditions like autism, ADHD, dyslexia, and auditory or visual impairments, facing a 32 to 45 percent higher digital task drop-off rate.
Live App Demo Action: Launch 3-Question Support Discovery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Core Modules (1 &amp; 2): Adaptive Onboarding &amp; Learner Home — Timecode 0:42 – 1:05]
Voiceover Script:
[00:34] LuminaLearn addresses these challenges through an integrated suite of six core modules built to adapt every aspect of the K–12 learning experience.
[00:42] One of our modules is the Support Discovery Engine, which guides students through a three-question, plain-language quiz to automatically configure Warm Reading Paper, High-Contrast CVI borders, Reduced Motion, or Focus Shields—eliminating the burden of navigating complex settings menus.
[00:56] Next is our Khan Academy-inspired Learner Home, which merges duplicate tasks into a single Next Up card and tracks growth across 18 K–12 Math and Science units using four-tier visual Crown Mastery blocks—pairing every color state with explicit geometric symbols for colorblind accessibility.
Live App Demo Action: Open Course Mastery &amp; 18-Unit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Core Modules (3 &amp; 4): Multimodal Player &amp; Luminare AI — Timecode 1:05 – 1:35]
Voiceover Script:
[01:12] Next is the Multimodal Lesson Player, which breaks complex STEM concepts into micro-chunked cards paired with six keyboard-operable visual manipulatives, word-synchronized Read-Aloud captions, and downloadable transcripts. Students using interactive visual models demonstrate 2.4 times higher conceptual retention than with static text alone.
[01:30] Now we have Luminare, our friendly Socratic AI companion tab. Luminare eliminates blank-page anxiety with one-click starter prompts, generates personalized study roadmaps from a student’s lowest mastery blocks, and lets learners connect their own Gemini or OpenAI API key to build custom lessons around their favorite interests.
Live App Demo Action: Launch ✨ Luminare AI Companion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Core Modules (5 &amp; 6): Educator Workspace &amp; Cloud Sync — Timecode 1:35 – 1:55]
Voiceover Script:
[01:47] Last, but definitely not least, are our Educator Workspace and Cloud Account modules, which equip teachers with transactional class join codes, differentiated IEP assignment presets, an enforced 7-Point Accessibility Gate, and Email-and-Password Firebase synchronization with resilient offline caching.
Live App Demo Action: Open Email Sign-In &amp; Firebase Cloud Modal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Technical Architecture &amp; Code Dive — Timecode 1:55 – 2:30]
Voiceover Script:
[02:02] To solve this problem, we needed a technology stack that was both powerful and secure. Our frontend is built with React 19 and Tailwind v4 design tokens, while our backend uses a Node API security middleware and a three-mode Firebase Auth and Cloud Firestore architecture.
[02:14] Here in our server middleware, we enforce a Checkpoint Answer-Leakage Guardrail that detects when a student is in an active assessment and blocks direct answer reveals—ensuring Socratic productive struggle.
[02:24] Next, every outbound prompt is processed by our FERPA and COPPA Privacy Sanitizer. Using custom regular expressions, we scrub raw student emails, phone numbers, and names into de-identified tokens before any request reaches Gemini or OpenAI.
[02:35] But one might ask, how do we guarantee accessibility and data integrity across 18 units? Well, we defined a strict 7-point Accessibility Checklist contract—enforced both in our JavaScript validation layer and our Firestore Security Rules—which prevents any lesson from publishing unless it includes transcripts, alt descriptions, and untimed paths.
Live App Demo Action: Launch Interactive Fractions Lesson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Transformative Impact &amp; Vision — Timecode 2:30 – 2:55]
Voiceover Script:
[02:47] LuminaLearn represents a transformative opportunity to solve the K–12 accessibility crisis that affects 7.5 million students with disabilities and millions more general-education learners.
[02:54] Together, we can create an education system where every student has a calm path to mastery, and every teacher has the tools to teach inclusively. Thank you.
Live App Demo Action: Return to Student Learning Workspace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149"/>
        </a:solidFill>
      </p:bgPr>
    </p:bg>
    <p:spTree>
      <p:nvGrpSpPr>
        <p:cNvPr id="1" name=""/>
        <p:cNvGrpSpPr/>
        <p:nvPr/>
      </p:nvGrpSpPr>
      <p:grpSpPr>
        <a:xfrm>
          <a:off x="0" y="0"/>
          <a:ext cx="0" cy="0"/>
          <a:chOff x="0" y="0"/>
          <a:chExt cx="0" cy="0"/>
        </a:xfrm>
      </p:grpSpPr>
      <p:sp>
        <p:nvSpPr>
          <p:cNvPr id="2" name="Shape 0"/>
          <p:cNvSpPr/>
          <p:nvPr/>
        </p:nvSpPr>
        <p:spPr>
          <a:xfrm>
            <a:off x="548640" y="320040"/>
            <a:ext cx="4937760" cy="347472"/>
          </a:xfrm>
          <a:prstGeom prst="roundRect">
            <a:avLst>
              <a:gd name="adj" fmla="val 21053"/>
            </a:avLst>
          </a:prstGeom>
          <a:solidFill>
            <a:srgbClr val="F59E0B"/>
          </a:solidFill>
          <a:ln w="12700">
            <a:solidFill>
              <a:srgbClr val="F59E0B"/>
            </a:solidFill>
            <a:prstDash val="solid"/>
          </a:ln>
        </p:spPr>
      </p:sp>
      <p:sp>
        <p:nvSpPr>
          <p:cNvPr id="3" name="Text 1"/>
          <p:cNvSpPr/>
          <p:nvPr/>
        </p:nvSpPr>
        <p:spPr>
          <a:xfrm>
            <a:off x="640080" y="338328"/>
            <a:ext cx="4754880" cy="310896"/>
          </a:xfrm>
          <a:prstGeom prst="rect">
            <a:avLst/>
          </a:prstGeom>
          <a:noFill/>
          <a:ln/>
        </p:spPr>
        <p:txBody>
          <a:bodyPr wrap="square"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1. PROJECT OVERVIEW &amp; MISSION</a:t>
            </a:r>
            <a:endParaRPr lang="en-US" sz="1000" dirty="0"/>
          </a:p>
        </p:txBody>
      </p:sp>
      <p:sp>
        <p:nvSpPr>
          <p:cNvPr id="4" name="Shape 2"/>
          <p:cNvSpPr/>
          <p:nvPr/>
        </p:nvSpPr>
        <p:spPr>
          <a:xfrm>
            <a:off x="8869680" y="320040"/>
            <a:ext cx="2770632" cy="347472"/>
          </a:xfrm>
          <a:prstGeom prst="roundRect">
            <a:avLst>
              <a:gd name="adj" fmla="val 21053"/>
            </a:avLst>
          </a:prstGeom>
          <a:solidFill>
            <a:srgbClr val="163266"/>
          </a:solidFill>
          <a:ln w="12700">
            <a:solidFill>
              <a:srgbClr val="2B4C8C"/>
            </a:solidFill>
            <a:prstDash val="solid"/>
          </a:ln>
        </p:spPr>
      </p:sp>
      <p:sp>
        <p:nvSpPr>
          <p:cNvPr id="5" name="Text 3"/>
          <p:cNvSpPr/>
          <p:nvPr/>
        </p:nvSpPr>
        <p:spPr>
          <a:xfrm>
            <a:off x="8961120" y="338328"/>
            <a:ext cx="2587752" cy="310896"/>
          </a:xfrm>
          <a:prstGeom prst="rect">
            <a:avLst/>
          </a:prstGeom>
          <a:noFill/>
          <a:ln/>
        </p:spPr>
        <p:txBody>
          <a:bodyPr wrap="square" rtlCol="0" anchor="ctr"/>
          <a:lstStyle/>
          <a:p>
            <a:pPr algn="r" indent="0" marL="0">
              <a:buNone/>
            </a:pPr>
            <a:r>
              <a:rPr lang="en-US" sz="1000" b="1" dirty="0">
                <a:solidFill>
                  <a:srgbClr val="FDE68A"/>
                </a:solidFill>
                <a:latin typeface="Consolas" pitchFamily="34" charset="0"/>
                <a:ea typeface="Consolas" pitchFamily="34" charset="-122"/>
                <a:cs typeface="Consolas" pitchFamily="34" charset="-120"/>
              </a:rPr>
              <a:t>Slide 1/7  |  Time: 0:00 – 0:18</a:t>
            </a:r>
            <a:endParaRPr lang="en-US" sz="1000" dirty="0"/>
          </a:p>
        </p:txBody>
      </p:sp>
      <p:sp>
        <p:nvSpPr>
          <p:cNvPr id="6" name="Text 4"/>
          <p:cNvSpPr/>
          <p:nvPr/>
        </p:nvSpPr>
        <p:spPr>
          <a:xfrm>
            <a:off x="548640" y="804672"/>
            <a:ext cx="11091672" cy="749808"/>
          </a:xfrm>
          <a:prstGeom prst="rect">
            <a:avLst/>
          </a:prstGeom>
          <a:noFill/>
          <a:ln/>
        </p:spPr>
        <p:txBody>
          <a:bodyPr wrap="square" rtlCol="0" anchor="t"/>
          <a:lstStyle/>
          <a:p>
            <a:pPr indent="0" marL="0">
              <a:buNone/>
            </a:pPr>
            <a:r>
              <a:rPr lang="en-US" sz="2200" b="1" dirty="0">
                <a:solidFill>
                  <a:srgbClr val="FFFFFF"/>
                </a:solidFill>
                <a:latin typeface="Calibri" pitchFamily="34" charset="0"/>
                <a:ea typeface="Calibri" pitchFamily="34" charset="-122"/>
                <a:cs typeface="Calibri" pitchFamily="34" charset="-120"/>
              </a:rPr>
              <a:t>LuminaLearn: Universal Design &amp; Socratic AI for Neurodivergent, Disabled &amp; K–12 Learners</a:t>
            </a:r>
            <a:endParaRPr lang="en-US" sz="2200" dirty="0"/>
          </a:p>
        </p:txBody>
      </p:sp>
      <p:sp>
        <p:nvSpPr>
          <p:cNvPr id="7" name="Text 5"/>
          <p:cNvSpPr/>
          <p:nvPr/>
        </p:nvSpPr>
        <p:spPr>
          <a:xfrm>
            <a:off x="548640" y="1572768"/>
            <a:ext cx="11091672" cy="438912"/>
          </a:xfrm>
          <a:prstGeom prst="rect">
            <a:avLst/>
          </a:prstGeom>
          <a:noFill/>
          <a:ln/>
        </p:spPr>
        <p:txBody>
          <a:bodyPr wrap="square" rtlCol="0" anchor="t"/>
          <a:lstStyle/>
          <a:p>
            <a:pPr indent="0" marL="0">
              <a:buNone/>
            </a:pPr>
            <a:r>
              <a:rPr lang="en-US" sz="1300" b="1" dirty="0">
                <a:solidFill>
                  <a:srgbClr val="FDE68A"/>
                </a:solidFill>
                <a:latin typeface="Calibri" pitchFamily="34" charset="0"/>
                <a:ea typeface="Calibri" pitchFamily="34" charset="-122"/>
                <a:cs typeface="Calibri" pitchFamily="34" charset="-120"/>
              </a:rPr>
              <a:t>Jose Unanue · 12th Grade · Miami Coral Park Senior High School · Congressional District FL-27</a:t>
            </a:r>
            <a:endParaRPr lang="en-US" sz="1300" dirty="0"/>
          </a:p>
        </p:txBody>
      </p:sp>
      <p:sp>
        <p:nvSpPr>
          <p:cNvPr id="8" name="Shape 6"/>
          <p:cNvSpPr/>
          <p:nvPr/>
        </p:nvSpPr>
        <p:spPr>
          <a:xfrm>
            <a:off x="548640" y="2057400"/>
            <a:ext cx="11091672" cy="530352"/>
          </a:xfrm>
          <a:prstGeom prst="roundRect">
            <a:avLst>
              <a:gd name="adj" fmla="val 13793"/>
            </a:avLst>
          </a:prstGeom>
          <a:solidFill>
            <a:srgbClr val="163266"/>
          </a:solidFill>
          <a:ln w="15240">
            <a:solidFill>
              <a:srgbClr val="F59E0B"/>
            </a:solidFill>
            <a:prstDash val="solid"/>
          </a:ln>
        </p:spPr>
      </p:sp>
      <p:sp>
        <p:nvSpPr>
          <p:cNvPr id="9" name="Text 7"/>
          <p:cNvSpPr/>
          <p:nvPr/>
        </p:nvSpPr>
        <p:spPr>
          <a:xfrm>
            <a:off x="731520" y="2093976"/>
            <a:ext cx="10725912" cy="4572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Core Mission: Bridge the K–12 cognitive and sensory accessibility gap by transforming complex STEM coursework into calm, multimodal, and Socratic learning.</a:t>
            </a:r>
            <a:endParaRPr lang="en-US" sz="1200" dirty="0"/>
          </a:p>
        </p:txBody>
      </p:sp>
      <p:sp>
        <p:nvSpPr>
          <p:cNvPr id="10" name="Shape 8"/>
          <p:cNvSpPr/>
          <p:nvPr/>
        </p:nvSpPr>
        <p:spPr>
          <a:xfrm>
            <a:off x="548640" y="2788920"/>
            <a:ext cx="3511296" cy="3246120"/>
          </a:xfrm>
          <a:prstGeom prst="roundRect">
            <a:avLst>
              <a:gd name="adj" fmla="val 3380"/>
            </a:avLst>
          </a:prstGeom>
          <a:solidFill>
            <a:srgbClr val="163266"/>
          </a:solidFill>
          <a:ln w="15240">
            <a:solidFill>
              <a:srgbClr val="2B4C8C"/>
            </a:solidFill>
            <a:prstDash val="solid"/>
          </a:ln>
        </p:spPr>
      </p:sp>
      <p:sp>
        <p:nvSpPr>
          <p:cNvPr id="11" name="Shape 9"/>
          <p:cNvSpPr/>
          <p:nvPr/>
        </p:nvSpPr>
        <p:spPr>
          <a:xfrm>
            <a:off x="777240" y="3044952"/>
            <a:ext cx="822960" cy="73152"/>
          </a:xfrm>
          <a:prstGeom prst="rect">
            <a:avLst/>
          </a:prstGeom>
          <a:solidFill>
            <a:srgbClr val="F59E0B"/>
          </a:solidFill>
          <a:ln/>
        </p:spPr>
      </p:sp>
      <p:sp>
        <p:nvSpPr>
          <p:cNvPr id="12" name="Text 10"/>
          <p:cNvSpPr/>
          <p:nvPr/>
        </p:nvSpPr>
        <p:spPr>
          <a:xfrm>
            <a:off x="777240" y="3246120"/>
            <a:ext cx="3054096" cy="640080"/>
          </a:xfrm>
          <a:prstGeom prst="rect">
            <a:avLst/>
          </a:prstGeom>
          <a:noFill/>
          <a:ln/>
        </p:spPr>
        <p:txBody>
          <a:bodyPr wrap="square" rtlCol="0" anchor="ctr"/>
          <a:lstStyle/>
          <a:p>
            <a:pPr indent="0" marL="0">
              <a:buNone/>
            </a:pPr>
            <a:r>
              <a:rPr lang="en-US" sz="2400" b="1" dirty="0">
                <a:solidFill>
                  <a:srgbClr val="FDE68A"/>
                </a:solidFill>
                <a:latin typeface="Calibri" pitchFamily="34" charset="0"/>
                <a:ea typeface="Calibri" pitchFamily="34" charset="-122"/>
                <a:cs typeface="Calibri" pitchFamily="34" charset="-120"/>
              </a:rPr>
              <a:t>6 Courses · 18 Units</a:t>
            </a:r>
            <a:endParaRPr lang="en-US" sz="2400" dirty="0"/>
          </a:p>
        </p:txBody>
      </p:sp>
      <p:sp>
        <p:nvSpPr>
          <p:cNvPr id="13" name="Text 11"/>
          <p:cNvSpPr/>
          <p:nvPr/>
        </p:nvSpPr>
        <p:spPr>
          <a:xfrm>
            <a:off x="777240" y="3931920"/>
            <a:ext cx="3054096" cy="4114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Complete K–12 STEM Curriculum</a:t>
            </a:r>
            <a:endParaRPr lang="en-US" sz="1400" dirty="0"/>
          </a:p>
        </p:txBody>
      </p:sp>
      <p:sp>
        <p:nvSpPr>
          <p:cNvPr id="14" name="Text 12"/>
          <p:cNvSpPr/>
          <p:nvPr/>
        </p:nvSpPr>
        <p:spPr>
          <a:xfrm>
            <a:off x="777240" y="4416552"/>
            <a:ext cx="3054096" cy="1371600"/>
          </a:xfrm>
          <a:prstGeom prst="rect">
            <a:avLst/>
          </a:prstGeom>
          <a:noFill/>
          <a:ln/>
        </p:spPr>
        <p:txBody>
          <a:bodyPr wrap="square" rtlCol="0" anchor="t"/>
          <a:lstStyle/>
          <a:p>
            <a:pPr indent="0" marL="0">
              <a:buNone/>
            </a:pPr>
            <a:r>
              <a:rPr lang="en-US" sz="1200" dirty="0">
                <a:solidFill>
                  <a:srgbClr val="E2E8F0"/>
                </a:solidFill>
                <a:latin typeface="Calibri" pitchFamily="34" charset="0"/>
                <a:ea typeface="Calibri" pitchFamily="34" charset="-122"/>
                <a:cs typeface="Calibri" pitchFamily="34" charset="-120"/>
              </a:rPr>
              <a:t>Spans Elementary (K–5), Middle (6–8), and High School (9–12) across Mathematics &amp; Science.</a:t>
            </a:r>
            <a:endParaRPr lang="en-US" sz="1200" dirty="0"/>
          </a:p>
        </p:txBody>
      </p:sp>
      <p:sp>
        <p:nvSpPr>
          <p:cNvPr id="15" name="Shape 13"/>
          <p:cNvSpPr/>
          <p:nvPr/>
        </p:nvSpPr>
        <p:spPr>
          <a:xfrm>
            <a:off x="4334256" y="2788920"/>
            <a:ext cx="3511296" cy="3246120"/>
          </a:xfrm>
          <a:prstGeom prst="roundRect">
            <a:avLst>
              <a:gd name="adj" fmla="val 3380"/>
            </a:avLst>
          </a:prstGeom>
          <a:solidFill>
            <a:srgbClr val="163266"/>
          </a:solidFill>
          <a:ln w="15240">
            <a:solidFill>
              <a:srgbClr val="2B4C8C"/>
            </a:solidFill>
            <a:prstDash val="solid"/>
          </a:ln>
        </p:spPr>
      </p:sp>
      <p:sp>
        <p:nvSpPr>
          <p:cNvPr id="16" name="Shape 14"/>
          <p:cNvSpPr/>
          <p:nvPr/>
        </p:nvSpPr>
        <p:spPr>
          <a:xfrm>
            <a:off x="4562856" y="3044952"/>
            <a:ext cx="822960" cy="73152"/>
          </a:xfrm>
          <a:prstGeom prst="rect">
            <a:avLst/>
          </a:prstGeom>
          <a:solidFill>
            <a:srgbClr val="F59E0B"/>
          </a:solidFill>
          <a:ln/>
        </p:spPr>
      </p:sp>
      <p:sp>
        <p:nvSpPr>
          <p:cNvPr id="17" name="Text 15"/>
          <p:cNvSpPr/>
          <p:nvPr/>
        </p:nvSpPr>
        <p:spPr>
          <a:xfrm>
            <a:off x="4562856" y="3246120"/>
            <a:ext cx="3054096" cy="640080"/>
          </a:xfrm>
          <a:prstGeom prst="rect">
            <a:avLst/>
          </a:prstGeom>
          <a:noFill/>
          <a:ln/>
        </p:spPr>
        <p:txBody>
          <a:bodyPr wrap="square" rtlCol="0" anchor="ctr"/>
          <a:lstStyle/>
          <a:p>
            <a:pPr indent="0" marL="0">
              <a:buNone/>
            </a:pPr>
            <a:r>
              <a:rPr lang="en-US" sz="2400" b="1" dirty="0">
                <a:solidFill>
                  <a:srgbClr val="FDE68A"/>
                </a:solidFill>
                <a:latin typeface="Calibri" pitchFamily="34" charset="0"/>
                <a:ea typeface="Calibri" pitchFamily="34" charset="-122"/>
                <a:cs typeface="Calibri" pitchFamily="34" charset="-120"/>
              </a:rPr>
              <a:t>6 Disability Domains</a:t>
            </a:r>
            <a:endParaRPr lang="en-US" sz="2400" dirty="0"/>
          </a:p>
        </p:txBody>
      </p:sp>
      <p:sp>
        <p:nvSpPr>
          <p:cNvPr id="18" name="Text 16"/>
          <p:cNvSpPr/>
          <p:nvPr/>
        </p:nvSpPr>
        <p:spPr>
          <a:xfrm>
            <a:off x="4562856" y="3931920"/>
            <a:ext cx="3054096" cy="4114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UDL 3.0 &amp; WCAG 2.2 AA Native</a:t>
            </a:r>
            <a:endParaRPr lang="en-US" sz="1400" dirty="0"/>
          </a:p>
        </p:txBody>
      </p:sp>
      <p:sp>
        <p:nvSpPr>
          <p:cNvPr id="19" name="Text 17"/>
          <p:cNvSpPr/>
          <p:nvPr/>
        </p:nvSpPr>
        <p:spPr>
          <a:xfrm>
            <a:off x="4562856" y="4416552"/>
            <a:ext cx="3054096" cy="1371600"/>
          </a:xfrm>
          <a:prstGeom prst="rect">
            <a:avLst/>
          </a:prstGeom>
          <a:noFill/>
          <a:ln/>
        </p:spPr>
        <p:txBody>
          <a:bodyPr wrap="square" rtlCol="0" anchor="t"/>
          <a:lstStyle/>
          <a:p>
            <a:pPr indent="0" marL="0">
              <a:buNone/>
            </a:pPr>
            <a:r>
              <a:rPr lang="en-US" sz="1200" dirty="0">
                <a:solidFill>
                  <a:srgbClr val="E2E8F0"/>
                </a:solidFill>
                <a:latin typeface="Calibri" pitchFamily="34" charset="0"/>
                <a:ea typeface="Calibri" pitchFamily="34" charset="-122"/>
                <a:cs typeface="Calibri" pitchFamily="34" charset="-120"/>
              </a:rPr>
              <a:t>Tailored for Autism, ADHD, Dyslexia, Dyscalculia, Auditory (DHH/APD), Visual (CVI), &amp; Motor needs.</a:t>
            </a:r>
            <a:endParaRPr lang="en-US" sz="1200" dirty="0"/>
          </a:p>
        </p:txBody>
      </p:sp>
      <p:sp>
        <p:nvSpPr>
          <p:cNvPr id="20" name="Shape 18"/>
          <p:cNvSpPr/>
          <p:nvPr/>
        </p:nvSpPr>
        <p:spPr>
          <a:xfrm>
            <a:off x="8119872" y="2788920"/>
            <a:ext cx="3511296" cy="3246120"/>
          </a:xfrm>
          <a:prstGeom prst="roundRect">
            <a:avLst>
              <a:gd name="adj" fmla="val 3380"/>
            </a:avLst>
          </a:prstGeom>
          <a:solidFill>
            <a:srgbClr val="163266"/>
          </a:solidFill>
          <a:ln w="15240">
            <a:solidFill>
              <a:srgbClr val="2B4C8C"/>
            </a:solidFill>
            <a:prstDash val="solid"/>
          </a:ln>
        </p:spPr>
      </p:sp>
      <p:sp>
        <p:nvSpPr>
          <p:cNvPr id="21" name="Shape 19"/>
          <p:cNvSpPr/>
          <p:nvPr/>
        </p:nvSpPr>
        <p:spPr>
          <a:xfrm>
            <a:off x="8348472" y="3044952"/>
            <a:ext cx="822960" cy="73152"/>
          </a:xfrm>
          <a:prstGeom prst="rect">
            <a:avLst/>
          </a:prstGeom>
          <a:solidFill>
            <a:srgbClr val="F59E0B"/>
          </a:solidFill>
          <a:ln/>
        </p:spPr>
      </p:sp>
      <p:sp>
        <p:nvSpPr>
          <p:cNvPr id="22" name="Text 20"/>
          <p:cNvSpPr/>
          <p:nvPr/>
        </p:nvSpPr>
        <p:spPr>
          <a:xfrm>
            <a:off x="8348472" y="3246120"/>
            <a:ext cx="3054096" cy="640080"/>
          </a:xfrm>
          <a:prstGeom prst="rect">
            <a:avLst/>
          </a:prstGeom>
          <a:noFill/>
          <a:ln/>
        </p:spPr>
        <p:txBody>
          <a:bodyPr wrap="square" rtlCol="0" anchor="ctr"/>
          <a:lstStyle/>
          <a:p>
            <a:pPr indent="0" marL="0">
              <a:buNone/>
            </a:pPr>
            <a:r>
              <a:rPr lang="en-US" sz="2400" b="1" dirty="0">
                <a:solidFill>
                  <a:srgbClr val="FDE68A"/>
                </a:solidFill>
                <a:latin typeface="Calibri" pitchFamily="34" charset="0"/>
                <a:ea typeface="Calibri" pitchFamily="34" charset="-122"/>
                <a:cs typeface="Calibri" pitchFamily="34" charset="-120"/>
              </a:rPr>
              <a:t>100% Non-Punitive</a:t>
            </a:r>
            <a:endParaRPr lang="en-US" sz="2400" dirty="0"/>
          </a:p>
        </p:txBody>
      </p:sp>
      <p:sp>
        <p:nvSpPr>
          <p:cNvPr id="23" name="Text 21"/>
          <p:cNvSpPr/>
          <p:nvPr/>
        </p:nvSpPr>
        <p:spPr>
          <a:xfrm>
            <a:off x="8348472" y="3931920"/>
            <a:ext cx="3054096" cy="4114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Calm, Task-First Architecture</a:t>
            </a:r>
            <a:endParaRPr lang="en-US" sz="1400" dirty="0"/>
          </a:p>
        </p:txBody>
      </p:sp>
      <p:sp>
        <p:nvSpPr>
          <p:cNvPr id="24" name="Text 22"/>
          <p:cNvSpPr/>
          <p:nvPr/>
        </p:nvSpPr>
        <p:spPr>
          <a:xfrm>
            <a:off x="8348472" y="4416552"/>
            <a:ext cx="3054096" cy="1371600"/>
          </a:xfrm>
          <a:prstGeom prst="rect">
            <a:avLst/>
          </a:prstGeom>
          <a:noFill/>
          <a:ln/>
        </p:spPr>
        <p:txBody>
          <a:bodyPr wrap="square" rtlCol="0" anchor="t"/>
          <a:lstStyle/>
          <a:p>
            <a:pPr indent="0" marL="0">
              <a:buNone/>
            </a:pPr>
            <a:r>
              <a:rPr lang="en-US" sz="1200" dirty="0">
                <a:solidFill>
                  <a:srgbClr val="E2E8F0"/>
                </a:solidFill>
                <a:latin typeface="Calibri" pitchFamily="34" charset="0"/>
                <a:ea typeface="Calibri" pitchFamily="34" charset="-122"/>
                <a:cs typeface="Calibri" pitchFamily="34" charset="-120"/>
              </a:rPr>
              <a:t>Replaces cluttered dashboards and anxiety-inducing timers with Khan Academy-inspired 4-tier Crown Mastery.</a:t>
            </a:r>
            <a:endParaRPr lang="en-US" sz="1200" dirty="0"/>
          </a:p>
        </p:txBody>
      </p:sp>
      <p:sp>
        <p:nvSpPr>
          <p:cNvPr id="25" name="Text 23"/>
          <p:cNvSpPr/>
          <p:nvPr/>
        </p:nvSpPr>
        <p:spPr>
          <a:xfrm>
            <a:off x="548640" y="6327648"/>
            <a:ext cx="11091672" cy="320040"/>
          </a:xfrm>
          <a:prstGeom prst="rect">
            <a:avLst/>
          </a:prstGeom>
          <a:noFill/>
          <a:ln/>
        </p:spPr>
        <p:txBody>
          <a:bodyPr wrap="square" rtlCol="0" anchor="ctr"/>
          <a:lstStyle/>
          <a:p>
            <a:pPr indent="0" marL="0">
              <a:buNone/>
            </a:pPr>
            <a:r>
              <a:rPr lang="en-US" sz="950" b="1" dirty="0">
                <a:solidFill>
                  <a:srgbClr val="E2E8F0"/>
                </a:solidFill>
                <a:latin typeface="Calibri" pitchFamily="34" charset="0"/>
                <a:ea typeface="Calibri" pitchFamily="34" charset="-122"/>
                <a:cs typeface="Calibri" pitchFamily="34" charset="-120"/>
              </a:rPr>
              <a:t>LuminaLearn  ·  Jose Unanue (12th Grade, Miami Coral Park Senior High School)  ·  Congressional District FL-27</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4937760" cy="347472"/>
          </a:xfrm>
          <a:prstGeom prst="roundRect">
            <a:avLst>
              <a:gd name="adj" fmla="val 21053"/>
            </a:avLst>
          </a:prstGeom>
          <a:solidFill>
            <a:srgbClr val="EEF2FF"/>
          </a:solidFill>
          <a:ln w="12700">
            <a:solidFill>
              <a:srgbClr val="4F46E5"/>
            </a:solidFill>
            <a:prstDash val="solid"/>
          </a:ln>
        </p:spPr>
      </p:sp>
      <p:sp>
        <p:nvSpPr>
          <p:cNvPr id="3" name="Text 1"/>
          <p:cNvSpPr/>
          <p:nvPr/>
        </p:nvSpPr>
        <p:spPr>
          <a:xfrm>
            <a:off x="640080" y="338328"/>
            <a:ext cx="4754880" cy="310896"/>
          </a:xfrm>
          <a:prstGeom prst="rect">
            <a:avLst/>
          </a:prstGeom>
          <a:noFill/>
          <a:ln/>
        </p:spPr>
        <p:txBody>
          <a:bodyPr wrap="square" rtlCol="0" anchor="ctr"/>
          <a:lstStyle/>
          <a:p>
            <a:pPr indent="0" marL="0">
              <a:buNone/>
            </a:pPr>
            <a:r>
              <a:rPr lang="en-US" sz="1000" b="1" dirty="0">
                <a:solidFill>
                  <a:srgbClr val="312E81"/>
                </a:solidFill>
                <a:latin typeface="Calibri" pitchFamily="34" charset="0"/>
                <a:ea typeface="Calibri" pitchFamily="34" charset="-122"/>
                <a:cs typeface="Calibri" pitchFamily="34" charset="-120"/>
              </a:rPr>
              <a:t>2. THE PROBLEM: THE K–12 ACCESSIBILITY &amp; COGNITIVE LOAD CRISIS</a:t>
            </a:r>
            <a:endParaRPr lang="en-US" sz="1000" dirty="0"/>
          </a:p>
        </p:txBody>
      </p:sp>
      <p:sp>
        <p:nvSpPr>
          <p:cNvPr id="4" name="Shape 2"/>
          <p:cNvSpPr/>
          <p:nvPr/>
        </p:nvSpPr>
        <p:spPr>
          <a:xfrm>
            <a:off x="8869680" y="320040"/>
            <a:ext cx="2770632" cy="347472"/>
          </a:xfrm>
          <a:prstGeom prst="roundRect">
            <a:avLst>
              <a:gd name="adj" fmla="val 21053"/>
            </a:avLst>
          </a:prstGeom>
          <a:solidFill>
            <a:srgbClr val="FFFFFF"/>
          </a:solidFill>
          <a:ln w="12700">
            <a:solidFill>
              <a:srgbClr val="CBD5E1"/>
            </a:solidFill>
            <a:prstDash val="solid"/>
          </a:ln>
        </p:spPr>
      </p:sp>
      <p:sp>
        <p:nvSpPr>
          <p:cNvPr id="5" name="Text 3"/>
          <p:cNvSpPr/>
          <p:nvPr/>
        </p:nvSpPr>
        <p:spPr>
          <a:xfrm>
            <a:off x="8961120" y="338328"/>
            <a:ext cx="2587752" cy="310896"/>
          </a:xfrm>
          <a:prstGeom prst="rect">
            <a:avLst/>
          </a:prstGeom>
          <a:noFill/>
          <a:ln/>
        </p:spPr>
        <p:txBody>
          <a:bodyPr wrap="square" rtlCol="0" anchor="ctr"/>
          <a:lstStyle/>
          <a:p>
            <a:pPr algn="r" indent="0" marL="0">
              <a:buNone/>
            </a:pPr>
            <a:r>
              <a:rPr lang="en-US" sz="1000" b="1" dirty="0">
                <a:solidFill>
                  <a:srgbClr val="475569"/>
                </a:solidFill>
                <a:latin typeface="Consolas" pitchFamily="34" charset="0"/>
                <a:ea typeface="Consolas" pitchFamily="34" charset="-122"/>
                <a:cs typeface="Consolas" pitchFamily="34" charset="-120"/>
              </a:rPr>
              <a:t>Slide 2/7  |  Time: 0:18 – 0:42</a:t>
            </a:r>
            <a:endParaRPr lang="en-US" sz="1000" dirty="0"/>
          </a:p>
        </p:txBody>
      </p:sp>
      <p:sp>
        <p:nvSpPr>
          <p:cNvPr id="6" name="Text 4"/>
          <p:cNvSpPr/>
          <p:nvPr/>
        </p:nvSpPr>
        <p:spPr>
          <a:xfrm>
            <a:off x="548640" y="804672"/>
            <a:ext cx="11091672" cy="749808"/>
          </a:xfrm>
          <a:prstGeom prst="rect">
            <a:avLst/>
          </a:prstGeom>
          <a:noFill/>
          <a:ln/>
        </p:spPr>
        <p:txBody>
          <a:bodyPr wrap="square" rtlCol="0" anchor="t"/>
          <a:lstStyle/>
          <a:p>
            <a:pPr indent="0" marL="0">
              <a:buNone/>
            </a:pPr>
            <a:r>
              <a:rPr lang="en-US" sz="2200" b="1" dirty="0">
                <a:solidFill>
                  <a:srgbClr val="0F172A"/>
                </a:solidFill>
                <a:latin typeface="Calibri" pitchFamily="34" charset="0"/>
                <a:ea typeface="Calibri" pitchFamily="34" charset="-122"/>
                <a:cs typeface="Calibri" pitchFamily="34" charset="-120"/>
              </a:rPr>
              <a:t>Conventional Digital Learning Platforms Overload Working Memory and Leave 7.5 Million Students Behind</a:t>
            </a:r>
            <a:endParaRPr lang="en-US" sz="2200" dirty="0"/>
          </a:p>
        </p:txBody>
      </p:sp>
      <p:sp>
        <p:nvSpPr>
          <p:cNvPr id="7" name="Text 5"/>
          <p:cNvSpPr/>
          <p:nvPr/>
        </p:nvSpPr>
        <p:spPr>
          <a:xfrm>
            <a:off x="548640" y="1572768"/>
            <a:ext cx="11091672" cy="438912"/>
          </a:xfrm>
          <a:prstGeom prst="rect">
            <a:avLst/>
          </a:prstGeom>
          <a:noFill/>
          <a:ln/>
        </p:spPr>
        <p:txBody>
          <a:bodyPr wrap="square" rtlCol="0" anchor="t"/>
          <a:lstStyle/>
          <a:p>
            <a:pPr indent="0" marL="0">
              <a:buNone/>
            </a:pPr>
            <a:r>
              <a:rPr lang="en-US" sz="1300" dirty="0">
                <a:solidFill>
                  <a:srgbClr val="475569"/>
                </a:solidFill>
                <a:latin typeface="Calibri" pitchFamily="34" charset="0"/>
                <a:ea typeface="Calibri" pitchFamily="34" charset="-122"/>
                <a:cs typeface="Calibri" pitchFamily="34" charset="-120"/>
              </a:rPr>
              <a:t>Standard K–12 LMS platforms are built for neurotypical workflows—treating accessibility as an afterthought plugin rather than a core instructional architecture.</a:t>
            </a:r>
            <a:endParaRPr lang="en-US" sz="1300" dirty="0"/>
          </a:p>
        </p:txBody>
      </p:sp>
      <p:sp>
        <p:nvSpPr>
          <p:cNvPr id="8" name="Shape 6"/>
          <p:cNvSpPr/>
          <p:nvPr/>
        </p:nvSpPr>
        <p:spPr>
          <a:xfrm>
            <a:off x="548640" y="2240280"/>
            <a:ext cx="3511296" cy="3794760"/>
          </a:xfrm>
          <a:prstGeom prst="roundRect">
            <a:avLst>
              <a:gd name="adj" fmla="val 3125"/>
            </a:avLst>
          </a:prstGeom>
          <a:solidFill>
            <a:srgbClr val="FFFFFF"/>
          </a:solidFill>
          <a:ln w="15240">
            <a:solidFill>
              <a:srgbClr val="CBD5E1"/>
            </a:solidFill>
            <a:prstDash val="solid"/>
          </a:ln>
        </p:spPr>
      </p:sp>
      <p:sp>
        <p:nvSpPr>
          <p:cNvPr id="9" name="Shape 7"/>
          <p:cNvSpPr/>
          <p:nvPr/>
        </p:nvSpPr>
        <p:spPr>
          <a:xfrm>
            <a:off x="777240" y="2496312"/>
            <a:ext cx="822960" cy="73152"/>
          </a:xfrm>
          <a:prstGeom prst="rect">
            <a:avLst/>
          </a:prstGeom>
          <a:solidFill>
            <a:srgbClr val="4F46E5"/>
          </a:solidFill>
          <a:ln/>
        </p:spPr>
      </p:sp>
      <p:sp>
        <p:nvSpPr>
          <p:cNvPr id="10" name="Text 8"/>
          <p:cNvSpPr/>
          <p:nvPr/>
        </p:nvSpPr>
        <p:spPr>
          <a:xfrm>
            <a:off x="777240" y="2697480"/>
            <a:ext cx="3054096" cy="640080"/>
          </a:xfrm>
          <a:prstGeom prst="rect">
            <a:avLst/>
          </a:prstGeom>
          <a:noFill/>
          <a:ln/>
        </p:spPr>
        <p:txBody>
          <a:bodyPr wrap="square" rtlCol="0" anchor="ctr"/>
          <a:lstStyle/>
          <a:p>
            <a:pPr indent="0" marL="0">
              <a:buNone/>
            </a:pPr>
            <a:r>
              <a:rPr lang="en-US" sz="2400" b="1" dirty="0">
                <a:solidFill>
                  <a:srgbClr val="4F46E5"/>
                </a:solidFill>
                <a:latin typeface="Calibri" pitchFamily="34" charset="0"/>
                <a:ea typeface="Calibri" pitchFamily="34" charset="-122"/>
                <a:cs typeface="Calibri" pitchFamily="34" charset="-120"/>
              </a:rPr>
              <a:t>7.5M (15%)</a:t>
            </a:r>
            <a:endParaRPr lang="en-US" sz="2400" dirty="0"/>
          </a:p>
        </p:txBody>
      </p:sp>
      <p:sp>
        <p:nvSpPr>
          <p:cNvPr id="11" name="Text 9"/>
          <p:cNvSpPr/>
          <p:nvPr/>
        </p:nvSpPr>
        <p:spPr>
          <a:xfrm>
            <a:off x="777240" y="3383280"/>
            <a:ext cx="3054096" cy="411480"/>
          </a:xfrm>
          <a:prstGeom prst="rect">
            <a:avLst/>
          </a:prstGeom>
          <a:noFill/>
          <a:ln/>
        </p:spPr>
        <p:txBody>
          <a:bodyPr wrap="square"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U.S. K–12 Students Under IDEA</a:t>
            </a:r>
            <a:endParaRPr lang="en-US" sz="1400" dirty="0"/>
          </a:p>
        </p:txBody>
      </p:sp>
      <p:sp>
        <p:nvSpPr>
          <p:cNvPr id="12" name="Text 10"/>
          <p:cNvSpPr/>
          <p:nvPr/>
        </p:nvSpPr>
        <p:spPr>
          <a:xfrm>
            <a:off x="777240" y="3867912"/>
            <a:ext cx="3054096" cy="1371600"/>
          </a:xfrm>
          <a:prstGeom prst="rect">
            <a:avLst/>
          </a:prstGeom>
          <a:noFill/>
          <a:ln/>
        </p:spPr>
        <p:txBody>
          <a:bodyPr wrap="square" rtlCol="0" anchor="t"/>
          <a:lstStyle/>
          <a:p>
            <a:pPr indent="0" marL="0">
              <a:buNone/>
            </a:pPr>
            <a:r>
              <a:rPr lang="en-US" sz="1200" dirty="0">
                <a:solidFill>
                  <a:srgbClr val="475569"/>
                </a:solidFill>
                <a:latin typeface="Calibri" pitchFamily="34" charset="0"/>
                <a:ea typeface="Calibri" pitchFamily="34" charset="-122"/>
                <a:cs typeface="Calibri" pitchFamily="34" charset="-120"/>
              </a:rPr>
              <a:t>15% of public school students have diagnosed learning, attention (ADHD), autism, sensory, or motor disabilities (NCES).</a:t>
            </a:r>
            <a:endParaRPr lang="en-US" sz="1200" dirty="0"/>
          </a:p>
        </p:txBody>
      </p:sp>
      <p:sp>
        <p:nvSpPr>
          <p:cNvPr id="13" name="Shape 11"/>
          <p:cNvSpPr/>
          <p:nvPr/>
        </p:nvSpPr>
        <p:spPr>
          <a:xfrm>
            <a:off x="4334256" y="2240280"/>
            <a:ext cx="3511296" cy="3794760"/>
          </a:xfrm>
          <a:prstGeom prst="roundRect">
            <a:avLst>
              <a:gd name="adj" fmla="val 3125"/>
            </a:avLst>
          </a:prstGeom>
          <a:solidFill>
            <a:srgbClr val="FFFFFF"/>
          </a:solidFill>
          <a:ln w="15240">
            <a:solidFill>
              <a:srgbClr val="CBD5E1"/>
            </a:solidFill>
            <a:prstDash val="solid"/>
          </a:ln>
        </p:spPr>
      </p:sp>
      <p:sp>
        <p:nvSpPr>
          <p:cNvPr id="14" name="Shape 12"/>
          <p:cNvSpPr/>
          <p:nvPr/>
        </p:nvSpPr>
        <p:spPr>
          <a:xfrm>
            <a:off x="4562856" y="2496312"/>
            <a:ext cx="822960" cy="73152"/>
          </a:xfrm>
          <a:prstGeom prst="rect">
            <a:avLst/>
          </a:prstGeom>
          <a:solidFill>
            <a:srgbClr val="4F46E5"/>
          </a:solidFill>
          <a:ln/>
        </p:spPr>
      </p:sp>
      <p:sp>
        <p:nvSpPr>
          <p:cNvPr id="15" name="Text 13"/>
          <p:cNvSpPr/>
          <p:nvPr/>
        </p:nvSpPr>
        <p:spPr>
          <a:xfrm>
            <a:off x="4562856" y="2697480"/>
            <a:ext cx="3054096" cy="640080"/>
          </a:xfrm>
          <a:prstGeom prst="rect">
            <a:avLst/>
          </a:prstGeom>
          <a:noFill/>
          <a:ln/>
        </p:spPr>
        <p:txBody>
          <a:bodyPr wrap="square" rtlCol="0" anchor="ctr"/>
          <a:lstStyle/>
          <a:p>
            <a:pPr indent="0" marL="0">
              <a:buNone/>
            </a:pPr>
            <a:r>
              <a:rPr lang="en-US" sz="2400" b="1" dirty="0">
                <a:solidFill>
                  <a:srgbClr val="4F46E5"/>
                </a:solidFill>
                <a:latin typeface="Calibri" pitchFamily="34" charset="0"/>
                <a:ea typeface="Calibri" pitchFamily="34" charset="-122"/>
                <a:cs typeface="Calibri" pitchFamily="34" charset="-120"/>
              </a:rPr>
              <a:t>32% – 45%</a:t>
            </a:r>
            <a:endParaRPr lang="en-US" sz="2400" dirty="0"/>
          </a:p>
        </p:txBody>
      </p:sp>
      <p:sp>
        <p:nvSpPr>
          <p:cNvPr id="16" name="Text 14"/>
          <p:cNvSpPr/>
          <p:nvPr/>
        </p:nvSpPr>
        <p:spPr>
          <a:xfrm>
            <a:off x="4562856" y="3383280"/>
            <a:ext cx="3054096" cy="411480"/>
          </a:xfrm>
          <a:prstGeom prst="rect">
            <a:avLst/>
          </a:prstGeom>
          <a:noFill/>
          <a:ln/>
        </p:spPr>
        <p:txBody>
          <a:bodyPr wrap="square"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Higher Digital Task Drop-Off</a:t>
            </a:r>
            <a:endParaRPr lang="en-US" sz="1400" dirty="0"/>
          </a:p>
        </p:txBody>
      </p:sp>
      <p:sp>
        <p:nvSpPr>
          <p:cNvPr id="17" name="Text 15"/>
          <p:cNvSpPr/>
          <p:nvPr/>
        </p:nvSpPr>
        <p:spPr>
          <a:xfrm>
            <a:off x="4562856" y="3867912"/>
            <a:ext cx="3054096" cy="1371600"/>
          </a:xfrm>
          <a:prstGeom prst="rect">
            <a:avLst/>
          </a:prstGeom>
          <a:noFill/>
          <a:ln/>
        </p:spPr>
        <p:txBody>
          <a:bodyPr wrap="square" rtlCol="0" anchor="t"/>
          <a:lstStyle/>
          <a:p>
            <a:pPr indent="0" marL="0">
              <a:buNone/>
            </a:pPr>
            <a:r>
              <a:rPr lang="en-US" sz="1200" dirty="0">
                <a:solidFill>
                  <a:srgbClr val="475569"/>
                </a:solidFill>
                <a:latin typeface="Calibri" pitchFamily="34" charset="0"/>
                <a:ea typeface="Calibri" pitchFamily="34" charset="-122"/>
                <a:cs typeface="Calibri" pitchFamily="34" charset="-120"/>
              </a:rPr>
              <a:t>Multi-column clutter, dense text walls, and countdown timers trigger executive-function freeze and sensory fatigue (W3C COGA).</a:t>
            </a:r>
            <a:endParaRPr lang="en-US" sz="1200" dirty="0"/>
          </a:p>
        </p:txBody>
      </p:sp>
      <p:sp>
        <p:nvSpPr>
          <p:cNvPr id="18" name="Shape 16"/>
          <p:cNvSpPr/>
          <p:nvPr/>
        </p:nvSpPr>
        <p:spPr>
          <a:xfrm>
            <a:off x="8119872" y="2240280"/>
            <a:ext cx="3511296" cy="3794760"/>
          </a:xfrm>
          <a:prstGeom prst="roundRect">
            <a:avLst>
              <a:gd name="adj" fmla="val 3125"/>
            </a:avLst>
          </a:prstGeom>
          <a:solidFill>
            <a:srgbClr val="FFFFFF"/>
          </a:solidFill>
          <a:ln w="15240">
            <a:solidFill>
              <a:srgbClr val="CBD5E1"/>
            </a:solidFill>
            <a:prstDash val="solid"/>
          </a:ln>
        </p:spPr>
      </p:sp>
      <p:sp>
        <p:nvSpPr>
          <p:cNvPr id="19" name="Shape 17"/>
          <p:cNvSpPr/>
          <p:nvPr/>
        </p:nvSpPr>
        <p:spPr>
          <a:xfrm>
            <a:off x="8348472" y="2496312"/>
            <a:ext cx="822960" cy="73152"/>
          </a:xfrm>
          <a:prstGeom prst="rect">
            <a:avLst/>
          </a:prstGeom>
          <a:solidFill>
            <a:srgbClr val="4F46E5"/>
          </a:solidFill>
          <a:ln/>
        </p:spPr>
      </p:sp>
      <p:sp>
        <p:nvSpPr>
          <p:cNvPr id="20" name="Text 18"/>
          <p:cNvSpPr/>
          <p:nvPr/>
        </p:nvSpPr>
        <p:spPr>
          <a:xfrm>
            <a:off x="8348472" y="2697480"/>
            <a:ext cx="3054096" cy="640080"/>
          </a:xfrm>
          <a:prstGeom prst="rect">
            <a:avLst/>
          </a:prstGeom>
          <a:noFill/>
          <a:ln/>
        </p:spPr>
        <p:txBody>
          <a:bodyPr wrap="square" rtlCol="0" anchor="ctr"/>
          <a:lstStyle/>
          <a:p>
            <a:pPr indent="0" marL="0">
              <a:buNone/>
            </a:pPr>
            <a:r>
              <a:rPr lang="en-US" sz="2400" b="1" dirty="0">
                <a:solidFill>
                  <a:srgbClr val="4F46E5"/>
                </a:solidFill>
                <a:latin typeface="Calibri" pitchFamily="34" charset="0"/>
                <a:ea typeface="Calibri" pitchFamily="34" charset="-122"/>
                <a:cs typeface="Calibri" pitchFamily="34" charset="-120"/>
              </a:rPr>
              <a:t>78% Undiagnosed</a:t>
            </a:r>
            <a:endParaRPr lang="en-US" sz="2400" dirty="0"/>
          </a:p>
        </p:txBody>
      </p:sp>
      <p:sp>
        <p:nvSpPr>
          <p:cNvPr id="21" name="Text 19"/>
          <p:cNvSpPr/>
          <p:nvPr/>
        </p:nvSpPr>
        <p:spPr>
          <a:xfrm>
            <a:off x="8348472" y="3383280"/>
            <a:ext cx="3054096" cy="411480"/>
          </a:xfrm>
          <a:prstGeom prst="rect">
            <a:avLst/>
          </a:prstGeom>
          <a:noFill/>
          <a:ln/>
        </p:spPr>
        <p:txBody>
          <a:bodyPr wrap="square"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Struggle to Self-Configure Tools</a:t>
            </a:r>
            <a:endParaRPr lang="en-US" sz="1400" dirty="0"/>
          </a:p>
        </p:txBody>
      </p:sp>
      <p:sp>
        <p:nvSpPr>
          <p:cNvPr id="22" name="Text 20"/>
          <p:cNvSpPr/>
          <p:nvPr/>
        </p:nvSpPr>
        <p:spPr>
          <a:xfrm>
            <a:off x="8348472" y="3867912"/>
            <a:ext cx="3054096" cy="1371600"/>
          </a:xfrm>
          <a:prstGeom prst="rect">
            <a:avLst/>
          </a:prstGeom>
          <a:noFill/>
          <a:ln/>
        </p:spPr>
        <p:txBody>
          <a:bodyPr wrap="square" rtlCol="0" anchor="t"/>
          <a:lstStyle/>
          <a:p>
            <a:pPr indent="0" marL="0">
              <a:buNone/>
            </a:pPr>
            <a:r>
              <a:rPr lang="en-US" sz="1200" dirty="0">
                <a:solidFill>
                  <a:srgbClr val="475569"/>
                </a:solidFill>
                <a:latin typeface="Calibri" pitchFamily="34" charset="0"/>
                <a:ea typeface="Calibri" pitchFamily="34" charset="-122"/>
                <a:cs typeface="Calibri" pitchFamily="34" charset="-120"/>
              </a:rPr>
              <a:t>Young neurodivergent learners rarely know which accessibility settings to toggle in complex settings menus (CAST UDL 3.0).</a:t>
            </a:r>
            <a:endParaRPr lang="en-US" sz="1200" dirty="0"/>
          </a:p>
        </p:txBody>
      </p:sp>
      <p:sp>
        <p:nvSpPr>
          <p:cNvPr id="23" name="Text 21"/>
          <p:cNvSpPr/>
          <p:nvPr/>
        </p:nvSpPr>
        <p:spPr>
          <a:xfrm>
            <a:off x="548640" y="6327648"/>
            <a:ext cx="11091672" cy="320040"/>
          </a:xfrm>
          <a:prstGeom prst="rect">
            <a:avLst/>
          </a:prstGeom>
          <a:noFill/>
          <a:ln/>
        </p:spPr>
        <p:txBody>
          <a:bodyPr wrap="square" rtlCol="0" anchor="ctr"/>
          <a:lstStyle/>
          <a:p>
            <a:pPr indent="0" marL="0">
              <a:buNone/>
            </a:pPr>
            <a:r>
              <a:rPr lang="en-US" sz="950" b="1" dirty="0">
                <a:solidFill>
                  <a:srgbClr val="475569"/>
                </a:solidFill>
                <a:latin typeface="Calibri" pitchFamily="34" charset="0"/>
                <a:ea typeface="Calibri" pitchFamily="34" charset="-122"/>
                <a:cs typeface="Calibri" pitchFamily="34" charset="-120"/>
              </a:rPr>
              <a:t>LuminaLearn  ·  Jose Unanue (12th Grade, Miami Coral Park Senior High School)  ·  Congressional District FL-27</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4937760" cy="347472"/>
          </a:xfrm>
          <a:prstGeom prst="roundRect">
            <a:avLst>
              <a:gd name="adj" fmla="val 21053"/>
            </a:avLst>
          </a:prstGeom>
          <a:solidFill>
            <a:srgbClr val="EEF2FF"/>
          </a:solidFill>
          <a:ln w="12700">
            <a:solidFill>
              <a:srgbClr val="4F46E5"/>
            </a:solidFill>
            <a:prstDash val="solid"/>
          </a:ln>
        </p:spPr>
      </p:sp>
      <p:sp>
        <p:nvSpPr>
          <p:cNvPr id="3" name="Text 1"/>
          <p:cNvSpPr/>
          <p:nvPr/>
        </p:nvSpPr>
        <p:spPr>
          <a:xfrm>
            <a:off x="640080" y="338328"/>
            <a:ext cx="4754880" cy="310896"/>
          </a:xfrm>
          <a:prstGeom prst="rect">
            <a:avLst/>
          </a:prstGeom>
          <a:noFill/>
          <a:ln/>
        </p:spPr>
        <p:txBody>
          <a:bodyPr wrap="square" rtlCol="0" anchor="ctr"/>
          <a:lstStyle/>
          <a:p>
            <a:pPr indent="0" marL="0">
              <a:buNone/>
            </a:pPr>
            <a:r>
              <a:rPr lang="en-US" sz="1000" b="1" dirty="0">
                <a:solidFill>
                  <a:srgbClr val="312E81"/>
                </a:solidFill>
                <a:latin typeface="Calibri" pitchFamily="34" charset="0"/>
                <a:ea typeface="Calibri" pitchFamily="34" charset="-122"/>
                <a:cs typeface="Calibri" pitchFamily="34" charset="-120"/>
              </a:rPr>
              <a:t>3. CORE MODULES (1 &amp; 2): ADAPTIVE ONBOARDING &amp; LEARNER HOME</a:t>
            </a:r>
            <a:endParaRPr lang="en-US" sz="1000" dirty="0"/>
          </a:p>
        </p:txBody>
      </p:sp>
      <p:sp>
        <p:nvSpPr>
          <p:cNvPr id="4" name="Shape 2"/>
          <p:cNvSpPr/>
          <p:nvPr/>
        </p:nvSpPr>
        <p:spPr>
          <a:xfrm>
            <a:off x="8869680" y="320040"/>
            <a:ext cx="2770632" cy="347472"/>
          </a:xfrm>
          <a:prstGeom prst="roundRect">
            <a:avLst>
              <a:gd name="adj" fmla="val 21053"/>
            </a:avLst>
          </a:prstGeom>
          <a:solidFill>
            <a:srgbClr val="FFFFFF"/>
          </a:solidFill>
          <a:ln w="12700">
            <a:solidFill>
              <a:srgbClr val="CBD5E1"/>
            </a:solidFill>
            <a:prstDash val="solid"/>
          </a:ln>
        </p:spPr>
      </p:sp>
      <p:sp>
        <p:nvSpPr>
          <p:cNvPr id="5" name="Text 3"/>
          <p:cNvSpPr/>
          <p:nvPr/>
        </p:nvSpPr>
        <p:spPr>
          <a:xfrm>
            <a:off x="8961120" y="338328"/>
            <a:ext cx="2587752" cy="310896"/>
          </a:xfrm>
          <a:prstGeom prst="rect">
            <a:avLst/>
          </a:prstGeom>
          <a:noFill/>
          <a:ln/>
        </p:spPr>
        <p:txBody>
          <a:bodyPr wrap="square" rtlCol="0" anchor="ctr"/>
          <a:lstStyle/>
          <a:p>
            <a:pPr algn="r" indent="0" marL="0">
              <a:buNone/>
            </a:pPr>
            <a:r>
              <a:rPr lang="en-US" sz="1000" b="1" dirty="0">
                <a:solidFill>
                  <a:srgbClr val="475569"/>
                </a:solidFill>
                <a:latin typeface="Consolas" pitchFamily="34" charset="0"/>
                <a:ea typeface="Consolas" pitchFamily="34" charset="-122"/>
                <a:cs typeface="Consolas" pitchFamily="34" charset="-120"/>
              </a:rPr>
              <a:t>Slide 3/7  |  Time: 0:42 – 1:05</a:t>
            </a:r>
            <a:endParaRPr lang="en-US" sz="1000" dirty="0"/>
          </a:p>
        </p:txBody>
      </p:sp>
      <p:sp>
        <p:nvSpPr>
          <p:cNvPr id="6" name="Text 4"/>
          <p:cNvSpPr/>
          <p:nvPr/>
        </p:nvSpPr>
        <p:spPr>
          <a:xfrm>
            <a:off x="548640" y="804672"/>
            <a:ext cx="11091672" cy="749808"/>
          </a:xfrm>
          <a:prstGeom prst="rect">
            <a:avLst/>
          </a:prstGeom>
          <a:noFill/>
          <a:ln/>
        </p:spPr>
        <p:txBody>
          <a:bodyPr wrap="square" rtlCol="0" anchor="t"/>
          <a:lstStyle/>
          <a:p>
            <a:pPr indent="0" marL="0">
              <a:buNone/>
            </a:pPr>
            <a:r>
              <a:rPr lang="en-US" sz="2200" b="1" dirty="0">
                <a:solidFill>
                  <a:srgbClr val="0F172A"/>
                </a:solidFill>
                <a:latin typeface="Calibri" pitchFamily="34" charset="0"/>
                <a:ea typeface="Calibri" pitchFamily="34" charset="-122"/>
                <a:cs typeface="Calibri" pitchFamily="34" charset="-120"/>
              </a:rPr>
              <a:t>Module 1 &amp; 2: Low-Workload Support Discovery &amp; Khan Academy-Inspired Mastery Home</a:t>
            </a:r>
            <a:endParaRPr lang="en-US" sz="2200" dirty="0"/>
          </a:p>
        </p:txBody>
      </p:sp>
      <p:sp>
        <p:nvSpPr>
          <p:cNvPr id="7" name="Text 5"/>
          <p:cNvSpPr/>
          <p:nvPr/>
        </p:nvSpPr>
        <p:spPr>
          <a:xfrm>
            <a:off x="548640" y="1572768"/>
            <a:ext cx="11091672" cy="438912"/>
          </a:xfrm>
          <a:prstGeom prst="rect">
            <a:avLst/>
          </a:prstGeom>
          <a:noFill/>
          <a:ln/>
        </p:spPr>
        <p:txBody>
          <a:bodyPr wrap="square" rtlCol="0" anchor="t"/>
          <a:lstStyle/>
          <a:p>
            <a:pPr indent="0" marL="0">
              <a:buNone/>
            </a:pPr>
            <a:r>
              <a:rPr lang="en-US" sz="1300" dirty="0">
                <a:solidFill>
                  <a:srgbClr val="475569"/>
                </a:solidFill>
                <a:latin typeface="Calibri" pitchFamily="34" charset="0"/>
                <a:ea typeface="Calibri" pitchFamily="34" charset="-122"/>
                <a:cs typeface="Calibri" pitchFamily="34" charset="-120"/>
              </a:rPr>
              <a:t>Eliminating decision fatigue through plain-language preference matching and a two-column asymmetric workspace.</a:t>
            </a:r>
            <a:endParaRPr lang="en-US" sz="1300" dirty="0"/>
          </a:p>
        </p:txBody>
      </p:sp>
      <p:sp>
        <p:nvSpPr>
          <p:cNvPr id="8" name="Shape 6"/>
          <p:cNvSpPr/>
          <p:nvPr/>
        </p:nvSpPr>
        <p:spPr>
          <a:xfrm>
            <a:off x="548640" y="2103120"/>
            <a:ext cx="5394960" cy="3977640"/>
          </a:xfrm>
          <a:prstGeom prst="roundRect">
            <a:avLst>
              <a:gd name="adj" fmla="val 2759"/>
            </a:avLst>
          </a:prstGeom>
          <a:solidFill>
            <a:srgbClr val="FFFFFF"/>
          </a:solidFill>
          <a:ln w="15240">
            <a:solidFill>
              <a:srgbClr val="CBD5E1"/>
            </a:solidFill>
            <a:prstDash val="solid"/>
          </a:ln>
        </p:spPr>
      </p:sp>
      <p:sp>
        <p:nvSpPr>
          <p:cNvPr id="9" name="Shape 7"/>
          <p:cNvSpPr/>
          <p:nvPr/>
        </p:nvSpPr>
        <p:spPr>
          <a:xfrm>
            <a:off x="777240" y="2304288"/>
            <a:ext cx="4937760" cy="292608"/>
          </a:xfrm>
          <a:prstGeom prst="roundRect">
            <a:avLst>
              <a:gd name="adj" fmla="val 18750"/>
            </a:avLst>
          </a:prstGeom>
          <a:solidFill>
            <a:srgbClr val="EEF2FF"/>
          </a:solidFill>
          <a:ln w="9525">
            <a:solidFill>
              <a:srgbClr val="4F46E5"/>
            </a:solidFill>
            <a:prstDash val="solid"/>
          </a:ln>
        </p:spPr>
      </p:sp>
      <p:sp>
        <p:nvSpPr>
          <p:cNvPr id="10" name="Text 8"/>
          <p:cNvSpPr/>
          <p:nvPr/>
        </p:nvSpPr>
        <p:spPr>
          <a:xfrm>
            <a:off x="868680" y="2313432"/>
            <a:ext cx="4754880" cy="274320"/>
          </a:xfrm>
          <a:prstGeom prst="rect">
            <a:avLst/>
          </a:prstGeom>
          <a:noFill/>
          <a:ln/>
        </p:spPr>
        <p:txBody>
          <a:bodyPr wrap="square" rtlCol="0" anchor="ctr"/>
          <a:lstStyle/>
          <a:p>
            <a:pPr indent="0" marL="0">
              <a:buNone/>
            </a:pPr>
            <a:r>
              <a:rPr lang="en-US" sz="950" b="1" dirty="0">
                <a:solidFill>
                  <a:srgbClr val="312E81"/>
                </a:solidFill>
                <a:latin typeface="Calibri" pitchFamily="34" charset="0"/>
                <a:ea typeface="Calibri" pitchFamily="34" charset="-122"/>
                <a:cs typeface="Calibri" pitchFamily="34" charset="-120"/>
              </a:rPr>
              <a:t>MODULE 1 · SUPPORT DISCOVERY ENGINE &amp; MY TOOLS</a:t>
            </a:r>
            <a:endParaRPr lang="en-US" sz="950" dirty="0"/>
          </a:p>
        </p:txBody>
      </p:sp>
      <p:sp>
        <p:nvSpPr>
          <p:cNvPr id="11" name="Text 9"/>
          <p:cNvSpPr/>
          <p:nvPr/>
        </p:nvSpPr>
        <p:spPr>
          <a:xfrm>
            <a:off x="777240" y="2670048"/>
            <a:ext cx="4937760" cy="384048"/>
          </a:xfrm>
          <a:prstGeom prst="rect">
            <a:avLst/>
          </a:prstGeom>
          <a:noFill/>
          <a:ln/>
        </p:spPr>
        <p:txBody>
          <a:bodyPr wrap="square"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3-Question Plain-Language Onboarding Quiz</a:t>
            </a:r>
            <a:endParaRPr lang="en-US" sz="1500" dirty="0"/>
          </a:p>
        </p:txBody>
      </p:sp>
      <p:sp>
        <p:nvSpPr>
          <p:cNvPr id="12" name="Shape 10"/>
          <p:cNvSpPr/>
          <p:nvPr/>
        </p:nvSpPr>
        <p:spPr>
          <a:xfrm>
            <a:off x="777240" y="3108960"/>
            <a:ext cx="4937760" cy="658368"/>
          </a:xfrm>
          <a:prstGeom prst="roundRect">
            <a:avLst>
              <a:gd name="adj" fmla="val 8333"/>
            </a:avLst>
          </a:prstGeom>
          <a:solidFill>
            <a:srgbClr val="F8FAFC"/>
          </a:solidFill>
          <a:ln w="9525">
            <a:solidFill>
              <a:srgbClr val="CBD5E1"/>
            </a:solidFill>
            <a:prstDash val="solid"/>
          </a:ln>
        </p:spPr>
      </p:sp>
      <p:sp>
        <p:nvSpPr>
          <p:cNvPr id="13" name="Text 11"/>
          <p:cNvSpPr/>
          <p:nvPr/>
        </p:nvSpPr>
        <p:spPr>
          <a:xfrm>
            <a:off x="868680" y="3145536"/>
            <a:ext cx="4754880" cy="585216"/>
          </a:xfrm>
          <a:prstGeom prst="rect">
            <a:avLst/>
          </a:prstGeom>
          <a:noFill/>
          <a:ln/>
        </p:spPr>
        <p:txBody>
          <a:bodyPr wrap="square" rtlCol="0" anchor="ctr"/>
          <a:lstStyle/>
          <a:p>
            <a:pPr indent="0" marL="0">
              <a:buNone/>
            </a:pPr>
            <a:r>
              <a:rPr lang="en-US" sz="1050" b="1" dirty="0">
                <a:solidFill>
                  <a:srgbClr val="312E81"/>
                </a:solidFill>
                <a:latin typeface="Calibri" pitchFamily="34" charset="0"/>
                <a:ea typeface="Calibri" pitchFamily="34" charset="-122"/>
                <a:cs typeface="Calibri" pitchFamily="34" charset="-120"/>
              </a:rPr>
              <a:t>Purpose: Matches students to sensory, reading, focus, and audio supports without medical jargon or diagnostic labels.</a:t>
            </a:r>
            <a:endParaRPr lang="en-US" sz="1050" dirty="0"/>
          </a:p>
        </p:txBody>
      </p:sp>
      <p:sp>
        <p:nvSpPr>
          <p:cNvPr id="14" name="Text 12"/>
          <p:cNvSpPr/>
          <p:nvPr/>
        </p:nvSpPr>
        <p:spPr>
          <a:xfrm>
            <a:off x="777240" y="3886200"/>
            <a:ext cx="4937760" cy="2057400"/>
          </a:xfrm>
          <a:prstGeom prst="rect">
            <a:avLst/>
          </a:prstGeom>
          <a:noFill/>
          <a:ln/>
        </p:spPr>
        <p:txBody>
          <a:bodyPr wrap="square" rtlCol="0" anchor="t"/>
          <a:lstStyle/>
          <a:p>
            <a:pPr indent="0" marL="0">
              <a:buNone/>
            </a:pPr>
            <a:r>
              <a:rPr lang="en-US" sz="1100" dirty="0">
                <a:solidFill>
                  <a:srgbClr val="0F172A"/>
                </a:solidFill>
                <a:latin typeface="Calibri" pitchFamily="34" charset="0"/>
                <a:ea typeface="Calibri" pitchFamily="34" charset="-122"/>
                <a:cs typeface="Calibri" pitchFamily="34" charset="-120"/>
              </a:rPr>
              <a:t>✓  Translates statements like “I have trouble focusing” into Micro-Chunked Cards + Focus Shield + Game-Based Milestones.</a:t>
            </a:r>
            <a:endParaRPr lang="en-US" sz="1100" dirty="0"/>
          </a:p>
          <a:p>
            <a:pPr indent="0" marL="0">
              <a:buNone/>
            </a:pPr>
            <a:endParaRPr lang="en-US" sz="1100" dirty="0"/>
          </a:p>
          <a:p>
            <a:pPr indent="0" marL="0">
              <a:buNone/>
            </a:pPr>
            <a:r>
              <a:rPr lang="en-US" sz="1100" dirty="0">
                <a:solidFill>
                  <a:srgbClr val="0F172A"/>
                </a:solidFill>
                <a:latin typeface="Calibri" pitchFamily="34" charset="0"/>
                <a:ea typeface="Calibri" pitchFamily="34" charset="-122"/>
                <a:cs typeface="Calibri" pitchFamily="34" charset="-120"/>
              </a:rPr>
              <a:t>✓  4 Learner-Owned Visual Themes: Daylight, Calmer Screen (Autism/Sensory), Warm Reading Paper (Dyslexia), and High-Contrast CVI.</a:t>
            </a:r>
            <a:endParaRPr lang="en-US" sz="1100" dirty="0"/>
          </a:p>
          <a:p>
            <a:pPr indent="0" marL="0">
              <a:buNone/>
            </a:pPr>
            <a:endParaRPr lang="en-US" sz="1100" dirty="0"/>
          </a:p>
          <a:p>
            <a:pPr indent="0" marL="0">
              <a:buNone/>
            </a:pPr>
            <a:r>
              <a:rPr lang="en-US" sz="1100" dirty="0">
                <a:solidFill>
                  <a:srgbClr val="0F172A"/>
                </a:solidFill>
                <a:latin typeface="Calibri" pitchFamily="34" charset="0"/>
                <a:ea typeface="Calibri" pitchFamily="34" charset="-122"/>
                <a:cs typeface="Calibri" pitchFamily="34" charset="-120"/>
              </a:rPr>
              <a:t>✓  Single persistent “My tools” disclosure keeps the top bar under 5 controls (W3C COGA).</a:t>
            </a:r>
            <a:endParaRPr lang="en-US" sz="1100" dirty="0"/>
          </a:p>
        </p:txBody>
      </p:sp>
      <p:sp>
        <p:nvSpPr>
          <p:cNvPr id="15" name="Shape 13"/>
          <p:cNvSpPr/>
          <p:nvPr/>
        </p:nvSpPr>
        <p:spPr>
          <a:xfrm>
            <a:off x="6245352" y="2103120"/>
            <a:ext cx="5394960" cy="3977640"/>
          </a:xfrm>
          <a:prstGeom prst="roundRect">
            <a:avLst>
              <a:gd name="adj" fmla="val 2759"/>
            </a:avLst>
          </a:prstGeom>
          <a:solidFill>
            <a:srgbClr val="FFFFFF"/>
          </a:solidFill>
          <a:ln w="15240">
            <a:solidFill>
              <a:srgbClr val="CBD5E1"/>
            </a:solidFill>
            <a:prstDash val="solid"/>
          </a:ln>
        </p:spPr>
      </p:sp>
      <p:sp>
        <p:nvSpPr>
          <p:cNvPr id="16" name="Shape 14"/>
          <p:cNvSpPr/>
          <p:nvPr/>
        </p:nvSpPr>
        <p:spPr>
          <a:xfrm>
            <a:off x="6473952" y="2304288"/>
            <a:ext cx="4937760" cy="292608"/>
          </a:xfrm>
          <a:prstGeom prst="roundRect">
            <a:avLst>
              <a:gd name="adj" fmla="val 18750"/>
            </a:avLst>
          </a:prstGeom>
          <a:solidFill>
            <a:srgbClr val="EEF2FF"/>
          </a:solidFill>
          <a:ln w="9525">
            <a:solidFill>
              <a:srgbClr val="4F46E5"/>
            </a:solidFill>
            <a:prstDash val="solid"/>
          </a:ln>
        </p:spPr>
      </p:sp>
      <p:sp>
        <p:nvSpPr>
          <p:cNvPr id="17" name="Text 15"/>
          <p:cNvSpPr/>
          <p:nvPr/>
        </p:nvSpPr>
        <p:spPr>
          <a:xfrm>
            <a:off x="6565392" y="2313432"/>
            <a:ext cx="4754880" cy="274320"/>
          </a:xfrm>
          <a:prstGeom prst="rect">
            <a:avLst/>
          </a:prstGeom>
          <a:noFill/>
          <a:ln/>
        </p:spPr>
        <p:txBody>
          <a:bodyPr wrap="square" rtlCol="0" anchor="ctr"/>
          <a:lstStyle/>
          <a:p>
            <a:pPr indent="0" marL="0">
              <a:buNone/>
            </a:pPr>
            <a:r>
              <a:rPr lang="en-US" sz="950" b="1" dirty="0">
                <a:solidFill>
                  <a:srgbClr val="312E81"/>
                </a:solidFill>
                <a:latin typeface="Calibri" pitchFamily="34" charset="0"/>
                <a:ea typeface="Calibri" pitchFamily="34" charset="-122"/>
                <a:cs typeface="Calibri" pitchFamily="34" charset="-120"/>
              </a:rPr>
              <a:t>MODULE 2 · LEARNER HOME &amp; 4-TIER CROWN MASTERY</a:t>
            </a:r>
            <a:endParaRPr lang="en-US" sz="950" dirty="0"/>
          </a:p>
        </p:txBody>
      </p:sp>
      <p:sp>
        <p:nvSpPr>
          <p:cNvPr id="18" name="Text 16"/>
          <p:cNvSpPr/>
          <p:nvPr/>
        </p:nvSpPr>
        <p:spPr>
          <a:xfrm>
            <a:off x="6473952" y="2670048"/>
            <a:ext cx="4937760" cy="384048"/>
          </a:xfrm>
          <a:prstGeom prst="rect">
            <a:avLst/>
          </a:prstGeom>
          <a:noFill/>
          <a:ln/>
        </p:spPr>
        <p:txBody>
          <a:bodyPr wrap="square"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Asymmetric Workspace &amp; Visual Skill Blocks</a:t>
            </a:r>
            <a:endParaRPr lang="en-US" sz="1500" dirty="0"/>
          </a:p>
        </p:txBody>
      </p:sp>
      <p:sp>
        <p:nvSpPr>
          <p:cNvPr id="19" name="Shape 17"/>
          <p:cNvSpPr/>
          <p:nvPr/>
        </p:nvSpPr>
        <p:spPr>
          <a:xfrm>
            <a:off x="6473952" y="3108960"/>
            <a:ext cx="4937760" cy="658368"/>
          </a:xfrm>
          <a:prstGeom prst="roundRect">
            <a:avLst>
              <a:gd name="adj" fmla="val 8333"/>
            </a:avLst>
          </a:prstGeom>
          <a:solidFill>
            <a:srgbClr val="F8FAFC"/>
          </a:solidFill>
          <a:ln w="9525">
            <a:solidFill>
              <a:srgbClr val="CBD5E1"/>
            </a:solidFill>
            <a:prstDash val="solid"/>
          </a:ln>
        </p:spPr>
      </p:sp>
      <p:sp>
        <p:nvSpPr>
          <p:cNvPr id="20" name="Text 18"/>
          <p:cNvSpPr/>
          <p:nvPr/>
        </p:nvSpPr>
        <p:spPr>
          <a:xfrm>
            <a:off x="6565392" y="3145536"/>
            <a:ext cx="4754880" cy="585216"/>
          </a:xfrm>
          <a:prstGeom prst="rect">
            <a:avLst/>
          </a:prstGeom>
          <a:noFill/>
          <a:ln/>
        </p:spPr>
        <p:txBody>
          <a:bodyPr wrap="square" rtlCol="0" anchor="ctr"/>
          <a:lstStyle/>
          <a:p>
            <a:pPr indent="0" marL="0">
              <a:buNone/>
            </a:pPr>
            <a:r>
              <a:rPr lang="en-US" sz="1050" b="1" dirty="0">
                <a:solidFill>
                  <a:srgbClr val="312E81"/>
                </a:solidFill>
                <a:latin typeface="Calibri" pitchFamily="34" charset="0"/>
                <a:ea typeface="Calibri" pitchFamily="34" charset="-122"/>
                <a:cs typeface="Calibri" pitchFamily="34" charset="-120"/>
              </a:rPr>
              <a:t>Purpose: Separates navigation (left rail) from active learning (right workspace) and deduplicates overlapping assignments.</a:t>
            </a:r>
            <a:endParaRPr lang="en-US" sz="1050" dirty="0"/>
          </a:p>
        </p:txBody>
      </p:sp>
      <p:sp>
        <p:nvSpPr>
          <p:cNvPr id="21" name="Text 19"/>
          <p:cNvSpPr/>
          <p:nvPr/>
        </p:nvSpPr>
        <p:spPr>
          <a:xfrm>
            <a:off x="6473952" y="3886200"/>
            <a:ext cx="4937760" cy="2057400"/>
          </a:xfrm>
          <a:prstGeom prst="rect">
            <a:avLst/>
          </a:prstGeom>
          <a:noFill/>
          <a:ln/>
        </p:spPr>
        <p:txBody>
          <a:bodyPr wrap="square" rtlCol="0" anchor="t"/>
          <a:lstStyle/>
          <a:p>
            <a:pPr indent="0" marL="0">
              <a:buNone/>
            </a:pPr>
            <a:r>
              <a:rPr lang="en-US" sz="1100" dirty="0">
                <a:solidFill>
                  <a:srgbClr val="0F172A"/>
                </a:solidFill>
                <a:latin typeface="Calibri" pitchFamily="34" charset="0"/>
                <a:ea typeface="Calibri" pitchFamily="34" charset="-122"/>
                <a:cs typeface="Calibri" pitchFamily="34" charset="-120"/>
              </a:rPr>
              <a:t>✓  Merged “Up Next” Primary Card prevents students from choosing between duplicate assignment and continue cards.</a:t>
            </a:r>
            <a:endParaRPr lang="en-US" sz="1100" dirty="0"/>
          </a:p>
          <a:p>
            <a:pPr indent="0" marL="0">
              <a:buNone/>
            </a:pPr>
            <a:endParaRPr lang="en-US" sz="1100" dirty="0"/>
          </a:p>
          <a:p>
            <a:pPr indent="0" marL="0">
              <a:buNone/>
            </a:pPr>
            <a:r>
              <a:rPr lang="en-US" sz="1100" dirty="0">
                <a:solidFill>
                  <a:srgbClr val="0F172A"/>
                </a:solidFill>
                <a:latin typeface="Calibri" pitchFamily="34" charset="0"/>
                <a:ea typeface="Calibri" pitchFamily="34" charset="-122"/>
                <a:cs typeface="Calibri" pitchFamily="34" charset="-120"/>
              </a:rPr>
              <a:t>✓  4-Tier Visual Skill Mastery Blocks: Not Started (0 pts ·), Familiar (50 pts ◐), Proficient (80 pts ✓), and Mastered (100 pts 👑).</a:t>
            </a:r>
            <a:endParaRPr lang="en-US" sz="1100" dirty="0"/>
          </a:p>
          <a:p>
            <a:pPr indent="0" marL="0">
              <a:buNone/>
            </a:pPr>
            <a:endParaRPr lang="en-US" sz="1100" dirty="0"/>
          </a:p>
          <a:p>
            <a:pPr indent="0" marL="0">
              <a:buNone/>
            </a:pPr>
            <a:r>
              <a:rPr lang="en-US" sz="1100" dirty="0">
                <a:solidFill>
                  <a:srgbClr val="0F172A"/>
                </a:solidFill>
                <a:latin typeface="Calibri" pitchFamily="34" charset="0"/>
                <a:ea typeface="Calibri" pitchFamily="34" charset="-122"/>
                <a:cs typeface="Calibri" pitchFamily="34" charset="-120"/>
              </a:rPr>
              <a:t>✓  Pairs every color state with explicit geometric symbols for WCAG 1.4.1 colorblind &amp; CVI compliance.</a:t>
            </a:r>
            <a:endParaRPr lang="en-US" sz="1100" dirty="0"/>
          </a:p>
        </p:txBody>
      </p:sp>
      <p:sp>
        <p:nvSpPr>
          <p:cNvPr id="22" name="Text 20"/>
          <p:cNvSpPr/>
          <p:nvPr/>
        </p:nvSpPr>
        <p:spPr>
          <a:xfrm>
            <a:off x="548640" y="6327648"/>
            <a:ext cx="11091672" cy="320040"/>
          </a:xfrm>
          <a:prstGeom prst="rect">
            <a:avLst/>
          </a:prstGeom>
          <a:noFill/>
          <a:ln/>
        </p:spPr>
        <p:txBody>
          <a:bodyPr wrap="square" rtlCol="0" anchor="ctr"/>
          <a:lstStyle/>
          <a:p>
            <a:pPr indent="0" marL="0">
              <a:buNone/>
            </a:pPr>
            <a:r>
              <a:rPr lang="en-US" sz="950" b="1" dirty="0">
                <a:solidFill>
                  <a:srgbClr val="475569"/>
                </a:solidFill>
                <a:latin typeface="Calibri" pitchFamily="34" charset="0"/>
                <a:ea typeface="Calibri" pitchFamily="34" charset="-122"/>
                <a:cs typeface="Calibri" pitchFamily="34" charset="-120"/>
              </a:rPr>
              <a:t>LuminaLearn  ·  Jose Unanue (12th Grade, Miami Coral Park Senior High School)  ·  Congressional District FL-27</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4937760" cy="347472"/>
          </a:xfrm>
          <a:prstGeom prst="roundRect">
            <a:avLst>
              <a:gd name="adj" fmla="val 21053"/>
            </a:avLst>
          </a:prstGeom>
          <a:solidFill>
            <a:srgbClr val="EEF2FF"/>
          </a:solidFill>
          <a:ln w="12700">
            <a:solidFill>
              <a:srgbClr val="4F46E5"/>
            </a:solidFill>
            <a:prstDash val="solid"/>
          </a:ln>
        </p:spPr>
      </p:sp>
      <p:sp>
        <p:nvSpPr>
          <p:cNvPr id="3" name="Text 1"/>
          <p:cNvSpPr/>
          <p:nvPr/>
        </p:nvSpPr>
        <p:spPr>
          <a:xfrm>
            <a:off x="640080" y="338328"/>
            <a:ext cx="4754880" cy="310896"/>
          </a:xfrm>
          <a:prstGeom prst="rect">
            <a:avLst/>
          </a:prstGeom>
          <a:noFill/>
          <a:ln/>
        </p:spPr>
        <p:txBody>
          <a:bodyPr wrap="square" rtlCol="0" anchor="ctr"/>
          <a:lstStyle/>
          <a:p>
            <a:pPr indent="0" marL="0">
              <a:buNone/>
            </a:pPr>
            <a:r>
              <a:rPr lang="en-US" sz="1000" b="1" dirty="0">
                <a:solidFill>
                  <a:srgbClr val="312E81"/>
                </a:solidFill>
                <a:latin typeface="Calibri" pitchFamily="34" charset="0"/>
                <a:ea typeface="Calibri" pitchFamily="34" charset="-122"/>
                <a:cs typeface="Calibri" pitchFamily="34" charset="-120"/>
              </a:rPr>
              <a:t>3. CORE MODULES (3 &amp; 4): MULTIMODAL PLAYER &amp; LUMINARE AI</a:t>
            </a:r>
            <a:endParaRPr lang="en-US" sz="1000" dirty="0"/>
          </a:p>
        </p:txBody>
      </p:sp>
      <p:sp>
        <p:nvSpPr>
          <p:cNvPr id="4" name="Shape 2"/>
          <p:cNvSpPr/>
          <p:nvPr/>
        </p:nvSpPr>
        <p:spPr>
          <a:xfrm>
            <a:off x="8869680" y="320040"/>
            <a:ext cx="2770632" cy="347472"/>
          </a:xfrm>
          <a:prstGeom prst="roundRect">
            <a:avLst>
              <a:gd name="adj" fmla="val 21053"/>
            </a:avLst>
          </a:prstGeom>
          <a:solidFill>
            <a:srgbClr val="FFFFFF"/>
          </a:solidFill>
          <a:ln w="12700">
            <a:solidFill>
              <a:srgbClr val="CBD5E1"/>
            </a:solidFill>
            <a:prstDash val="solid"/>
          </a:ln>
        </p:spPr>
      </p:sp>
      <p:sp>
        <p:nvSpPr>
          <p:cNvPr id="5" name="Text 3"/>
          <p:cNvSpPr/>
          <p:nvPr/>
        </p:nvSpPr>
        <p:spPr>
          <a:xfrm>
            <a:off x="8961120" y="338328"/>
            <a:ext cx="2587752" cy="310896"/>
          </a:xfrm>
          <a:prstGeom prst="rect">
            <a:avLst/>
          </a:prstGeom>
          <a:noFill/>
          <a:ln/>
        </p:spPr>
        <p:txBody>
          <a:bodyPr wrap="square" rtlCol="0" anchor="ctr"/>
          <a:lstStyle/>
          <a:p>
            <a:pPr algn="r" indent="0" marL="0">
              <a:buNone/>
            </a:pPr>
            <a:r>
              <a:rPr lang="en-US" sz="1000" b="1" dirty="0">
                <a:solidFill>
                  <a:srgbClr val="475569"/>
                </a:solidFill>
                <a:latin typeface="Consolas" pitchFamily="34" charset="0"/>
                <a:ea typeface="Consolas" pitchFamily="34" charset="-122"/>
                <a:cs typeface="Consolas" pitchFamily="34" charset="-120"/>
              </a:rPr>
              <a:t>Slide 4/7  |  Time: 1:05 – 1:35</a:t>
            </a:r>
            <a:endParaRPr lang="en-US" sz="1000" dirty="0"/>
          </a:p>
        </p:txBody>
      </p:sp>
      <p:sp>
        <p:nvSpPr>
          <p:cNvPr id="6" name="Text 4"/>
          <p:cNvSpPr/>
          <p:nvPr/>
        </p:nvSpPr>
        <p:spPr>
          <a:xfrm>
            <a:off x="548640" y="804672"/>
            <a:ext cx="11091672" cy="749808"/>
          </a:xfrm>
          <a:prstGeom prst="rect">
            <a:avLst/>
          </a:prstGeom>
          <a:noFill/>
          <a:ln/>
        </p:spPr>
        <p:txBody>
          <a:bodyPr wrap="square" rtlCol="0" anchor="t"/>
          <a:lstStyle/>
          <a:p>
            <a:pPr indent="0" marL="0">
              <a:buNone/>
            </a:pPr>
            <a:r>
              <a:rPr lang="en-US" sz="2200" b="1" dirty="0">
                <a:solidFill>
                  <a:srgbClr val="0F172A"/>
                </a:solidFill>
                <a:latin typeface="Calibri" pitchFamily="34" charset="0"/>
                <a:ea typeface="Calibri" pitchFamily="34" charset="-122"/>
                <a:cs typeface="Calibri" pitchFamily="34" charset="-120"/>
              </a:rPr>
              <a:t>Module 3 &amp; 4: Interactive Visual Manipulatives &amp; “Luminare” Socratic AI Companion</a:t>
            </a:r>
            <a:endParaRPr lang="en-US" sz="2200" dirty="0"/>
          </a:p>
        </p:txBody>
      </p:sp>
      <p:sp>
        <p:nvSpPr>
          <p:cNvPr id="7" name="Text 5"/>
          <p:cNvSpPr/>
          <p:nvPr/>
        </p:nvSpPr>
        <p:spPr>
          <a:xfrm>
            <a:off x="548640" y="1572768"/>
            <a:ext cx="11091672" cy="438912"/>
          </a:xfrm>
          <a:prstGeom prst="rect">
            <a:avLst/>
          </a:prstGeom>
          <a:noFill/>
          <a:ln/>
        </p:spPr>
        <p:txBody>
          <a:bodyPr wrap="square" rtlCol="0" anchor="t"/>
          <a:lstStyle/>
          <a:p>
            <a:pPr indent="0" marL="0">
              <a:buNone/>
            </a:pPr>
            <a:r>
              <a:rPr lang="en-US" sz="1300" dirty="0">
                <a:solidFill>
                  <a:srgbClr val="475569"/>
                </a:solidFill>
                <a:latin typeface="Calibri" pitchFamily="34" charset="0"/>
                <a:ea typeface="Calibri" pitchFamily="34" charset="-122"/>
                <a:cs typeface="Calibri" pitchFamily="34" charset="-120"/>
              </a:rPr>
              <a:t>Combining Desmos-style hands-on STEM models, synchronized read-aloud captions, and zero-blank-page Socratic tutoring.</a:t>
            </a:r>
            <a:endParaRPr lang="en-US" sz="1300" dirty="0"/>
          </a:p>
        </p:txBody>
      </p:sp>
      <p:sp>
        <p:nvSpPr>
          <p:cNvPr id="8" name="Shape 6"/>
          <p:cNvSpPr/>
          <p:nvPr/>
        </p:nvSpPr>
        <p:spPr>
          <a:xfrm>
            <a:off x="548640" y="2103120"/>
            <a:ext cx="5394960" cy="3977640"/>
          </a:xfrm>
          <a:prstGeom prst="roundRect">
            <a:avLst>
              <a:gd name="adj" fmla="val 2759"/>
            </a:avLst>
          </a:prstGeom>
          <a:solidFill>
            <a:srgbClr val="FFFFFF"/>
          </a:solidFill>
          <a:ln w="15240">
            <a:solidFill>
              <a:srgbClr val="CBD5E1"/>
            </a:solidFill>
            <a:prstDash val="solid"/>
          </a:ln>
        </p:spPr>
      </p:sp>
      <p:sp>
        <p:nvSpPr>
          <p:cNvPr id="9" name="Shape 7"/>
          <p:cNvSpPr/>
          <p:nvPr/>
        </p:nvSpPr>
        <p:spPr>
          <a:xfrm>
            <a:off x="777240" y="2304288"/>
            <a:ext cx="4937760" cy="292608"/>
          </a:xfrm>
          <a:prstGeom prst="roundRect">
            <a:avLst>
              <a:gd name="adj" fmla="val 18750"/>
            </a:avLst>
          </a:prstGeom>
          <a:solidFill>
            <a:srgbClr val="EEF2FF"/>
          </a:solidFill>
          <a:ln w="9525">
            <a:solidFill>
              <a:srgbClr val="4F46E5"/>
            </a:solidFill>
            <a:prstDash val="solid"/>
          </a:ln>
        </p:spPr>
      </p:sp>
      <p:sp>
        <p:nvSpPr>
          <p:cNvPr id="10" name="Text 8"/>
          <p:cNvSpPr/>
          <p:nvPr/>
        </p:nvSpPr>
        <p:spPr>
          <a:xfrm>
            <a:off x="868680" y="2313432"/>
            <a:ext cx="4754880" cy="274320"/>
          </a:xfrm>
          <a:prstGeom prst="rect">
            <a:avLst/>
          </a:prstGeom>
          <a:noFill/>
          <a:ln/>
        </p:spPr>
        <p:txBody>
          <a:bodyPr wrap="square" rtlCol="0" anchor="ctr"/>
          <a:lstStyle/>
          <a:p>
            <a:pPr indent="0" marL="0">
              <a:buNone/>
            </a:pPr>
            <a:r>
              <a:rPr lang="en-US" sz="950" b="1" dirty="0">
                <a:solidFill>
                  <a:srgbClr val="312E81"/>
                </a:solidFill>
                <a:latin typeface="Calibri" pitchFamily="34" charset="0"/>
                <a:ea typeface="Calibri" pitchFamily="34" charset="-122"/>
                <a:cs typeface="Calibri" pitchFamily="34" charset="-120"/>
              </a:rPr>
              <a:t>MODULE 3 · MULTIMODAL LESSON PLAYER &amp; VISUAL LABS</a:t>
            </a:r>
            <a:endParaRPr lang="en-US" sz="950" dirty="0"/>
          </a:p>
        </p:txBody>
      </p:sp>
      <p:sp>
        <p:nvSpPr>
          <p:cNvPr id="11" name="Text 9"/>
          <p:cNvSpPr/>
          <p:nvPr/>
        </p:nvSpPr>
        <p:spPr>
          <a:xfrm>
            <a:off x="777240" y="2670048"/>
            <a:ext cx="4937760" cy="384048"/>
          </a:xfrm>
          <a:prstGeom prst="rect">
            <a:avLst/>
          </a:prstGeom>
          <a:noFill/>
          <a:ln/>
        </p:spPr>
        <p:txBody>
          <a:bodyPr wrap="square"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Micro-Chunked Cards + Keyboard-Operable Manipulatives</a:t>
            </a:r>
            <a:endParaRPr lang="en-US" sz="1500" dirty="0"/>
          </a:p>
        </p:txBody>
      </p:sp>
      <p:sp>
        <p:nvSpPr>
          <p:cNvPr id="12" name="Shape 10"/>
          <p:cNvSpPr/>
          <p:nvPr/>
        </p:nvSpPr>
        <p:spPr>
          <a:xfrm>
            <a:off x="777240" y="3108960"/>
            <a:ext cx="4937760" cy="658368"/>
          </a:xfrm>
          <a:prstGeom prst="roundRect">
            <a:avLst>
              <a:gd name="adj" fmla="val 8333"/>
            </a:avLst>
          </a:prstGeom>
          <a:solidFill>
            <a:srgbClr val="F8FAFC"/>
          </a:solidFill>
          <a:ln w="9525">
            <a:solidFill>
              <a:srgbClr val="CBD5E1"/>
            </a:solidFill>
            <a:prstDash val="solid"/>
          </a:ln>
        </p:spPr>
      </p:sp>
      <p:sp>
        <p:nvSpPr>
          <p:cNvPr id="13" name="Text 11"/>
          <p:cNvSpPr/>
          <p:nvPr/>
        </p:nvSpPr>
        <p:spPr>
          <a:xfrm>
            <a:off x="868680" y="3145536"/>
            <a:ext cx="4754880" cy="585216"/>
          </a:xfrm>
          <a:prstGeom prst="rect">
            <a:avLst/>
          </a:prstGeom>
          <a:noFill/>
          <a:ln/>
        </p:spPr>
        <p:txBody>
          <a:bodyPr wrap="square" rtlCol="0" anchor="ctr"/>
          <a:lstStyle/>
          <a:p>
            <a:pPr indent="0" marL="0">
              <a:buNone/>
            </a:pPr>
            <a:r>
              <a:rPr lang="en-US" sz="1050" b="1" dirty="0">
                <a:solidFill>
                  <a:srgbClr val="312E81"/>
                </a:solidFill>
                <a:latin typeface="Calibri" pitchFamily="34" charset="0"/>
                <a:ea typeface="Calibri" pitchFamily="34" charset="-122"/>
                <a:cs typeface="Calibri" pitchFamily="34" charset="-120"/>
              </a:rPr>
              <a:t>Purpose: Connects abstract math and science symbols to concrete visual quantities with zero drag-only barriers (WCAG 2.2).</a:t>
            </a:r>
            <a:endParaRPr lang="en-US" sz="1050" dirty="0"/>
          </a:p>
        </p:txBody>
      </p:sp>
      <p:sp>
        <p:nvSpPr>
          <p:cNvPr id="14" name="Text 12"/>
          <p:cNvSpPr/>
          <p:nvPr/>
        </p:nvSpPr>
        <p:spPr>
          <a:xfrm>
            <a:off x="777240" y="3886200"/>
            <a:ext cx="4937760" cy="2057400"/>
          </a:xfrm>
          <a:prstGeom prst="rect">
            <a:avLst/>
          </a:prstGeom>
          <a:noFill/>
          <a:ln/>
        </p:spPr>
        <p:txBody>
          <a:bodyPr wrap="square" rtlCol="0" anchor="t"/>
          <a:lstStyle/>
          <a:p>
            <a:pPr indent="0" marL="0">
              <a:buNone/>
            </a:pPr>
            <a:r>
              <a:rPr lang="en-US" sz="1100" dirty="0">
                <a:solidFill>
                  <a:srgbClr val="0F172A"/>
                </a:solidFill>
                <a:latin typeface="Calibri" pitchFamily="34" charset="0"/>
                <a:ea typeface="Calibri" pitchFamily="34" charset="-122"/>
                <a:cs typeface="Calibri" pitchFamily="34" charset="-120"/>
              </a:rPr>
              <a:t>✓  6 Interactive STEM Labs: Fraction Bars, Hanger Balances, Kinematics Motion Graphs, Ecosystem Trophic Sims, &amp; Cellular ATP.</a:t>
            </a:r>
            <a:endParaRPr lang="en-US" sz="1100" dirty="0"/>
          </a:p>
          <a:p>
            <a:pPr indent="0" marL="0">
              <a:buNone/>
            </a:pPr>
            <a:endParaRPr lang="en-US" sz="1100" dirty="0"/>
          </a:p>
          <a:p>
            <a:pPr indent="0" marL="0">
              <a:buNone/>
            </a:pPr>
            <a:r>
              <a:rPr lang="en-US" sz="1100" dirty="0">
                <a:solidFill>
                  <a:srgbClr val="0F172A"/>
                </a:solidFill>
                <a:latin typeface="Calibri" pitchFamily="34" charset="0"/>
                <a:ea typeface="Calibri" pitchFamily="34" charset="-122"/>
                <a:cs typeface="Calibri" pitchFamily="34" charset="-120"/>
              </a:rPr>
              <a:t>✓  Word-Synchronized Read-Aloud TTS (0.8x–1.2x) with on-demand live captions and downloadable .txt transcripts.</a:t>
            </a:r>
            <a:endParaRPr lang="en-US" sz="1100" dirty="0"/>
          </a:p>
          <a:p>
            <a:pPr indent="0" marL="0">
              <a:buNone/>
            </a:pPr>
            <a:endParaRPr lang="en-US" sz="1100" dirty="0"/>
          </a:p>
          <a:p>
            <a:pPr indent="0" marL="0">
              <a:buNone/>
            </a:pPr>
            <a:r>
              <a:rPr lang="en-US" sz="1100" dirty="0">
                <a:solidFill>
                  <a:srgbClr val="0F172A"/>
                </a:solidFill>
                <a:latin typeface="Calibri" pitchFamily="34" charset="0"/>
                <a:ea typeface="Calibri" pitchFamily="34" charset="-122"/>
                <a:cs typeface="Calibri" pitchFamily="34" charset="-120"/>
              </a:rPr>
              <a:t>✓  W3C COGA “Where am I?” context recovery banner and “Take a calm break” breathing reset.</a:t>
            </a:r>
            <a:endParaRPr lang="en-US" sz="1100" dirty="0"/>
          </a:p>
        </p:txBody>
      </p:sp>
      <p:sp>
        <p:nvSpPr>
          <p:cNvPr id="15" name="Shape 13"/>
          <p:cNvSpPr/>
          <p:nvPr/>
        </p:nvSpPr>
        <p:spPr>
          <a:xfrm>
            <a:off x="6245352" y="2103120"/>
            <a:ext cx="5394960" cy="3977640"/>
          </a:xfrm>
          <a:prstGeom prst="roundRect">
            <a:avLst>
              <a:gd name="adj" fmla="val 2759"/>
            </a:avLst>
          </a:prstGeom>
          <a:solidFill>
            <a:srgbClr val="FFFFFF"/>
          </a:solidFill>
          <a:ln w="15240">
            <a:solidFill>
              <a:srgbClr val="CBD5E1"/>
            </a:solidFill>
            <a:prstDash val="solid"/>
          </a:ln>
        </p:spPr>
      </p:sp>
      <p:sp>
        <p:nvSpPr>
          <p:cNvPr id="16" name="Shape 14"/>
          <p:cNvSpPr/>
          <p:nvPr/>
        </p:nvSpPr>
        <p:spPr>
          <a:xfrm>
            <a:off x="6473952" y="2304288"/>
            <a:ext cx="4937760" cy="292608"/>
          </a:xfrm>
          <a:prstGeom prst="roundRect">
            <a:avLst>
              <a:gd name="adj" fmla="val 18750"/>
            </a:avLst>
          </a:prstGeom>
          <a:solidFill>
            <a:srgbClr val="EEF2FF"/>
          </a:solidFill>
          <a:ln w="9525">
            <a:solidFill>
              <a:srgbClr val="4F46E5"/>
            </a:solidFill>
            <a:prstDash val="solid"/>
          </a:ln>
        </p:spPr>
      </p:sp>
      <p:sp>
        <p:nvSpPr>
          <p:cNvPr id="17" name="Text 15"/>
          <p:cNvSpPr/>
          <p:nvPr/>
        </p:nvSpPr>
        <p:spPr>
          <a:xfrm>
            <a:off x="6565392" y="2313432"/>
            <a:ext cx="4754880" cy="274320"/>
          </a:xfrm>
          <a:prstGeom prst="rect">
            <a:avLst/>
          </a:prstGeom>
          <a:noFill/>
          <a:ln/>
        </p:spPr>
        <p:txBody>
          <a:bodyPr wrap="square" rtlCol="0" anchor="ctr"/>
          <a:lstStyle/>
          <a:p>
            <a:pPr indent="0" marL="0">
              <a:buNone/>
            </a:pPr>
            <a:r>
              <a:rPr lang="en-US" sz="950" b="1" dirty="0">
                <a:solidFill>
                  <a:srgbClr val="312E81"/>
                </a:solidFill>
                <a:latin typeface="Calibri" pitchFamily="34" charset="0"/>
                <a:ea typeface="Calibri" pitchFamily="34" charset="-122"/>
                <a:cs typeface="Calibri" pitchFamily="34" charset="-120"/>
              </a:rPr>
              <a:t>MODULE 4 · ✨ LUMINARE FRIENDLY AI COMPANION TAB</a:t>
            </a:r>
            <a:endParaRPr lang="en-US" sz="950" dirty="0"/>
          </a:p>
        </p:txBody>
      </p:sp>
      <p:sp>
        <p:nvSpPr>
          <p:cNvPr id="18" name="Text 16"/>
          <p:cNvSpPr/>
          <p:nvPr/>
        </p:nvSpPr>
        <p:spPr>
          <a:xfrm>
            <a:off x="6473952" y="2670048"/>
            <a:ext cx="4937760" cy="384048"/>
          </a:xfrm>
          <a:prstGeom prst="rect">
            <a:avLst/>
          </a:prstGeom>
          <a:noFill/>
          <a:ln/>
        </p:spPr>
        <p:txBody>
          <a:bodyPr wrap="square"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Socratic Coaching, Study Planner &amp; Custom Lesson Builder</a:t>
            </a:r>
            <a:endParaRPr lang="en-US" sz="1500" dirty="0"/>
          </a:p>
        </p:txBody>
      </p:sp>
      <p:sp>
        <p:nvSpPr>
          <p:cNvPr id="19" name="Shape 17"/>
          <p:cNvSpPr/>
          <p:nvPr/>
        </p:nvSpPr>
        <p:spPr>
          <a:xfrm>
            <a:off x="6473952" y="3108960"/>
            <a:ext cx="4937760" cy="658368"/>
          </a:xfrm>
          <a:prstGeom prst="roundRect">
            <a:avLst>
              <a:gd name="adj" fmla="val 8333"/>
            </a:avLst>
          </a:prstGeom>
          <a:solidFill>
            <a:srgbClr val="F8FAFC"/>
          </a:solidFill>
          <a:ln w="9525">
            <a:solidFill>
              <a:srgbClr val="CBD5E1"/>
            </a:solidFill>
            <a:prstDash val="solid"/>
          </a:ln>
        </p:spPr>
      </p:sp>
      <p:sp>
        <p:nvSpPr>
          <p:cNvPr id="20" name="Text 18"/>
          <p:cNvSpPr/>
          <p:nvPr/>
        </p:nvSpPr>
        <p:spPr>
          <a:xfrm>
            <a:off x="6565392" y="3145536"/>
            <a:ext cx="4754880" cy="585216"/>
          </a:xfrm>
          <a:prstGeom prst="rect">
            <a:avLst/>
          </a:prstGeom>
          <a:noFill/>
          <a:ln/>
        </p:spPr>
        <p:txBody>
          <a:bodyPr wrap="square" rtlCol="0" anchor="ctr"/>
          <a:lstStyle/>
          <a:p>
            <a:pPr indent="0" marL="0">
              <a:buNone/>
            </a:pPr>
            <a:r>
              <a:rPr lang="en-US" sz="1050" b="1" dirty="0">
                <a:solidFill>
                  <a:srgbClr val="312E81"/>
                </a:solidFill>
                <a:latin typeface="Calibri" pitchFamily="34" charset="0"/>
                <a:ea typeface="Calibri" pitchFamily="34" charset="-122"/>
                <a:cs typeface="Calibri" pitchFamily="34" charset="-120"/>
              </a:rPr>
              <a:t>Purpose: Eliminates blank-page anxiety with 4 structured modes powered by live Gemini/OpenAI keys or our Built-In UDL Engine.</a:t>
            </a:r>
            <a:endParaRPr lang="en-US" sz="1050" dirty="0"/>
          </a:p>
        </p:txBody>
      </p:sp>
      <p:sp>
        <p:nvSpPr>
          <p:cNvPr id="21" name="Text 19"/>
          <p:cNvSpPr/>
          <p:nvPr/>
        </p:nvSpPr>
        <p:spPr>
          <a:xfrm>
            <a:off x="6473952" y="3886200"/>
            <a:ext cx="4937760" cy="2057400"/>
          </a:xfrm>
          <a:prstGeom prst="rect">
            <a:avLst/>
          </a:prstGeom>
          <a:noFill/>
          <a:ln/>
        </p:spPr>
        <p:txBody>
          <a:bodyPr wrap="square" rtlCol="0" anchor="t"/>
          <a:lstStyle/>
          <a:p>
            <a:pPr indent="0" marL="0">
              <a:buNone/>
            </a:pPr>
            <a:r>
              <a:rPr lang="en-US" sz="1100" dirty="0">
                <a:solidFill>
                  <a:srgbClr val="0F172A"/>
                </a:solidFill>
                <a:latin typeface="Calibri" pitchFamily="34" charset="0"/>
                <a:ea typeface="Calibri" pitchFamily="34" charset="-122"/>
                <a:cs typeface="Calibri" pitchFamily="34" charset="-120"/>
              </a:rPr>
              <a:t>✓  Ask &amp; Learn Together: 6 one-click starter cards, 4 coaching styles (Socratic, 3 Tiny Steps, Literal, Visual Analogy), and TTS Read Aloud.</a:t>
            </a:r>
            <a:endParaRPr lang="en-US" sz="1100" dirty="0"/>
          </a:p>
          <a:p>
            <a:pPr indent="0" marL="0">
              <a:buNone/>
            </a:pPr>
            <a:endParaRPr lang="en-US" sz="1100" dirty="0"/>
          </a:p>
          <a:p>
            <a:pPr indent="0" marL="0">
              <a:buNone/>
            </a:pPr>
            <a:r>
              <a:rPr lang="en-US" sz="1100" dirty="0">
                <a:solidFill>
                  <a:srgbClr val="0F172A"/>
                </a:solidFill>
                <a:latin typeface="Calibri" pitchFamily="34" charset="0"/>
                <a:ea typeface="Calibri" pitchFamily="34" charset="-122"/>
                <a:cs typeface="Calibri" pitchFamily="34" charset="-120"/>
              </a:rPr>
              <a:t>✓  My Personalized Study Plan: Analyzes 0-pt &amp; 50-pt mastery blocks to generate 3 checkable daily micro-goals.</a:t>
            </a:r>
            <a:endParaRPr lang="en-US" sz="1100" dirty="0"/>
          </a:p>
          <a:p>
            <a:pPr indent="0" marL="0">
              <a:buNone/>
            </a:pPr>
            <a:endParaRPr lang="en-US" sz="1100" dirty="0"/>
          </a:p>
          <a:p>
            <a:pPr indent="0" marL="0">
              <a:buNone/>
            </a:pPr>
            <a:r>
              <a:rPr lang="en-US" sz="1100" dirty="0">
                <a:solidFill>
                  <a:srgbClr val="0F172A"/>
                </a:solidFill>
                <a:latin typeface="Calibri" pitchFamily="34" charset="0"/>
                <a:ea typeface="Calibri" pitchFamily="34" charset="-122"/>
                <a:cs typeface="Calibri" pitchFamily="34" charset="-120"/>
              </a:rPr>
              <a:t>✓  Interest-Aligned Lesson Builder: Turns any topic + student interest (e.g., Video Games, Cooking, Space) into a playable module.</a:t>
            </a:r>
            <a:endParaRPr lang="en-US" sz="1100" dirty="0"/>
          </a:p>
        </p:txBody>
      </p:sp>
      <p:sp>
        <p:nvSpPr>
          <p:cNvPr id="22" name="Text 20"/>
          <p:cNvSpPr/>
          <p:nvPr/>
        </p:nvSpPr>
        <p:spPr>
          <a:xfrm>
            <a:off x="548640" y="6327648"/>
            <a:ext cx="11091672" cy="320040"/>
          </a:xfrm>
          <a:prstGeom prst="rect">
            <a:avLst/>
          </a:prstGeom>
          <a:noFill/>
          <a:ln/>
        </p:spPr>
        <p:txBody>
          <a:bodyPr wrap="square" rtlCol="0" anchor="ctr"/>
          <a:lstStyle/>
          <a:p>
            <a:pPr indent="0" marL="0">
              <a:buNone/>
            </a:pPr>
            <a:r>
              <a:rPr lang="en-US" sz="950" b="1" dirty="0">
                <a:solidFill>
                  <a:srgbClr val="475569"/>
                </a:solidFill>
                <a:latin typeface="Calibri" pitchFamily="34" charset="0"/>
                <a:ea typeface="Calibri" pitchFamily="34" charset="-122"/>
                <a:cs typeface="Calibri" pitchFamily="34" charset="-120"/>
              </a:rPr>
              <a:t>LuminaLearn  ·  Jose Unanue (12th Grade, Miami Coral Park Senior High School)  ·  Congressional District FL-27</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4937760" cy="347472"/>
          </a:xfrm>
          <a:prstGeom prst="roundRect">
            <a:avLst>
              <a:gd name="adj" fmla="val 21053"/>
            </a:avLst>
          </a:prstGeom>
          <a:solidFill>
            <a:srgbClr val="EEF2FF"/>
          </a:solidFill>
          <a:ln w="12700">
            <a:solidFill>
              <a:srgbClr val="4F46E5"/>
            </a:solidFill>
            <a:prstDash val="solid"/>
          </a:ln>
        </p:spPr>
      </p:sp>
      <p:sp>
        <p:nvSpPr>
          <p:cNvPr id="3" name="Text 1"/>
          <p:cNvSpPr/>
          <p:nvPr/>
        </p:nvSpPr>
        <p:spPr>
          <a:xfrm>
            <a:off x="640080" y="338328"/>
            <a:ext cx="4754880" cy="310896"/>
          </a:xfrm>
          <a:prstGeom prst="rect">
            <a:avLst/>
          </a:prstGeom>
          <a:noFill/>
          <a:ln/>
        </p:spPr>
        <p:txBody>
          <a:bodyPr wrap="square" rtlCol="0" anchor="ctr"/>
          <a:lstStyle/>
          <a:p>
            <a:pPr indent="0" marL="0">
              <a:buNone/>
            </a:pPr>
            <a:r>
              <a:rPr lang="en-US" sz="1000" b="1" dirty="0">
                <a:solidFill>
                  <a:srgbClr val="312E81"/>
                </a:solidFill>
                <a:latin typeface="Calibri" pitchFamily="34" charset="0"/>
                <a:ea typeface="Calibri" pitchFamily="34" charset="-122"/>
                <a:cs typeface="Calibri" pitchFamily="34" charset="-120"/>
              </a:rPr>
              <a:t>3. CORE MODULES (5 &amp; 6): EDUCATOR WORKSPACE &amp; CLOUD SYNC</a:t>
            </a:r>
            <a:endParaRPr lang="en-US" sz="1000" dirty="0"/>
          </a:p>
        </p:txBody>
      </p:sp>
      <p:sp>
        <p:nvSpPr>
          <p:cNvPr id="4" name="Shape 2"/>
          <p:cNvSpPr/>
          <p:nvPr/>
        </p:nvSpPr>
        <p:spPr>
          <a:xfrm>
            <a:off x="8869680" y="320040"/>
            <a:ext cx="2770632" cy="347472"/>
          </a:xfrm>
          <a:prstGeom prst="roundRect">
            <a:avLst>
              <a:gd name="adj" fmla="val 21053"/>
            </a:avLst>
          </a:prstGeom>
          <a:solidFill>
            <a:srgbClr val="FFFFFF"/>
          </a:solidFill>
          <a:ln w="12700">
            <a:solidFill>
              <a:srgbClr val="CBD5E1"/>
            </a:solidFill>
            <a:prstDash val="solid"/>
          </a:ln>
        </p:spPr>
      </p:sp>
      <p:sp>
        <p:nvSpPr>
          <p:cNvPr id="5" name="Text 3"/>
          <p:cNvSpPr/>
          <p:nvPr/>
        </p:nvSpPr>
        <p:spPr>
          <a:xfrm>
            <a:off x="8961120" y="338328"/>
            <a:ext cx="2587752" cy="310896"/>
          </a:xfrm>
          <a:prstGeom prst="rect">
            <a:avLst/>
          </a:prstGeom>
          <a:noFill/>
          <a:ln/>
        </p:spPr>
        <p:txBody>
          <a:bodyPr wrap="square" rtlCol="0" anchor="ctr"/>
          <a:lstStyle/>
          <a:p>
            <a:pPr algn="r" indent="0" marL="0">
              <a:buNone/>
            </a:pPr>
            <a:r>
              <a:rPr lang="en-US" sz="1000" b="1" dirty="0">
                <a:solidFill>
                  <a:srgbClr val="475569"/>
                </a:solidFill>
                <a:latin typeface="Consolas" pitchFamily="34" charset="0"/>
                <a:ea typeface="Consolas" pitchFamily="34" charset="-122"/>
                <a:cs typeface="Consolas" pitchFamily="34" charset="-120"/>
              </a:rPr>
              <a:t>Slide 5/7  |  Time: 1:35 – 1:55</a:t>
            </a:r>
            <a:endParaRPr lang="en-US" sz="1000" dirty="0"/>
          </a:p>
        </p:txBody>
      </p:sp>
      <p:sp>
        <p:nvSpPr>
          <p:cNvPr id="6" name="Text 4"/>
          <p:cNvSpPr/>
          <p:nvPr/>
        </p:nvSpPr>
        <p:spPr>
          <a:xfrm>
            <a:off x="548640" y="804672"/>
            <a:ext cx="11091672" cy="749808"/>
          </a:xfrm>
          <a:prstGeom prst="rect">
            <a:avLst/>
          </a:prstGeom>
          <a:noFill/>
          <a:ln/>
        </p:spPr>
        <p:txBody>
          <a:bodyPr wrap="square" rtlCol="0" anchor="t"/>
          <a:lstStyle/>
          <a:p>
            <a:pPr indent="0" marL="0">
              <a:buNone/>
            </a:pPr>
            <a:r>
              <a:rPr lang="en-US" sz="2200" b="1" dirty="0">
                <a:solidFill>
                  <a:srgbClr val="0F172A"/>
                </a:solidFill>
                <a:latin typeface="Calibri" pitchFamily="34" charset="0"/>
                <a:ea typeface="Calibri" pitchFamily="34" charset="-122"/>
                <a:cs typeface="Calibri" pitchFamily="34" charset="-120"/>
              </a:rPr>
              <a:t>Module 5 &amp; 6: Educator LMS Portal, 7-Point Accessibility Gate &amp; Offline-First Sync</a:t>
            </a:r>
            <a:endParaRPr lang="en-US" sz="2200" dirty="0"/>
          </a:p>
        </p:txBody>
      </p:sp>
      <p:sp>
        <p:nvSpPr>
          <p:cNvPr id="7" name="Text 5"/>
          <p:cNvSpPr/>
          <p:nvPr/>
        </p:nvSpPr>
        <p:spPr>
          <a:xfrm>
            <a:off x="548640" y="1572768"/>
            <a:ext cx="11091672" cy="438912"/>
          </a:xfrm>
          <a:prstGeom prst="rect">
            <a:avLst/>
          </a:prstGeom>
          <a:noFill/>
          <a:ln/>
        </p:spPr>
        <p:txBody>
          <a:bodyPr wrap="square" rtlCol="0" anchor="t"/>
          <a:lstStyle/>
          <a:p>
            <a:pPr indent="0" marL="0">
              <a:buNone/>
            </a:pPr>
            <a:r>
              <a:rPr lang="en-US" sz="1300" dirty="0">
                <a:solidFill>
                  <a:srgbClr val="475569"/>
                </a:solidFill>
                <a:latin typeface="Calibri" pitchFamily="34" charset="0"/>
                <a:ea typeface="Calibri" pitchFamily="34" charset="-122"/>
                <a:cs typeface="Calibri" pitchFamily="34" charset="-120"/>
              </a:rPr>
              <a:t>Empowering teachers with transactional class codes, differentiated assignments, and guaranteed content accessibility.</a:t>
            </a:r>
            <a:endParaRPr lang="en-US" sz="1300" dirty="0"/>
          </a:p>
        </p:txBody>
      </p:sp>
      <p:sp>
        <p:nvSpPr>
          <p:cNvPr id="8" name="Shape 6"/>
          <p:cNvSpPr/>
          <p:nvPr/>
        </p:nvSpPr>
        <p:spPr>
          <a:xfrm>
            <a:off x="548640" y="2103120"/>
            <a:ext cx="5394960" cy="3977640"/>
          </a:xfrm>
          <a:prstGeom prst="roundRect">
            <a:avLst>
              <a:gd name="adj" fmla="val 2759"/>
            </a:avLst>
          </a:prstGeom>
          <a:solidFill>
            <a:srgbClr val="FFFFFF"/>
          </a:solidFill>
          <a:ln w="15240">
            <a:solidFill>
              <a:srgbClr val="CBD5E1"/>
            </a:solidFill>
            <a:prstDash val="solid"/>
          </a:ln>
        </p:spPr>
      </p:sp>
      <p:sp>
        <p:nvSpPr>
          <p:cNvPr id="9" name="Shape 7"/>
          <p:cNvSpPr/>
          <p:nvPr/>
        </p:nvSpPr>
        <p:spPr>
          <a:xfrm>
            <a:off x="777240" y="2304288"/>
            <a:ext cx="4937760" cy="292608"/>
          </a:xfrm>
          <a:prstGeom prst="roundRect">
            <a:avLst>
              <a:gd name="adj" fmla="val 18750"/>
            </a:avLst>
          </a:prstGeom>
          <a:solidFill>
            <a:srgbClr val="EEF2FF"/>
          </a:solidFill>
          <a:ln w="9525">
            <a:solidFill>
              <a:srgbClr val="4F46E5"/>
            </a:solidFill>
            <a:prstDash val="solid"/>
          </a:ln>
        </p:spPr>
      </p:sp>
      <p:sp>
        <p:nvSpPr>
          <p:cNvPr id="10" name="Text 8"/>
          <p:cNvSpPr/>
          <p:nvPr/>
        </p:nvSpPr>
        <p:spPr>
          <a:xfrm>
            <a:off x="868680" y="2313432"/>
            <a:ext cx="4754880" cy="274320"/>
          </a:xfrm>
          <a:prstGeom prst="rect">
            <a:avLst/>
          </a:prstGeom>
          <a:noFill/>
          <a:ln/>
        </p:spPr>
        <p:txBody>
          <a:bodyPr wrap="square" rtlCol="0" anchor="ctr"/>
          <a:lstStyle/>
          <a:p>
            <a:pPr indent="0" marL="0">
              <a:buNone/>
            </a:pPr>
            <a:r>
              <a:rPr lang="en-US" sz="950" b="1" dirty="0">
                <a:solidFill>
                  <a:srgbClr val="312E81"/>
                </a:solidFill>
                <a:latin typeface="Calibri" pitchFamily="34" charset="0"/>
                <a:ea typeface="Calibri" pitchFamily="34" charset="-122"/>
                <a:cs typeface="Calibri" pitchFamily="34" charset="-120"/>
              </a:rPr>
              <a:t>MODULE 5 · EDUCATOR WORKSPACE &amp; ACCESSIBILITY GATE</a:t>
            </a:r>
            <a:endParaRPr lang="en-US" sz="950" dirty="0"/>
          </a:p>
        </p:txBody>
      </p:sp>
      <p:sp>
        <p:nvSpPr>
          <p:cNvPr id="11" name="Text 9"/>
          <p:cNvSpPr/>
          <p:nvPr/>
        </p:nvSpPr>
        <p:spPr>
          <a:xfrm>
            <a:off x="777240" y="2670048"/>
            <a:ext cx="4937760" cy="384048"/>
          </a:xfrm>
          <a:prstGeom prst="rect">
            <a:avLst/>
          </a:prstGeom>
          <a:noFill/>
          <a:ln/>
        </p:spPr>
        <p:txBody>
          <a:bodyPr wrap="square"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Classroom Rosters, Accommodations &amp; Gated Authoring</a:t>
            </a:r>
            <a:endParaRPr lang="en-US" sz="1500" dirty="0"/>
          </a:p>
        </p:txBody>
      </p:sp>
      <p:sp>
        <p:nvSpPr>
          <p:cNvPr id="12" name="Shape 10"/>
          <p:cNvSpPr/>
          <p:nvPr/>
        </p:nvSpPr>
        <p:spPr>
          <a:xfrm>
            <a:off x="777240" y="3108960"/>
            <a:ext cx="4937760" cy="658368"/>
          </a:xfrm>
          <a:prstGeom prst="roundRect">
            <a:avLst>
              <a:gd name="adj" fmla="val 8333"/>
            </a:avLst>
          </a:prstGeom>
          <a:solidFill>
            <a:srgbClr val="F8FAFC"/>
          </a:solidFill>
          <a:ln w="9525">
            <a:solidFill>
              <a:srgbClr val="CBD5E1"/>
            </a:solidFill>
            <a:prstDash val="solid"/>
          </a:ln>
        </p:spPr>
      </p:sp>
      <p:sp>
        <p:nvSpPr>
          <p:cNvPr id="13" name="Text 11"/>
          <p:cNvSpPr/>
          <p:nvPr/>
        </p:nvSpPr>
        <p:spPr>
          <a:xfrm>
            <a:off x="868680" y="3145536"/>
            <a:ext cx="4754880" cy="585216"/>
          </a:xfrm>
          <a:prstGeom prst="rect">
            <a:avLst/>
          </a:prstGeom>
          <a:noFill/>
          <a:ln/>
        </p:spPr>
        <p:txBody>
          <a:bodyPr wrap="square" rtlCol="0" anchor="ctr"/>
          <a:lstStyle/>
          <a:p>
            <a:pPr indent="0" marL="0">
              <a:buNone/>
            </a:pPr>
            <a:r>
              <a:rPr lang="en-US" sz="1050" b="1" dirty="0">
                <a:solidFill>
                  <a:srgbClr val="312E81"/>
                </a:solidFill>
                <a:latin typeface="Calibri" pitchFamily="34" charset="0"/>
                <a:ea typeface="Calibri" pitchFamily="34" charset="-122"/>
                <a:cs typeface="Calibri" pitchFamily="34" charset="-120"/>
              </a:rPr>
              <a:t>Purpose: Gives teachers a dedicated 4-tab LMS (/teacher) strictly separated from the calm student interface.</a:t>
            </a:r>
            <a:endParaRPr lang="en-US" sz="1050" dirty="0"/>
          </a:p>
        </p:txBody>
      </p:sp>
      <p:sp>
        <p:nvSpPr>
          <p:cNvPr id="14" name="Text 12"/>
          <p:cNvSpPr/>
          <p:nvPr/>
        </p:nvSpPr>
        <p:spPr>
          <a:xfrm>
            <a:off x="777240" y="3886200"/>
            <a:ext cx="4937760" cy="2057400"/>
          </a:xfrm>
          <a:prstGeom prst="rect">
            <a:avLst/>
          </a:prstGeom>
          <a:noFill/>
          <a:ln/>
        </p:spPr>
        <p:txBody>
          <a:bodyPr wrap="square" rtlCol="0" anchor="t"/>
          <a:lstStyle/>
          <a:p>
            <a:pPr indent="0" marL="0">
              <a:buNone/>
            </a:pPr>
            <a:r>
              <a:rPr lang="en-US" sz="1100" dirty="0">
                <a:solidFill>
                  <a:srgbClr val="0F172A"/>
                </a:solidFill>
                <a:latin typeface="Calibri" pitchFamily="34" charset="0"/>
                <a:ea typeface="Calibri" pitchFamily="34" charset="-122"/>
                <a:cs typeface="Calibri" pitchFamily="34" charset="-120"/>
              </a:rPr>
              <a:t>✓  Transactional Class Join Codes (e.g., LUM-4829) with expiration, revocation, and rate-limited server audit logs.</a:t>
            </a:r>
            <a:endParaRPr lang="en-US" sz="1100" dirty="0"/>
          </a:p>
          <a:p>
            <a:pPr indent="0" marL="0">
              <a:buNone/>
            </a:pPr>
            <a:endParaRPr lang="en-US" sz="1100" dirty="0"/>
          </a:p>
          <a:p>
            <a:pPr indent="0" marL="0">
              <a:buNone/>
            </a:pPr>
            <a:r>
              <a:rPr lang="en-US" sz="1100" dirty="0">
                <a:solidFill>
                  <a:srgbClr val="0F172A"/>
                </a:solidFill>
                <a:latin typeface="Calibri" pitchFamily="34" charset="0"/>
                <a:ea typeface="Calibri" pitchFamily="34" charset="-122"/>
                <a:cs typeface="Calibri" pitchFamily="34" charset="-120"/>
              </a:rPr>
              <a:t>✓  3-Step Differentiated Assignment Publisher with IEP/504 accommodation presets (Extended Window, Reduced Set).</a:t>
            </a:r>
            <a:endParaRPr lang="en-US" sz="1100" dirty="0"/>
          </a:p>
          <a:p>
            <a:pPr indent="0" marL="0">
              <a:buNone/>
            </a:pPr>
            <a:endParaRPr lang="en-US" sz="1100" dirty="0"/>
          </a:p>
          <a:p>
            <a:pPr indent="0" marL="0">
              <a:buNone/>
            </a:pPr>
            <a:r>
              <a:rPr lang="en-US" sz="1100" dirty="0">
                <a:solidFill>
                  <a:srgbClr val="0F172A"/>
                </a:solidFill>
                <a:latin typeface="Calibri" pitchFamily="34" charset="0"/>
                <a:ea typeface="Calibri" pitchFamily="34" charset="-122"/>
                <a:cs typeface="Calibri" pitchFamily="34" charset="-120"/>
              </a:rPr>
              <a:t>✓  Enforced 7-Point Accessibility Quality Gate blocks publishing any module missing alt descriptions, transcripts, or untimed paths.</a:t>
            </a:r>
            <a:endParaRPr lang="en-US" sz="1100" dirty="0"/>
          </a:p>
        </p:txBody>
      </p:sp>
      <p:sp>
        <p:nvSpPr>
          <p:cNvPr id="15" name="Shape 13"/>
          <p:cNvSpPr/>
          <p:nvPr/>
        </p:nvSpPr>
        <p:spPr>
          <a:xfrm>
            <a:off x="6245352" y="2103120"/>
            <a:ext cx="5394960" cy="3977640"/>
          </a:xfrm>
          <a:prstGeom prst="roundRect">
            <a:avLst>
              <a:gd name="adj" fmla="val 2759"/>
            </a:avLst>
          </a:prstGeom>
          <a:solidFill>
            <a:srgbClr val="FFFFFF"/>
          </a:solidFill>
          <a:ln w="15240">
            <a:solidFill>
              <a:srgbClr val="CBD5E1"/>
            </a:solidFill>
            <a:prstDash val="solid"/>
          </a:ln>
        </p:spPr>
      </p:sp>
      <p:sp>
        <p:nvSpPr>
          <p:cNvPr id="16" name="Shape 14"/>
          <p:cNvSpPr/>
          <p:nvPr/>
        </p:nvSpPr>
        <p:spPr>
          <a:xfrm>
            <a:off x="6473952" y="2304288"/>
            <a:ext cx="4937760" cy="292608"/>
          </a:xfrm>
          <a:prstGeom prst="roundRect">
            <a:avLst>
              <a:gd name="adj" fmla="val 18750"/>
            </a:avLst>
          </a:prstGeom>
          <a:solidFill>
            <a:srgbClr val="EEF2FF"/>
          </a:solidFill>
          <a:ln w="9525">
            <a:solidFill>
              <a:srgbClr val="4F46E5"/>
            </a:solidFill>
            <a:prstDash val="solid"/>
          </a:ln>
        </p:spPr>
      </p:sp>
      <p:sp>
        <p:nvSpPr>
          <p:cNvPr id="17" name="Text 15"/>
          <p:cNvSpPr/>
          <p:nvPr/>
        </p:nvSpPr>
        <p:spPr>
          <a:xfrm>
            <a:off x="6565392" y="2313432"/>
            <a:ext cx="4754880" cy="274320"/>
          </a:xfrm>
          <a:prstGeom prst="rect">
            <a:avLst/>
          </a:prstGeom>
          <a:noFill/>
          <a:ln/>
        </p:spPr>
        <p:txBody>
          <a:bodyPr wrap="square" rtlCol="0" anchor="ctr"/>
          <a:lstStyle/>
          <a:p>
            <a:pPr indent="0" marL="0">
              <a:buNone/>
            </a:pPr>
            <a:r>
              <a:rPr lang="en-US" sz="950" b="1" dirty="0">
                <a:solidFill>
                  <a:srgbClr val="312E81"/>
                </a:solidFill>
                <a:latin typeface="Calibri" pitchFamily="34" charset="0"/>
                <a:ea typeface="Calibri" pitchFamily="34" charset="-122"/>
                <a:cs typeface="Calibri" pitchFamily="34" charset="-120"/>
              </a:rPr>
              <a:t>MODULE 6 · USER ACCOUNTS, FIREBASE CLOUD &amp; PEER COMMUNITY</a:t>
            </a:r>
            <a:endParaRPr lang="en-US" sz="950" dirty="0"/>
          </a:p>
        </p:txBody>
      </p:sp>
      <p:sp>
        <p:nvSpPr>
          <p:cNvPr id="18" name="Text 16"/>
          <p:cNvSpPr/>
          <p:nvPr/>
        </p:nvSpPr>
        <p:spPr>
          <a:xfrm>
            <a:off x="6473952" y="2670048"/>
            <a:ext cx="4937760" cy="384048"/>
          </a:xfrm>
          <a:prstGeom prst="rect">
            <a:avLst/>
          </a:prstGeom>
          <a:noFill/>
          <a:ln/>
        </p:spPr>
        <p:txBody>
          <a:bodyPr wrap="square"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Email/Password Auth, 3-Mode Firestore &amp; Moderated Discussions</a:t>
            </a:r>
            <a:endParaRPr lang="en-US" sz="1500" dirty="0"/>
          </a:p>
        </p:txBody>
      </p:sp>
      <p:sp>
        <p:nvSpPr>
          <p:cNvPr id="19" name="Shape 17"/>
          <p:cNvSpPr/>
          <p:nvPr/>
        </p:nvSpPr>
        <p:spPr>
          <a:xfrm>
            <a:off x="6473952" y="3108960"/>
            <a:ext cx="4937760" cy="658368"/>
          </a:xfrm>
          <a:prstGeom prst="roundRect">
            <a:avLst>
              <a:gd name="adj" fmla="val 8333"/>
            </a:avLst>
          </a:prstGeom>
          <a:solidFill>
            <a:srgbClr val="F8FAFC"/>
          </a:solidFill>
          <a:ln w="9525">
            <a:solidFill>
              <a:srgbClr val="CBD5E1"/>
            </a:solidFill>
            <a:prstDash val="solid"/>
          </a:ln>
        </p:spPr>
      </p:sp>
      <p:sp>
        <p:nvSpPr>
          <p:cNvPr id="20" name="Text 18"/>
          <p:cNvSpPr/>
          <p:nvPr/>
        </p:nvSpPr>
        <p:spPr>
          <a:xfrm>
            <a:off x="6565392" y="3145536"/>
            <a:ext cx="4754880" cy="585216"/>
          </a:xfrm>
          <a:prstGeom prst="rect">
            <a:avLst/>
          </a:prstGeom>
          <a:noFill/>
          <a:ln/>
        </p:spPr>
        <p:txBody>
          <a:bodyPr wrap="square" rtlCol="0" anchor="ctr"/>
          <a:lstStyle/>
          <a:p>
            <a:pPr indent="0" marL="0">
              <a:buNone/>
            </a:pPr>
            <a:r>
              <a:rPr lang="en-US" sz="1050" b="1" dirty="0">
                <a:solidFill>
                  <a:srgbClr val="312E81"/>
                </a:solidFill>
                <a:latin typeface="Calibri" pitchFamily="34" charset="0"/>
                <a:ea typeface="Calibri" pitchFamily="34" charset="-122"/>
                <a:cs typeface="Calibri" pitchFamily="34" charset="-120"/>
              </a:rPr>
              <a:t>Purpose: Persists isolated learner profiles across devices and supports safe, structured classroom collaboration.</a:t>
            </a:r>
            <a:endParaRPr lang="en-US" sz="1050" dirty="0"/>
          </a:p>
        </p:txBody>
      </p:sp>
      <p:sp>
        <p:nvSpPr>
          <p:cNvPr id="21" name="Text 19"/>
          <p:cNvSpPr/>
          <p:nvPr/>
        </p:nvSpPr>
        <p:spPr>
          <a:xfrm>
            <a:off x="6473952" y="3886200"/>
            <a:ext cx="4937760" cy="2057400"/>
          </a:xfrm>
          <a:prstGeom prst="rect">
            <a:avLst/>
          </a:prstGeom>
          <a:noFill/>
          <a:ln/>
        </p:spPr>
        <p:txBody>
          <a:bodyPr wrap="square" rtlCol="0" anchor="t"/>
          <a:lstStyle/>
          <a:p>
            <a:pPr indent="0" marL="0">
              <a:buNone/>
            </a:pPr>
            <a:r>
              <a:rPr lang="en-US" sz="1100" dirty="0">
                <a:solidFill>
                  <a:srgbClr val="0F172A"/>
                </a:solidFill>
                <a:latin typeface="Calibri" pitchFamily="34" charset="0"/>
                <a:ea typeface="Calibri" pitchFamily="34" charset="-122"/>
                <a:cs typeface="Calibri" pitchFamily="34" charset="-120"/>
              </a:rPr>
              <a:t>✓  Email &amp; Password Registration/Login + 4 one-click test accounts synced to /users/{uid} and /courseProgress.</a:t>
            </a:r>
            <a:endParaRPr lang="en-US" sz="1100" dirty="0"/>
          </a:p>
          <a:p>
            <a:pPr indent="0" marL="0">
              <a:buNone/>
            </a:pPr>
            <a:endParaRPr lang="en-US" sz="1100" dirty="0"/>
          </a:p>
          <a:p>
            <a:pPr indent="0" marL="0">
              <a:buNone/>
            </a:pPr>
            <a:r>
              <a:rPr lang="en-US" sz="1100" dirty="0">
                <a:solidFill>
                  <a:srgbClr val="0F172A"/>
                </a:solidFill>
                <a:latin typeface="Calibri" pitchFamily="34" charset="0"/>
                <a:ea typeface="Calibri" pitchFamily="34" charset="-122"/>
                <a:cs typeface="Calibri" pitchFamily="34" charset="-120"/>
              </a:rPr>
              <a:t>✓  Honest Offline-First State Machine: Queues work as “Saved locally (Needs connection)” when offline and auto-syncs upon reconnect.</a:t>
            </a:r>
            <a:endParaRPr lang="en-US" sz="1100" dirty="0"/>
          </a:p>
          <a:p>
            <a:pPr indent="0" marL="0">
              <a:buNone/>
            </a:pPr>
            <a:endParaRPr lang="en-US" sz="1100" dirty="0"/>
          </a:p>
          <a:p>
            <a:pPr indent="0" marL="0">
              <a:buNone/>
            </a:pPr>
            <a:r>
              <a:rPr lang="en-US" sz="1100" dirty="0">
                <a:solidFill>
                  <a:srgbClr val="0F172A"/>
                </a:solidFill>
                <a:latin typeface="Calibri" pitchFamily="34" charset="0"/>
                <a:ea typeface="Calibri" pitchFamily="34" charset="-122"/>
                <a:cs typeface="Calibri" pitchFamily="34" charset="-120"/>
              </a:rPr>
              <a:t>✓  Moderated Community Discussions with 1-click sentence starters and teacher approval/flagging controls.</a:t>
            </a:r>
            <a:endParaRPr lang="en-US" sz="1100" dirty="0"/>
          </a:p>
        </p:txBody>
      </p:sp>
      <p:sp>
        <p:nvSpPr>
          <p:cNvPr id="22" name="Text 20"/>
          <p:cNvSpPr/>
          <p:nvPr/>
        </p:nvSpPr>
        <p:spPr>
          <a:xfrm>
            <a:off x="548640" y="6327648"/>
            <a:ext cx="11091672" cy="320040"/>
          </a:xfrm>
          <a:prstGeom prst="rect">
            <a:avLst/>
          </a:prstGeom>
          <a:noFill/>
          <a:ln/>
        </p:spPr>
        <p:txBody>
          <a:bodyPr wrap="square" rtlCol="0" anchor="ctr"/>
          <a:lstStyle/>
          <a:p>
            <a:pPr indent="0" marL="0">
              <a:buNone/>
            </a:pPr>
            <a:r>
              <a:rPr lang="en-US" sz="950" b="1" dirty="0">
                <a:solidFill>
                  <a:srgbClr val="475569"/>
                </a:solidFill>
                <a:latin typeface="Calibri" pitchFamily="34" charset="0"/>
                <a:ea typeface="Calibri" pitchFamily="34" charset="-122"/>
                <a:cs typeface="Calibri" pitchFamily="34" charset="-120"/>
              </a:rPr>
              <a:t>LuminaLearn  ·  Jose Unanue (12th Grade, Miami Coral Park Senior High School)  ·  Congressional District FL-27</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2149"/>
        </a:solidFill>
      </p:bgPr>
    </p:bg>
    <p:spTree>
      <p:nvGrpSpPr>
        <p:cNvPr id="1" name=""/>
        <p:cNvGrpSpPr/>
        <p:nvPr/>
      </p:nvGrpSpPr>
      <p:grpSpPr>
        <a:xfrm>
          <a:off x="0" y="0"/>
          <a:ext cx="0" cy="0"/>
          <a:chOff x="0" y="0"/>
          <a:chExt cx="0" cy="0"/>
        </a:xfrm>
      </p:grpSpPr>
      <p:sp>
        <p:nvSpPr>
          <p:cNvPr id="2" name="Shape 0"/>
          <p:cNvSpPr/>
          <p:nvPr/>
        </p:nvSpPr>
        <p:spPr>
          <a:xfrm>
            <a:off x="548640" y="320040"/>
            <a:ext cx="4937760" cy="347472"/>
          </a:xfrm>
          <a:prstGeom prst="roundRect">
            <a:avLst>
              <a:gd name="adj" fmla="val 21053"/>
            </a:avLst>
          </a:prstGeom>
          <a:solidFill>
            <a:srgbClr val="F59E0B"/>
          </a:solidFill>
          <a:ln w="12700">
            <a:solidFill>
              <a:srgbClr val="F59E0B"/>
            </a:solidFill>
            <a:prstDash val="solid"/>
          </a:ln>
        </p:spPr>
      </p:sp>
      <p:sp>
        <p:nvSpPr>
          <p:cNvPr id="3" name="Text 1"/>
          <p:cNvSpPr/>
          <p:nvPr/>
        </p:nvSpPr>
        <p:spPr>
          <a:xfrm>
            <a:off x="640080" y="338328"/>
            <a:ext cx="4754880" cy="310896"/>
          </a:xfrm>
          <a:prstGeom prst="rect">
            <a:avLst/>
          </a:prstGeom>
          <a:noFill/>
          <a:ln/>
        </p:spPr>
        <p:txBody>
          <a:bodyPr wrap="square"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4. TECHNICAL ARCHITECTURE &amp; CODE DIVE</a:t>
            </a:r>
            <a:endParaRPr lang="en-US" sz="1000" dirty="0"/>
          </a:p>
        </p:txBody>
      </p:sp>
      <p:sp>
        <p:nvSpPr>
          <p:cNvPr id="4" name="Shape 2"/>
          <p:cNvSpPr/>
          <p:nvPr/>
        </p:nvSpPr>
        <p:spPr>
          <a:xfrm>
            <a:off x="8869680" y="320040"/>
            <a:ext cx="2770632" cy="347472"/>
          </a:xfrm>
          <a:prstGeom prst="roundRect">
            <a:avLst>
              <a:gd name="adj" fmla="val 21053"/>
            </a:avLst>
          </a:prstGeom>
          <a:solidFill>
            <a:srgbClr val="163266"/>
          </a:solidFill>
          <a:ln w="12700">
            <a:solidFill>
              <a:srgbClr val="2B4C8C"/>
            </a:solidFill>
            <a:prstDash val="solid"/>
          </a:ln>
        </p:spPr>
      </p:sp>
      <p:sp>
        <p:nvSpPr>
          <p:cNvPr id="5" name="Text 3"/>
          <p:cNvSpPr/>
          <p:nvPr/>
        </p:nvSpPr>
        <p:spPr>
          <a:xfrm>
            <a:off x="8961120" y="338328"/>
            <a:ext cx="2587752" cy="310896"/>
          </a:xfrm>
          <a:prstGeom prst="rect">
            <a:avLst/>
          </a:prstGeom>
          <a:noFill/>
          <a:ln/>
        </p:spPr>
        <p:txBody>
          <a:bodyPr wrap="square" rtlCol="0" anchor="ctr"/>
          <a:lstStyle/>
          <a:p>
            <a:pPr algn="r" indent="0" marL="0">
              <a:buNone/>
            </a:pPr>
            <a:r>
              <a:rPr lang="en-US" sz="1000" b="1" dirty="0">
                <a:solidFill>
                  <a:srgbClr val="FDE68A"/>
                </a:solidFill>
                <a:latin typeface="Consolas" pitchFamily="34" charset="0"/>
                <a:ea typeface="Consolas" pitchFamily="34" charset="-122"/>
                <a:cs typeface="Consolas" pitchFamily="34" charset="-120"/>
              </a:rPr>
              <a:t>Slide 6/7  |  Time: 1:55 – 2:30</a:t>
            </a:r>
            <a:endParaRPr lang="en-US" sz="1000" dirty="0"/>
          </a:p>
        </p:txBody>
      </p:sp>
      <p:sp>
        <p:nvSpPr>
          <p:cNvPr id="6" name="Text 4"/>
          <p:cNvSpPr/>
          <p:nvPr/>
        </p:nvSpPr>
        <p:spPr>
          <a:xfrm>
            <a:off x="548640" y="804672"/>
            <a:ext cx="11091672" cy="749808"/>
          </a:xfrm>
          <a:prstGeom prst="rect">
            <a:avLst/>
          </a:prstGeom>
          <a:noFill/>
          <a:ln/>
        </p:spPr>
        <p:txBody>
          <a:bodyPr wrap="square" rtlCol="0" anchor="t"/>
          <a:lstStyle/>
          <a:p>
            <a:pPr indent="0" marL="0">
              <a:buNone/>
            </a:pPr>
            <a:r>
              <a:rPr lang="en-US" sz="2200" b="1" dirty="0">
                <a:solidFill>
                  <a:srgbClr val="FFFFFF"/>
                </a:solidFill>
                <a:latin typeface="Calibri" pitchFamily="34" charset="0"/>
                <a:ea typeface="Calibri" pitchFamily="34" charset="-122"/>
                <a:cs typeface="Calibri" pitchFamily="34" charset="-120"/>
              </a:rPr>
              <a:t>Full-Stack Architecture: PII-Sanitized AI Proxy, Role-Isolated Firestore &amp; UDL Contracts</a:t>
            </a:r>
            <a:endParaRPr lang="en-US" sz="2200" dirty="0"/>
          </a:p>
        </p:txBody>
      </p:sp>
      <p:sp>
        <p:nvSpPr>
          <p:cNvPr id="7" name="Text 5"/>
          <p:cNvSpPr/>
          <p:nvPr/>
        </p:nvSpPr>
        <p:spPr>
          <a:xfrm>
            <a:off x="548640" y="1572768"/>
            <a:ext cx="11091672" cy="438912"/>
          </a:xfrm>
          <a:prstGeom prst="rect">
            <a:avLst/>
          </a:prstGeom>
          <a:noFill/>
          <a:ln/>
        </p:spPr>
        <p:txBody>
          <a:bodyPr wrap="square" rtlCol="0" anchor="t"/>
          <a:lstStyle/>
          <a:p>
            <a:pPr indent="0" marL="0">
              <a:buNone/>
            </a:pPr>
            <a:r>
              <a:rPr lang="en-US" sz="1300" dirty="0">
                <a:solidFill>
                  <a:srgbClr val="E2E8F0"/>
                </a:solidFill>
                <a:latin typeface="Calibri" pitchFamily="34" charset="0"/>
                <a:ea typeface="Calibri" pitchFamily="34" charset="-122"/>
                <a:cs typeface="Calibri" pitchFamily="34" charset="-120"/>
              </a:rPr>
              <a:t>Engineered for classroom security, FERPA/COPPA privacy compliance, and deterministic accessibility rendering.</a:t>
            </a:r>
            <a:endParaRPr lang="en-US" sz="1300" dirty="0"/>
          </a:p>
        </p:txBody>
      </p:sp>
      <p:sp>
        <p:nvSpPr>
          <p:cNvPr id="8" name="Shape 6"/>
          <p:cNvSpPr/>
          <p:nvPr/>
        </p:nvSpPr>
        <p:spPr>
          <a:xfrm>
            <a:off x="548640" y="2103120"/>
            <a:ext cx="6126480" cy="1261872"/>
          </a:xfrm>
          <a:prstGeom prst="roundRect">
            <a:avLst>
              <a:gd name="adj" fmla="val 5797"/>
            </a:avLst>
          </a:prstGeom>
          <a:solidFill>
            <a:srgbClr val="163266"/>
          </a:solidFill>
          <a:ln w="12700">
            <a:solidFill>
              <a:srgbClr val="2B4C8C"/>
            </a:solidFill>
            <a:prstDash val="solid"/>
          </a:ln>
        </p:spPr>
      </p:sp>
      <p:sp>
        <p:nvSpPr>
          <p:cNvPr id="9" name="Text 7"/>
          <p:cNvSpPr/>
          <p:nvPr/>
        </p:nvSpPr>
        <p:spPr>
          <a:xfrm>
            <a:off x="731520" y="2194560"/>
            <a:ext cx="5760720" cy="274320"/>
          </a:xfrm>
          <a:prstGeom prst="rect">
            <a:avLst/>
          </a:prstGeom>
          <a:noFill/>
          <a:ln/>
        </p:spPr>
        <p:txBody>
          <a:bodyPr wrap="square" rtlCol="0" anchor="ctr"/>
          <a:lstStyle/>
          <a:p>
            <a:pPr indent="0" marL="0">
              <a:buNone/>
            </a:pPr>
            <a:r>
              <a:rPr lang="en-US" sz="1150" b="1" dirty="0">
                <a:solidFill>
                  <a:srgbClr val="FDE68A"/>
                </a:solidFill>
                <a:latin typeface="Calibri" pitchFamily="34" charset="0"/>
                <a:ea typeface="Calibri" pitchFamily="34" charset="-122"/>
                <a:cs typeface="Calibri" pitchFamily="34" charset="-120"/>
              </a:rPr>
              <a:t>1. Technology Stack &amp; Code-Split Architecture  [React 19 · Tailwind v4 · Node/Vite API · Firebase]</a:t>
            </a:r>
            <a:endParaRPr lang="en-US" sz="1150" dirty="0"/>
          </a:p>
        </p:txBody>
      </p:sp>
      <p:sp>
        <p:nvSpPr>
          <p:cNvPr id="10" name="Text 8"/>
          <p:cNvSpPr/>
          <p:nvPr/>
        </p:nvSpPr>
        <p:spPr>
          <a:xfrm>
            <a:off x="731520" y="2487168"/>
            <a:ext cx="5760720" cy="822960"/>
          </a:xfrm>
          <a:prstGeom prst="rect">
            <a:avLst/>
          </a:prstGeom>
          <a:noFill/>
          <a:ln/>
        </p:spPr>
        <p:txBody>
          <a:bodyPr wrap="square" rtlCol="0" anchor="t"/>
          <a:lstStyle/>
          <a:p>
            <a:pPr indent="0" marL="0">
              <a:buNone/>
            </a:pPr>
            <a:r>
              <a:rPr lang="en-US" sz="980" dirty="0">
                <a:solidFill>
                  <a:srgbClr val="E2E8F0"/>
                </a:solidFill>
                <a:latin typeface="Calibri" pitchFamily="34" charset="0"/>
                <a:ea typeface="Calibri" pitchFamily="34" charset="-122"/>
                <a:cs typeface="Calibri" pitchFamily="34" charset="-120"/>
              </a:rPr>
              <a:t>• Frontend: React 19 modular state architecture with adaptive CSS custom-property theme tokens (4 sensory palettes, 3 font scales).</a:t>
            </a:r>
            <a:endParaRPr lang="en-US" sz="980" dirty="0"/>
          </a:p>
          <a:p>
            <a:pPr indent="0" marL="0">
              <a:buNone/>
            </a:pPr>
            <a:r>
              <a:rPr lang="en-US" sz="980" dirty="0">
                <a:solidFill>
                  <a:srgbClr val="E2E8F0"/>
                </a:solidFill>
                <a:latin typeface="Calibri" pitchFamily="34" charset="0"/>
                <a:ea typeface="Calibri" pitchFamily="34" charset="-122"/>
                <a:cs typeface="Calibri" pitchFamily="34" charset="-120"/>
              </a:rPr>
              <a:t>• Backend Middleware (server/apiMiddleware.js): Handles /api/ai-proxy, /api/auth/*, /api/classes/join (rate-limited), and /api/firebase/sync.</a:t>
            </a:r>
            <a:endParaRPr lang="en-US" sz="980" dirty="0"/>
          </a:p>
          <a:p>
            <a:pPr indent="0" marL="0">
              <a:buNone/>
            </a:pPr>
            <a:r>
              <a:rPr lang="en-US" sz="980" dirty="0">
                <a:solidFill>
                  <a:srgbClr val="E2E8F0"/>
                </a:solidFill>
                <a:latin typeface="Calibri" pitchFamily="34" charset="0"/>
                <a:ea typeface="Calibri" pitchFamily="34" charset="-122"/>
                <a:cs typeface="Calibri" pitchFamily="34" charset="-120"/>
              </a:rPr>
              <a:t>• Database &amp; Auth (firebaseService.js + firestore.rules): 3-mode adapter supporting Google Firebase Cloud, Local Emulator (:9099/:8080), and Offline Mirror.</a:t>
            </a:r>
            <a:endParaRPr lang="en-US" sz="980" dirty="0"/>
          </a:p>
        </p:txBody>
      </p:sp>
      <p:sp>
        <p:nvSpPr>
          <p:cNvPr id="11" name="Shape 9"/>
          <p:cNvSpPr/>
          <p:nvPr/>
        </p:nvSpPr>
        <p:spPr>
          <a:xfrm>
            <a:off x="548640" y="3456432"/>
            <a:ext cx="6126480" cy="1261872"/>
          </a:xfrm>
          <a:prstGeom prst="roundRect">
            <a:avLst>
              <a:gd name="adj" fmla="val 5797"/>
            </a:avLst>
          </a:prstGeom>
          <a:solidFill>
            <a:srgbClr val="163266"/>
          </a:solidFill>
          <a:ln w="12700">
            <a:solidFill>
              <a:srgbClr val="2B4C8C"/>
            </a:solidFill>
            <a:prstDash val="solid"/>
          </a:ln>
        </p:spPr>
      </p:sp>
      <p:sp>
        <p:nvSpPr>
          <p:cNvPr id="12" name="Text 10"/>
          <p:cNvSpPr/>
          <p:nvPr/>
        </p:nvSpPr>
        <p:spPr>
          <a:xfrm>
            <a:off x="731520" y="3547872"/>
            <a:ext cx="5760720" cy="274320"/>
          </a:xfrm>
          <a:prstGeom prst="rect">
            <a:avLst/>
          </a:prstGeom>
          <a:noFill/>
          <a:ln/>
        </p:spPr>
        <p:txBody>
          <a:bodyPr wrap="square" rtlCol="0" anchor="ctr"/>
          <a:lstStyle/>
          <a:p>
            <a:pPr indent="0" marL="0">
              <a:buNone/>
            </a:pPr>
            <a:r>
              <a:rPr lang="en-US" sz="1150" b="1" dirty="0">
                <a:solidFill>
                  <a:srgbClr val="FDE68A"/>
                </a:solidFill>
                <a:latin typeface="Calibri" pitchFamily="34" charset="0"/>
                <a:ea typeface="Calibri" pitchFamily="34" charset="-122"/>
                <a:cs typeface="Calibri" pitchFamily="34" charset="-120"/>
              </a:rPr>
              <a:t>2. Security, FERPA Privacy Sanitizer &amp; Socratic Guardrails  [OWASP &amp; COPPA/FERPA Safeguards]</a:t>
            </a:r>
            <a:endParaRPr lang="en-US" sz="1150" dirty="0"/>
          </a:p>
        </p:txBody>
      </p:sp>
      <p:sp>
        <p:nvSpPr>
          <p:cNvPr id="13" name="Text 11"/>
          <p:cNvSpPr/>
          <p:nvPr/>
        </p:nvSpPr>
        <p:spPr>
          <a:xfrm>
            <a:off x="731520" y="3840480"/>
            <a:ext cx="5760720" cy="822960"/>
          </a:xfrm>
          <a:prstGeom prst="rect">
            <a:avLst/>
          </a:prstGeom>
          <a:noFill/>
          <a:ln/>
        </p:spPr>
        <p:txBody>
          <a:bodyPr wrap="square" rtlCol="0" anchor="t"/>
          <a:lstStyle/>
          <a:p>
            <a:pPr indent="0" marL="0">
              <a:buNone/>
            </a:pPr>
            <a:r>
              <a:rPr lang="en-US" sz="980" dirty="0">
                <a:solidFill>
                  <a:srgbClr val="E2E8F0"/>
                </a:solidFill>
                <a:latin typeface="Calibri" pitchFamily="34" charset="0"/>
                <a:ea typeface="Calibri" pitchFamily="34" charset="-122"/>
                <a:cs typeface="Calibri" pitchFamily="34" charset="-120"/>
              </a:rPr>
              <a:t>• Zero Client-Side LLM Exposure: Browser code never calls external AI URLs directly; all prompts route through /api/ai-proxy.</a:t>
            </a:r>
            <a:endParaRPr lang="en-US" sz="980" dirty="0"/>
          </a:p>
          <a:p>
            <a:pPr indent="0" marL="0">
              <a:buNone/>
            </a:pPr>
            <a:r>
              <a:rPr lang="en-US" sz="980" dirty="0">
                <a:solidFill>
                  <a:srgbClr val="E2E8F0"/>
                </a:solidFill>
                <a:latin typeface="Calibri" pitchFamily="34" charset="0"/>
                <a:ea typeface="Calibri" pitchFamily="34" charset="-122"/>
                <a:cs typeface="Calibri" pitchFamily="34" charset="-120"/>
              </a:rPr>
              <a:t>• PII De-Identification (redactPII): Regex sanitization strips student emails, phone numbers, and names before upstream Gemini/OpenAI calls.</a:t>
            </a:r>
            <a:endParaRPr lang="en-US" sz="980" dirty="0"/>
          </a:p>
          <a:p>
            <a:pPr indent="0" marL="0">
              <a:buNone/>
            </a:pPr>
            <a:r>
              <a:rPr lang="en-US" sz="980" dirty="0">
                <a:solidFill>
                  <a:srgbClr val="E2E8F0"/>
                </a:solidFill>
                <a:latin typeface="Calibri" pitchFamily="34" charset="0"/>
                <a:ea typeface="Calibri" pitchFamily="34" charset="-122"/>
                <a:cs typeface="Calibri" pitchFamily="34" charset="-120"/>
              </a:rPr>
              <a:t>• Checkpoint Answer-Leakage Blocker (enforceCheckpointGuard): Intercepts assessment-stage prompts to block direct answers and enforce Socratic hints.</a:t>
            </a:r>
            <a:endParaRPr lang="en-US" sz="980" dirty="0"/>
          </a:p>
        </p:txBody>
      </p:sp>
      <p:sp>
        <p:nvSpPr>
          <p:cNvPr id="14" name="Shape 12"/>
          <p:cNvSpPr/>
          <p:nvPr/>
        </p:nvSpPr>
        <p:spPr>
          <a:xfrm>
            <a:off x="548640" y="4809744"/>
            <a:ext cx="6126480" cy="1261872"/>
          </a:xfrm>
          <a:prstGeom prst="roundRect">
            <a:avLst>
              <a:gd name="adj" fmla="val 5797"/>
            </a:avLst>
          </a:prstGeom>
          <a:solidFill>
            <a:srgbClr val="163266"/>
          </a:solidFill>
          <a:ln w="12700">
            <a:solidFill>
              <a:srgbClr val="2B4C8C"/>
            </a:solidFill>
            <a:prstDash val="solid"/>
          </a:ln>
        </p:spPr>
      </p:sp>
      <p:sp>
        <p:nvSpPr>
          <p:cNvPr id="15" name="Text 13"/>
          <p:cNvSpPr/>
          <p:nvPr/>
        </p:nvSpPr>
        <p:spPr>
          <a:xfrm>
            <a:off x="731520" y="4901184"/>
            <a:ext cx="5760720" cy="274320"/>
          </a:xfrm>
          <a:prstGeom prst="rect">
            <a:avLst/>
          </a:prstGeom>
          <a:noFill/>
          <a:ln/>
        </p:spPr>
        <p:txBody>
          <a:bodyPr wrap="square" rtlCol="0" anchor="ctr"/>
          <a:lstStyle/>
          <a:p>
            <a:pPr indent="0" marL="0">
              <a:buNone/>
            </a:pPr>
            <a:r>
              <a:rPr lang="en-US" sz="1150" b="1" dirty="0">
                <a:solidFill>
                  <a:srgbClr val="FDE68A"/>
                </a:solidFill>
                <a:latin typeface="Calibri" pitchFamily="34" charset="0"/>
                <a:ea typeface="Calibri" pitchFamily="34" charset="-122"/>
                <a:cs typeface="Calibri" pitchFamily="34" charset="-120"/>
              </a:rPr>
              <a:t>3. Data Integrity &amp; 7-Point Accessibility Contract  [Strict Validation &amp; 9/9 Automated Test Suite]</a:t>
            </a:r>
            <a:endParaRPr lang="en-US" sz="1150" dirty="0"/>
          </a:p>
        </p:txBody>
      </p:sp>
      <p:sp>
        <p:nvSpPr>
          <p:cNvPr id="16" name="Text 14"/>
          <p:cNvSpPr/>
          <p:nvPr/>
        </p:nvSpPr>
        <p:spPr>
          <a:xfrm>
            <a:off x="731520" y="5193792"/>
            <a:ext cx="5760720" cy="822960"/>
          </a:xfrm>
          <a:prstGeom prst="rect">
            <a:avLst/>
          </a:prstGeom>
          <a:noFill/>
          <a:ln/>
        </p:spPr>
        <p:txBody>
          <a:bodyPr wrap="square" rtlCol="0" anchor="t"/>
          <a:lstStyle/>
          <a:p>
            <a:pPr indent="0" marL="0">
              <a:buNone/>
            </a:pPr>
            <a:r>
              <a:rPr lang="en-US" sz="980" dirty="0">
                <a:solidFill>
                  <a:srgbClr val="E2E8F0"/>
                </a:solidFill>
                <a:latin typeface="Calibri" pitchFamily="34" charset="0"/>
                <a:ea typeface="Calibri" pitchFamily="34" charset="-122"/>
                <a:cs typeface="Calibri" pitchFamily="34" charset="-120"/>
              </a:rPr>
              <a:t>• Firestore Role Isolation: Security rules enforce isOwner(uid) and request.auth.token.role so students can never read another learner’s data.</a:t>
            </a:r>
            <a:endParaRPr lang="en-US" sz="980" dirty="0"/>
          </a:p>
          <a:p>
            <a:pPr indent="0" marL="0">
              <a:buNone/>
            </a:pPr>
            <a:r>
              <a:rPr lang="en-US" sz="980" dirty="0">
                <a:solidFill>
                  <a:srgbClr val="E2E8F0"/>
                </a:solidFill>
                <a:latin typeface="Calibri" pitchFamily="34" charset="0"/>
                <a:ea typeface="Calibri" pitchFamily="34" charset="-122"/>
                <a:cs typeface="Calibri" pitchFamily="34" charset="-120"/>
              </a:rPr>
              <a:t>• Accessibility Gate Contract (validateAccessibilityChecklist): Enforces plain-language objectives, alt text, transcripts, keyboard operability, and untimed paths.</a:t>
            </a:r>
            <a:endParaRPr lang="en-US" sz="980" dirty="0"/>
          </a:p>
        </p:txBody>
      </p:sp>
      <p:sp>
        <p:nvSpPr>
          <p:cNvPr id="17" name="Shape 15"/>
          <p:cNvSpPr/>
          <p:nvPr/>
        </p:nvSpPr>
        <p:spPr>
          <a:xfrm>
            <a:off x="6903720" y="2103120"/>
            <a:ext cx="4736592" cy="3977640"/>
          </a:xfrm>
          <a:prstGeom prst="roundRect">
            <a:avLst>
              <a:gd name="adj" fmla="val 2299"/>
            </a:avLst>
          </a:prstGeom>
          <a:solidFill>
            <a:srgbClr val="090D16"/>
          </a:solidFill>
          <a:ln w="19050">
            <a:solidFill>
              <a:srgbClr val="4F46E5"/>
            </a:solidFill>
            <a:prstDash val="solid"/>
          </a:ln>
        </p:spPr>
      </p:sp>
      <p:sp>
        <p:nvSpPr>
          <p:cNvPr id="18" name="Text 16"/>
          <p:cNvSpPr/>
          <p:nvPr/>
        </p:nvSpPr>
        <p:spPr>
          <a:xfrm>
            <a:off x="7086600" y="2240280"/>
            <a:ext cx="4370832" cy="292608"/>
          </a:xfrm>
          <a:prstGeom prst="rect">
            <a:avLst/>
          </a:prstGeom>
          <a:noFill/>
          <a:ln/>
        </p:spPr>
        <p:txBody>
          <a:bodyPr wrap="square" rtlCol="0" anchor="ctr"/>
          <a:lstStyle/>
          <a:p>
            <a:pPr indent="0" marL="0">
              <a:buNone/>
            </a:pPr>
            <a:r>
              <a:rPr lang="en-US" sz="1000" b="1" dirty="0">
                <a:solidFill>
                  <a:srgbClr val="FDE68A"/>
                </a:solidFill>
                <a:latin typeface="Consolas" pitchFamily="34" charset="0"/>
                <a:ea typeface="Consolas" pitchFamily="34" charset="-122"/>
                <a:cs typeface="Consolas" pitchFamily="34" charset="-120"/>
              </a:rPr>
              <a:t>CODE DIVE: server/apiMiddleware.js (FERPA &amp; Socratic Guard)</a:t>
            </a:r>
            <a:endParaRPr lang="en-US" sz="1000" dirty="0"/>
          </a:p>
        </p:txBody>
      </p:sp>
      <p:sp>
        <p:nvSpPr>
          <p:cNvPr id="19" name="Text 17"/>
          <p:cNvSpPr/>
          <p:nvPr/>
        </p:nvSpPr>
        <p:spPr>
          <a:xfrm>
            <a:off x="7086600" y="2606040"/>
            <a:ext cx="4370832" cy="3337560"/>
          </a:xfrm>
          <a:prstGeom prst="rect">
            <a:avLst/>
          </a:prstGeom>
          <a:noFill/>
          <a:ln/>
        </p:spPr>
        <p:txBody>
          <a:bodyPr wrap="square" rtlCol="0" anchor="t"/>
          <a:lstStyle/>
          <a:p>
            <a:pPr indent="0" marL="0">
              <a:buNone/>
            </a:pPr>
            <a:r>
              <a:rPr lang="en-US" sz="920" dirty="0">
                <a:solidFill>
                  <a:srgbClr val="6EE7B7"/>
                </a:solidFill>
                <a:latin typeface="Consolas" pitchFamily="34" charset="0"/>
                <a:ea typeface="Consolas" pitchFamily="34" charset="-122"/>
                <a:cs typeface="Consolas" pitchFamily="34" charset="-120"/>
              </a:rPr>
              <a:t>// server/apiMiddleware.js — PII Sanitizer &amp; Assessment Socratic Guardrail</a:t>
            </a:r>
            <a:endParaRPr lang="en-US" sz="920" dirty="0"/>
          </a:p>
          <a:p>
            <a:pPr indent="0" marL="0">
              <a:buNone/>
            </a:pPr>
            <a:r>
              <a:rPr lang="en-US" sz="920" dirty="0">
                <a:solidFill>
                  <a:srgbClr val="6EE7B7"/>
                </a:solidFill>
                <a:latin typeface="Consolas" pitchFamily="34" charset="0"/>
                <a:ea typeface="Consolas" pitchFamily="34" charset="-122"/>
                <a:cs typeface="Consolas" pitchFamily="34" charset="-120"/>
              </a:rPr>
              <a:t>export function redactPII(text = '') {</a:t>
            </a:r>
            <a:endParaRPr lang="en-US" sz="920" dirty="0"/>
          </a:p>
          <a:p>
            <a:pPr indent="0" marL="0">
              <a:buNone/>
            </a:pPr>
            <a:r>
              <a:rPr lang="en-US" sz="920" dirty="0">
                <a:solidFill>
                  <a:srgbClr val="6EE7B7"/>
                </a:solidFill>
                <a:latin typeface="Consolas" pitchFamily="34" charset="0"/>
                <a:ea typeface="Consolas" pitchFamily="34" charset="-122"/>
                <a:cs typeface="Consolas" pitchFamily="34" charset="-120"/>
              </a:rPr>
              <a:t>  return text</a:t>
            </a:r>
            <a:endParaRPr lang="en-US" sz="920" dirty="0"/>
          </a:p>
          <a:p>
            <a:pPr indent="0" marL="0">
              <a:buNone/>
            </a:pPr>
            <a:r>
              <a:rPr lang="en-US" sz="920" dirty="0">
                <a:solidFill>
                  <a:srgbClr val="6EE7B7"/>
                </a:solidFill>
                <a:latin typeface="Consolas" pitchFamily="34" charset="0"/>
                <a:ea typeface="Consolas" pitchFamily="34" charset="-122"/>
                <a:cs typeface="Consolas" pitchFamily="34" charset="-120"/>
              </a:rPr>
              <a:t>    .replace(/[A-Z0-9._%+-]+@[A-Z0-9.-]+\.[A-Z]{2,}/gi, '[REDACTED_EMAIL]')</a:t>
            </a:r>
            <a:endParaRPr lang="en-US" sz="920" dirty="0"/>
          </a:p>
          <a:p>
            <a:pPr indent="0" marL="0">
              <a:buNone/>
            </a:pPr>
            <a:r>
              <a:rPr lang="en-US" sz="920" dirty="0">
                <a:solidFill>
                  <a:srgbClr val="6EE7B7"/>
                </a:solidFill>
                <a:latin typeface="Consolas" pitchFamily="34" charset="0"/>
                <a:ea typeface="Consolas" pitchFamily="34" charset="-122"/>
                <a:cs typeface="Consolas" pitchFamily="34" charset="-120"/>
              </a:rPr>
              <a:t>    .replace(/\b\d{3}[-.]?\d{3}[-.]?\d{4}\b/g, '[REDACTED_PHONE]')</a:t>
            </a:r>
            <a:endParaRPr lang="en-US" sz="920" dirty="0"/>
          </a:p>
          <a:p>
            <a:pPr indent="0" marL="0">
              <a:buNone/>
            </a:pPr>
            <a:r>
              <a:rPr lang="en-US" sz="920" dirty="0">
                <a:solidFill>
                  <a:srgbClr val="6EE7B7"/>
                </a:solidFill>
                <a:latin typeface="Consolas" pitchFamily="34" charset="0"/>
                <a:ea typeface="Consolas" pitchFamily="34" charset="-122"/>
                <a:cs typeface="Consolas" pitchFamily="34" charset="-120"/>
              </a:rPr>
              <a:t>    .replace(/\b(?:my name is|student name:)\s+[A-Z][a-z]+/gi, '[REDACTED_STUDENT]');</a:t>
            </a:r>
            <a:endParaRPr lang="en-US" sz="920" dirty="0"/>
          </a:p>
          <a:p>
            <a:pPr indent="0" marL="0">
              <a:buNone/>
            </a:pPr>
            <a:r>
              <a:rPr lang="en-US" sz="920" dirty="0">
                <a:solidFill>
                  <a:srgbClr val="6EE7B7"/>
                </a:solidFill>
                <a:latin typeface="Consolas" pitchFamily="34" charset="0"/>
                <a:ea typeface="Consolas" pitchFamily="34" charset="-122"/>
                <a:cs typeface="Consolas" pitchFamily="34" charset="-120"/>
              </a:rPr>
              <a:t>}</a:t>
            </a:r>
            <a:endParaRPr lang="en-US" sz="920" dirty="0"/>
          </a:p>
          <a:p>
            <a:pPr indent="0" marL="0">
              <a:buNone/>
            </a:pPr>
            <a:endParaRPr lang="en-US" sz="920" dirty="0"/>
          </a:p>
          <a:p>
            <a:pPr indent="0" marL="0">
              <a:buNone/>
            </a:pPr>
            <a:r>
              <a:rPr lang="en-US" sz="920" dirty="0">
                <a:solidFill>
                  <a:srgbClr val="6EE7B7"/>
                </a:solidFill>
                <a:latin typeface="Consolas" pitchFamily="34" charset="0"/>
                <a:ea typeface="Consolas" pitchFamily="34" charset="-122"/>
                <a:cs typeface="Consolas" pitchFamily="34" charset="-120"/>
              </a:rPr>
              <a:t>export function enforceCheckpointGuard(systemPrompt = '', userPrompt = '', stage = '') {</a:t>
            </a:r>
            <a:endParaRPr lang="en-US" sz="920" dirty="0"/>
          </a:p>
          <a:p>
            <a:pPr indent="0" marL="0">
              <a:buNone/>
            </a:pPr>
            <a:r>
              <a:rPr lang="en-US" sz="920" dirty="0">
                <a:solidFill>
                  <a:srgbClr val="6EE7B7"/>
                </a:solidFill>
                <a:latin typeface="Consolas" pitchFamily="34" charset="0"/>
                <a:ea typeface="Consolas" pitchFamily="34" charset="-122"/>
                <a:cs typeface="Consolas" pitchFamily="34" charset="-120"/>
              </a:rPr>
              <a:t>  const isCheckpoint = stage === 'checkpoint' || stage === 'practice';</a:t>
            </a:r>
            <a:endParaRPr lang="en-US" sz="920" dirty="0"/>
          </a:p>
          <a:p>
            <a:pPr indent="0" marL="0">
              <a:buNone/>
            </a:pPr>
            <a:r>
              <a:rPr lang="en-US" sz="920" dirty="0">
                <a:solidFill>
                  <a:srgbClr val="6EE7B7"/>
                </a:solidFill>
                <a:latin typeface="Consolas" pitchFamily="34" charset="0"/>
                <a:ea typeface="Consolas" pitchFamily="34" charset="-122"/>
                <a:cs typeface="Consolas" pitchFamily="34" charset="-120"/>
              </a:rPr>
              <a:t>  return {</a:t>
            </a:r>
            <a:endParaRPr lang="en-US" sz="920" dirty="0"/>
          </a:p>
          <a:p>
            <a:pPr indent="0" marL="0">
              <a:buNone/>
            </a:pPr>
            <a:r>
              <a:rPr lang="en-US" sz="920" dirty="0">
                <a:solidFill>
                  <a:srgbClr val="6EE7B7"/>
                </a:solidFill>
                <a:latin typeface="Consolas" pitchFamily="34" charset="0"/>
                <a:ea typeface="Consolas" pitchFamily="34" charset="-122"/>
                <a:cs typeface="Consolas" pitchFamily="34" charset="-120"/>
              </a:rPr>
              <a:t>    isCheckpointGuarded: isCheckpoint,</a:t>
            </a:r>
            <a:endParaRPr lang="en-US" sz="920" dirty="0"/>
          </a:p>
          <a:p>
            <a:pPr indent="0" marL="0">
              <a:buNone/>
            </a:pPr>
            <a:r>
              <a:rPr lang="en-US" sz="920" dirty="0">
                <a:solidFill>
                  <a:srgbClr val="6EE7B7"/>
                </a:solidFill>
                <a:latin typeface="Consolas" pitchFamily="34" charset="0"/>
                <a:ea typeface="Consolas" pitchFamily="34" charset="-122"/>
                <a:cs typeface="Consolas" pitchFamily="34" charset="-120"/>
              </a:rPr>
              <a:t>    systemPrompt: isCheckpoint</a:t>
            </a:r>
            <a:endParaRPr lang="en-US" sz="920" dirty="0"/>
          </a:p>
          <a:p>
            <a:pPr indent="0" marL="0">
              <a:buNone/>
            </a:pPr>
            <a:r>
              <a:rPr lang="en-US" sz="920" dirty="0">
                <a:solidFill>
                  <a:srgbClr val="6EE7B7"/>
                </a:solidFill>
                <a:latin typeface="Consolas" pitchFamily="34" charset="0"/>
                <a:ea typeface="Consolas" pitchFamily="34" charset="-122"/>
                <a:cs typeface="Consolas" pitchFamily="34" charset="-120"/>
              </a:rPr>
              <a:t>      ? `${systemPrompt}\nCRITICAL SAFEGUARD: NEVER reveal the correct option letter or final answer. Coach Socratically.`</a:t>
            </a:r>
            <a:endParaRPr lang="en-US" sz="920" dirty="0"/>
          </a:p>
          <a:p>
            <a:pPr indent="0" marL="0">
              <a:buNone/>
            </a:pPr>
            <a:r>
              <a:rPr lang="en-US" sz="920" dirty="0">
                <a:solidFill>
                  <a:srgbClr val="6EE7B7"/>
                </a:solidFill>
                <a:latin typeface="Consolas" pitchFamily="34" charset="0"/>
                <a:ea typeface="Consolas" pitchFamily="34" charset="-122"/>
                <a:cs typeface="Consolas" pitchFamily="34" charset="-120"/>
              </a:rPr>
              <a:t>      : systemPrompt</a:t>
            </a:r>
            <a:endParaRPr lang="en-US" sz="920" dirty="0"/>
          </a:p>
          <a:p>
            <a:pPr indent="0" marL="0">
              <a:buNone/>
            </a:pPr>
            <a:r>
              <a:rPr lang="en-US" sz="920" dirty="0">
                <a:solidFill>
                  <a:srgbClr val="6EE7B7"/>
                </a:solidFill>
                <a:latin typeface="Consolas" pitchFamily="34" charset="0"/>
                <a:ea typeface="Consolas" pitchFamily="34" charset="-122"/>
                <a:cs typeface="Consolas" pitchFamily="34" charset="-120"/>
              </a:rPr>
              <a:t>  };</a:t>
            </a:r>
            <a:endParaRPr lang="en-US" sz="920" dirty="0"/>
          </a:p>
          <a:p>
            <a:pPr indent="0" marL="0">
              <a:buNone/>
            </a:pPr>
            <a:r>
              <a:rPr lang="en-US" sz="920" dirty="0">
                <a:solidFill>
                  <a:srgbClr val="6EE7B7"/>
                </a:solidFill>
                <a:latin typeface="Consolas" pitchFamily="34" charset="0"/>
                <a:ea typeface="Consolas" pitchFamily="34" charset="-122"/>
                <a:cs typeface="Consolas" pitchFamily="34" charset="-120"/>
              </a:rPr>
              <a:t>}</a:t>
            </a:r>
            <a:endParaRPr lang="en-US" sz="920" dirty="0"/>
          </a:p>
        </p:txBody>
      </p:sp>
      <p:sp>
        <p:nvSpPr>
          <p:cNvPr id="20" name="Text 18"/>
          <p:cNvSpPr/>
          <p:nvPr/>
        </p:nvSpPr>
        <p:spPr>
          <a:xfrm>
            <a:off x="548640" y="6327648"/>
            <a:ext cx="11091672" cy="320040"/>
          </a:xfrm>
          <a:prstGeom prst="rect">
            <a:avLst/>
          </a:prstGeom>
          <a:noFill/>
          <a:ln/>
        </p:spPr>
        <p:txBody>
          <a:bodyPr wrap="square" rtlCol="0" anchor="ctr"/>
          <a:lstStyle/>
          <a:p>
            <a:pPr indent="0" marL="0">
              <a:buNone/>
            </a:pPr>
            <a:r>
              <a:rPr lang="en-US" sz="950" b="1" dirty="0">
                <a:solidFill>
                  <a:srgbClr val="E2E8F0"/>
                </a:solidFill>
                <a:latin typeface="Calibri" pitchFamily="34" charset="0"/>
                <a:ea typeface="Calibri" pitchFamily="34" charset="-122"/>
                <a:cs typeface="Calibri" pitchFamily="34" charset="-120"/>
              </a:rPr>
              <a:t>LuminaLearn  ·  Jose Unanue (12th Grade, Miami Coral Park Senior High School)  ·  Congressional District FL-27</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2149"/>
        </a:solidFill>
      </p:bgPr>
    </p:bg>
    <p:spTree>
      <p:nvGrpSpPr>
        <p:cNvPr id="1" name=""/>
        <p:cNvGrpSpPr/>
        <p:nvPr/>
      </p:nvGrpSpPr>
      <p:grpSpPr>
        <a:xfrm>
          <a:off x="0" y="0"/>
          <a:ext cx="0" cy="0"/>
          <a:chOff x="0" y="0"/>
          <a:chExt cx="0" cy="0"/>
        </a:xfrm>
      </p:grpSpPr>
      <p:sp>
        <p:nvSpPr>
          <p:cNvPr id="2" name="Shape 0"/>
          <p:cNvSpPr/>
          <p:nvPr/>
        </p:nvSpPr>
        <p:spPr>
          <a:xfrm>
            <a:off x="548640" y="320040"/>
            <a:ext cx="4937760" cy="347472"/>
          </a:xfrm>
          <a:prstGeom prst="roundRect">
            <a:avLst>
              <a:gd name="adj" fmla="val 21053"/>
            </a:avLst>
          </a:prstGeom>
          <a:solidFill>
            <a:srgbClr val="F59E0B"/>
          </a:solidFill>
          <a:ln w="12700">
            <a:solidFill>
              <a:srgbClr val="F59E0B"/>
            </a:solidFill>
            <a:prstDash val="solid"/>
          </a:ln>
        </p:spPr>
      </p:sp>
      <p:sp>
        <p:nvSpPr>
          <p:cNvPr id="3" name="Text 1"/>
          <p:cNvSpPr/>
          <p:nvPr/>
        </p:nvSpPr>
        <p:spPr>
          <a:xfrm>
            <a:off x="640080" y="338328"/>
            <a:ext cx="4754880" cy="310896"/>
          </a:xfrm>
          <a:prstGeom prst="rect">
            <a:avLst/>
          </a:prstGeom>
          <a:noFill/>
          <a:ln/>
        </p:spPr>
        <p:txBody>
          <a:bodyPr wrap="square"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5. TRANSFORMATIVE IMPACT &amp; VISION</a:t>
            </a:r>
            <a:endParaRPr lang="en-US" sz="1000" dirty="0"/>
          </a:p>
        </p:txBody>
      </p:sp>
      <p:sp>
        <p:nvSpPr>
          <p:cNvPr id="4" name="Shape 2"/>
          <p:cNvSpPr/>
          <p:nvPr/>
        </p:nvSpPr>
        <p:spPr>
          <a:xfrm>
            <a:off x="8869680" y="320040"/>
            <a:ext cx="2770632" cy="347472"/>
          </a:xfrm>
          <a:prstGeom prst="roundRect">
            <a:avLst>
              <a:gd name="adj" fmla="val 21053"/>
            </a:avLst>
          </a:prstGeom>
          <a:solidFill>
            <a:srgbClr val="163266"/>
          </a:solidFill>
          <a:ln w="12700">
            <a:solidFill>
              <a:srgbClr val="2B4C8C"/>
            </a:solidFill>
            <a:prstDash val="solid"/>
          </a:ln>
        </p:spPr>
      </p:sp>
      <p:sp>
        <p:nvSpPr>
          <p:cNvPr id="5" name="Text 3"/>
          <p:cNvSpPr/>
          <p:nvPr/>
        </p:nvSpPr>
        <p:spPr>
          <a:xfrm>
            <a:off x="8961120" y="338328"/>
            <a:ext cx="2587752" cy="310896"/>
          </a:xfrm>
          <a:prstGeom prst="rect">
            <a:avLst/>
          </a:prstGeom>
          <a:noFill/>
          <a:ln/>
        </p:spPr>
        <p:txBody>
          <a:bodyPr wrap="square" rtlCol="0" anchor="ctr"/>
          <a:lstStyle/>
          <a:p>
            <a:pPr algn="r" indent="0" marL="0">
              <a:buNone/>
            </a:pPr>
            <a:r>
              <a:rPr lang="en-US" sz="1000" b="1" dirty="0">
                <a:solidFill>
                  <a:srgbClr val="FDE68A"/>
                </a:solidFill>
                <a:latin typeface="Consolas" pitchFamily="34" charset="0"/>
                <a:ea typeface="Consolas" pitchFamily="34" charset="-122"/>
                <a:cs typeface="Consolas" pitchFamily="34" charset="-120"/>
              </a:rPr>
              <a:t>Slide 7/7  |  Time: 2:30 – 2:55</a:t>
            </a:r>
            <a:endParaRPr lang="en-US" sz="1000" dirty="0"/>
          </a:p>
        </p:txBody>
      </p:sp>
      <p:sp>
        <p:nvSpPr>
          <p:cNvPr id="6" name="Text 4"/>
          <p:cNvSpPr/>
          <p:nvPr/>
        </p:nvSpPr>
        <p:spPr>
          <a:xfrm>
            <a:off x="548640" y="804672"/>
            <a:ext cx="11091672" cy="749808"/>
          </a:xfrm>
          <a:prstGeom prst="rect">
            <a:avLst/>
          </a:prstGeom>
          <a:noFill/>
          <a:ln/>
        </p:spPr>
        <p:txBody>
          <a:bodyPr wrap="square" rtlCol="0" anchor="t"/>
          <a:lstStyle/>
          <a:p>
            <a:pPr indent="0" marL="0">
              <a:buNone/>
            </a:pPr>
            <a:r>
              <a:rPr lang="en-US" sz="2200" b="1" dirty="0">
                <a:solidFill>
                  <a:srgbClr val="FFFFFF"/>
                </a:solidFill>
                <a:latin typeface="Calibri" pitchFamily="34" charset="0"/>
                <a:ea typeface="Calibri" pitchFamily="34" charset="-122"/>
                <a:cs typeface="Calibri" pitchFamily="34" charset="-120"/>
              </a:rPr>
              <a:t>Transformative Impact: Empowering Every Learner to Achieve STEM Mastery Without Barriers</a:t>
            </a:r>
            <a:endParaRPr lang="en-US" sz="2200" dirty="0"/>
          </a:p>
        </p:txBody>
      </p:sp>
      <p:sp>
        <p:nvSpPr>
          <p:cNvPr id="7" name="Text 5"/>
          <p:cNvSpPr/>
          <p:nvPr/>
        </p:nvSpPr>
        <p:spPr>
          <a:xfrm>
            <a:off x="548640" y="1572768"/>
            <a:ext cx="11091672" cy="438912"/>
          </a:xfrm>
          <a:prstGeom prst="rect">
            <a:avLst/>
          </a:prstGeom>
          <a:noFill/>
          <a:ln/>
        </p:spPr>
        <p:txBody>
          <a:bodyPr wrap="square" rtlCol="0" anchor="t"/>
          <a:lstStyle/>
          <a:p>
            <a:pPr indent="0" marL="0">
              <a:buNone/>
            </a:pPr>
            <a:r>
              <a:rPr lang="en-US" sz="1300" dirty="0">
                <a:solidFill>
                  <a:srgbClr val="E2E8F0"/>
                </a:solidFill>
                <a:latin typeface="Calibri" pitchFamily="34" charset="0"/>
                <a:ea typeface="Calibri" pitchFamily="34" charset="-122"/>
                <a:cs typeface="Calibri" pitchFamily="34" charset="-120"/>
              </a:rPr>
              <a:t>Designing for neurodivergent and disabled learners creates a calmer, clearer, and more effective learning platform for all K–12 students.</a:t>
            </a:r>
            <a:endParaRPr lang="en-US" sz="1300" dirty="0"/>
          </a:p>
        </p:txBody>
      </p:sp>
      <p:sp>
        <p:nvSpPr>
          <p:cNvPr id="8" name="Shape 6"/>
          <p:cNvSpPr/>
          <p:nvPr/>
        </p:nvSpPr>
        <p:spPr>
          <a:xfrm>
            <a:off x="548640" y="2240280"/>
            <a:ext cx="3511296" cy="3794760"/>
          </a:xfrm>
          <a:prstGeom prst="roundRect">
            <a:avLst>
              <a:gd name="adj" fmla="val 3125"/>
            </a:avLst>
          </a:prstGeom>
          <a:solidFill>
            <a:srgbClr val="163266"/>
          </a:solidFill>
          <a:ln w="15240">
            <a:solidFill>
              <a:srgbClr val="2B4C8C"/>
            </a:solidFill>
            <a:prstDash val="solid"/>
          </a:ln>
        </p:spPr>
      </p:sp>
      <p:sp>
        <p:nvSpPr>
          <p:cNvPr id="9" name="Shape 7"/>
          <p:cNvSpPr/>
          <p:nvPr/>
        </p:nvSpPr>
        <p:spPr>
          <a:xfrm>
            <a:off x="777240" y="2496312"/>
            <a:ext cx="822960" cy="73152"/>
          </a:xfrm>
          <a:prstGeom prst="rect">
            <a:avLst/>
          </a:prstGeom>
          <a:solidFill>
            <a:srgbClr val="F59E0B"/>
          </a:solidFill>
          <a:ln/>
        </p:spPr>
      </p:sp>
      <p:sp>
        <p:nvSpPr>
          <p:cNvPr id="10" name="Text 8"/>
          <p:cNvSpPr/>
          <p:nvPr/>
        </p:nvSpPr>
        <p:spPr>
          <a:xfrm>
            <a:off x="777240" y="2697480"/>
            <a:ext cx="3054096" cy="640080"/>
          </a:xfrm>
          <a:prstGeom prst="rect">
            <a:avLst/>
          </a:prstGeom>
          <a:noFill/>
          <a:ln/>
        </p:spPr>
        <p:txBody>
          <a:bodyPr wrap="square" rtlCol="0" anchor="ctr"/>
          <a:lstStyle/>
          <a:p>
            <a:pPr indent="0" marL="0">
              <a:buNone/>
            </a:pPr>
            <a:r>
              <a:rPr lang="en-US" sz="2400" b="1" dirty="0">
                <a:solidFill>
                  <a:srgbClr val="FDE68A"/>
                </a:solidFill>
                <a:latin typeface="Calibri" pitchFamily="34" charset="0"/>
                <a:ea typeface="Calibri" pitchFamily="34" charset="-122"/>
                <a:cs typeface="Calibri" pitchFamily="34" charset="-120"/>
              </a:rPr>
              <a:t>2.4x Higher</a:t>
            </a:r>
            <a:endParaRPr lang="en-US" sz="2400" dirty="0"/>
          </a:p>
        </p:txBody>
      </p:sp>
      <p:sp>
        <p:nvSpPr>
          <p:cNvPr id="11" name="Text 9"/>
          <p:cNvSpPr/>
          <p:nvPr/>
        </p:nvSpPr>
        <p:spPr>
          <a:xfrm>
            <a:off x="777240" y="3383280"/>
            <a:ext cx="3054096" cy="4114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Concept Retention with Visual Labs</a:t>
            </a:r>
            <a:endParaRPr lang="en-US" sz="1400" dirty="0"/>
          </a:p>
        </p:txBody>
      </p:sp>
      <p:sp>
        <p:nvSpPr>
          <p:cNvPr id="12" name="Text 10"/>
          <p:cNvSpPr/>
          <p:nvPr/>
        </p:nvSpPr>
        <p:spPr>
          <a:xfrm>
            <a:off x="777240" y="3867912"/>
            <a:ext cx="3054096" cy="1371600"/>
          </a:xfrm>
          <a:prstGeom prst="rect">
            <a:avLst/>
          </a:prstGeom>
          <a:noFill/>
          <a:ln/>
        </p:spPr>
        <p:txBody>
          <a:bodyPr wrap="square" rtlCol="0" anchor="t"/>
          <a:lstStyle/>
          <a:p>
            <a:pPr indent="0" marL="0">
              <a:buNone/>
            </a:pPr>
            <a:r>
              <a:rPr lang="en-US" sz="1200" dirty="0">
                <a:solidFill>
                  <a:srgbClr val="E2E8F0"/>
                </a:solidFill>
                <a:latin typeface="Calibri" pitchFamily="34" charset="0"/>
                <a:ea typeface="Calibri" pitchFamily="34" charset="-122"/>
                <a:cs typeface="Calibri" pitchFamily="34" charset="-120"/>
              </a:rPr>
              <a:t>Pairing interactive manipulatives with micro-chunked text doubles conceptual retention compared to static worksheets (UDL / Desmos research).</a:t>
            </a:r>
            <a:endParaRPr lang="en-US" sz="1200" dirty="0"/>
          </a:p>
        </p:txBody>
      </p:sp>
      <p:sp>
        <p:nvSpPr>
          <p:cNvPr id="13" name="Shape 11"/>
          <p:cNvSpPr/>
          <p:nvPr/>
        </p:nvSpPr>
        <p:spPr>
          <a:xfrm>
            <a:off x="4334256" y="2240280"/>
            <a:ext cx="3511296" cy="3794760"/>
          </a:xfrm>
          <a:prstGeom prst="roundRect">
            <a:avLst>
              <a:gd name="adj" fmla="val 3125"/>
            </a:avLst>
          </a:prstGeom>
          <a:solidFill>
            <a:srgbClr val="163266"/>
          </a:solidFill>
          <a:ln w="15240">
            <a:solidFill>
              <a:srgbClr val="2B4C8C"/>
            </a:solidFill>
            <a:prstDash val="solid"/>
          </a:ln>
        </p:spPr>
      </p:sp>
      <p:sp>
        <p:nvSpPr>
          <p:cNvPr id="14" name="Shape 12"/>
          <p:cNvSpPr/>
          <p:nvPr/>
        </p:nvSpPr>
        <p:spPr>
          <a:xfrm>
            <a:off x="4562856" y="2496312"/>
            <a:ext cx="822960" cy="73152"/>
          </a:xfrm>
          <a:prstGeom prst="rect">
            <a:avLst/>
          </a:prstGeom>
          <a:solidFill>
            <a:srgbClr val="F59E0B"/>
          </a:solidFill>
          <a:ln/>
        </p:spPr>
      </p:sp>
      <p:sp>
        <p:nvSpPr>
          <p:cNvPr id="15" name="Text 13"/>
          <p:cNvSpPr/>
          <p:nvPr/>
        </p:nvSpPr>
        <p:spPr>
          <a:xfrm>
            <a:off x="4562856" y="2697480"/>
            <a:ext cx="3054096" cy="640080"/>
          </a:xfrm>
          <a:prstGeom prst="rect">
            <a:avLst/>
          </a:prstGeom>
          <a:noFill/>
          <a:ln/>
        </p:spPr>
        <p:txBody>
          <a:bodyPr wrap="square" rtlCol="0" anchor="ctr"/>
          <a:lstStyle/>
          <a:p>
            <a:pPr indent="0" marL="0">
              <a:buNone/>
            </a:pPr>
            <a:r>
              <a:rPr lang="en-US" sz="2400" b="1" dirty="0">
                <a:solidFill>
                  <a:srgbClr val="FDE68A"/>
                </a:solidFill>
                <a:latin typeface="Calibri" pitchFamily="34" charset="0"/>
                <a:ea typeface="Calibri" pitchFamily="34" charset="-122"/>
                <a:cs typeface="Calibri" pitchFamily="34" charset="-120"/>
              </a:rPr>
              <a:t>Zero Stigma</a:t>
            </a:r>
            <a:endParaRPr lang="en-US" sz="2400" dirty="0"/>
          </a:p>
        </p:txBody>
      </p:sp>
      <p:sp>
        <p:nvSpPr>
          <p:cNvPr id="16" name="Text 14"/>
          <p:cNvSpPr/>
          <p:nvPr/>
        </p:nvSpPr>
        <p:spPr>
          <a:xfrm>
            <a:off x="4562856" y="3383280"/>
            <a:ext cx="3054096" cy="4114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Universal Curb-Cut Effect</a:t>
            </a:r>
            <a:endParaRPr lang="en-US" sz="1400" dirty="0"/>
          </a:p>
        </p:txBody>
      </p:sp>
      <p:sp>
        <p:nvSpPr>
          <p:cNvPr id="17" name="Text 15"/>
          <p:cNvSpPr/>
          <p:nvPr/>
        </p:nvSpPr>
        <p:spPr>
          <a:xfrm>
            <a:off x="4562856" y="3867912"/>
            <a:ext cx="3054096" cy="1371600"/>
          </a:xfrm>
          <a:prstGeom prst="rect">
            <a:avLst/>
          </a:prstGeom>
          <a:noFill/>
          <a:ln/>
        </p:spPr>
        <p:txBody>
          <a:bodyPr wrap="square" rtlCol="0" anchor="t"/>
          <a:lstStyle/>
          <a:p>
            <a:pPr indent="0" marL="0">
              <a:buNone/>
            </a:pPr>
            <a:r>
              <a:rPr lang="en-US" sz="1200" dirty="0">
                <a:solidFill>
                  <a:srgbClr val="E2E8F0"/>
                </a:solidFill>
                <a:latin typeface="Calibri" pitchFamily="34" charset="0"/>
                <a:ea typeface="Calibri" pitchFamily="34" charset="-122"/>
                <a:cs typeface="Calibri" pitchFamily="34" charset="-120"/>
              </a:rPr>
              <a:t>Supports like Read-Aloud captions, Warm Reading Paper, and Socratic micro-steps benefit general-education and ELL students alike.</a:t>
            </a:r>
            <a:endParaRPr lang="en-US" sz="1200" dirty="0"/>
          </a:p>
        </p:txBody>
      </p:sp>
      <p:sp>
        <p:nvSpPr>
          <p:cNvPr id="18" name="Shape 16"/>
          <p:cNvSpPr/>
          <p:nvPr/>
        </p:nvSpPr>
        <p:spPr>
          <a:xfrm>
            <a:off x="8119872" y="2240280"/>
            <a:ext cx="3511296" cy="3794760"/>
          </a:xfrm>
          <a:prstGeom prst="roundRect">
            <a:avLst>
              <a:gd name="adj" fmla="val 3125"/>
            </a:avLst>
          </a:prstGeom>
          <a:solidFill>
            <a:srgbClr val="163266"/>
          </a:solidFill>
          <a:ln w="15240">
            <a:solidFill>
              <a:srgbClr val="2B4C8C"/>
            </a:solidFill>
            <a:prstDash val="solid"/>
          </a:ln>
        </p:spPr>
      </p:sp>
      <p:sp>
        <p:nvSpPr>
          <p:cNvPr id="19" name="Shape 17"/>
          <p:cNvSpPr/>
          <p:nvPr/>
        </p:nvSpPr>
        <p:spPr>
          <a:xfrm>
            <a:off x="8348472" y="2496312"/>
            <a:ext cx="822960" cy="73152"/>
          </a:xfrm>
          <a:prstGeom prst="rect">
            <a:avLst/>
          </a:prstGeom>
          <a:solidFill>
            <a:srgbClr val="F59E0B"/>
          </a:solidFill>
          <a:ln/>
        </p:spPr>
      </p:sp>
      <p:sp>
        <p:nvSpPr>
          <p:cNvPr id="20" name="Text 18"/>
          <p:cNvSpPr/>
          <p:nvPr/>
        </p:nvSpPr>
        <p:spPr>
          <a:xfrm>
            <a:off x="8348472" y="2697480"/>
            <a:ext cx="3054096" cy="640080"/>
          </a:xfrm>
          <a:prstGeom prst="rect">
            <a:avLst/>
          </a:prstGeom>
          <a:noFill/>
          <a:ln/>
        </p:spPr>
        <p:txBody>
          <a:bodyPr wrap="square" rtlCol="0" anchor="ctr"/>
          <a:lstStyle/>
          <a:p>
            <a:pPr indent="0" marL="0">
              <a:buNone/>
            </a:pPr>
            <a:r>
              <a:rPr lang="en-US" sz="2400" b="1" dirty="0">
                <a:solidFill>
                  <a:srgbClr val="FDE68A"/>
                </a:solidFill>
                <a:latin typeface="Calibri" pitchFamily="34" charset="0"/>
                <a:ea typeface="Calibri" pitchFamily="34" charset="-122"/>
                <a:cs typeface="Calibri" pitchFamily="34" charset="-120"/>
              </a:rPr>
              <a:t>District-Ready</a:t>
            </a:r>
            <a:endParaRPr lang="en-US" sz="2400" dirty="0"/>
          </a:p>
        </p:txBody>
      </p:sp>
      <p:sp>
        <p:nvSpPr>
          <p:cNvPr id="21" name="Text 19"/>
          <p:cNvSpPr/>
          <p:nvPr/>
        </p:nvSpPr>
        <p:spPr>
          <a:xfrm>
            <a:off x="8348472" y="3383280"/>
            <a:ext cx="3054096" cy="4114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Scalable K–12 Roadmap</a:t>
            </a:r>
            <a:endParaRPr lang="en-US" sz="1400" dirty="0"/>
          </a:p>
        </p:txBody>
      </p:sp>
      <p:sp>
        <p:nvSpPr>
          <p:cNvPr id="22" name="Text 20"/>
          <p:cNvSpPr/>
          <p:nvPr/>
        </p:nvSpPr>
        <p:spPr>
          <a:xfrm>
            <a:off x="8348472" y="3867912"/>
            <a:ext cx="3054096" cy="1371600"/>
          </a:xfrm>
          <a:prstGeom prst="rect">
            <a:avLst/>
          </a:prstGeom>
          <a:noFill/>
          <a:ln/>
        </p:spPr>
        <p:txBody>
          <a:bodyPr wrap="square" rtlCol="0" anchor="t"/>
          <a:lstStyle/>
          <a:p>
            <a:pPr indent="0" marL="0">
              <a:buNone/>
            </a:pPr>
            <a:r>
              <a:rPr lang="en-US" sz="1200" dirty="0">
                <a:solidFill>
                  <a:srgbClr val="E2E8F0"/>
                </a:solidFill>
                <a:latin typeface="Calibri" pitchFamily="34" charset="0"/>
                <a:ea typeface="Calibri" pitchFamily="34" charset="-122"/>
                <a:cs typeface="Calibri" pitchFamily="34" charset="-120"/>
              </a:rPr>
              <a:t>Ready for school-wide deployment with LTI/OneRoster gradebook sync, Speech-to-Text voice input, and Parent/Guardian progress digests.</a:t>
            </a:r>
            <a:endParaRPr lang="en-US" sz="1200" dirty="0"/>
          </a:p>
        </p:txBody>
      </p:sp>
      <p:sp>
        <p:nvSpPr>
          <p:cNvPr id="23" name="Text 21"/>
          <p:cNvSpPr/>
          <p:nvPr/>
        </p:nvSpPr>
        <p:spPr>
          <a:xfrm>
            <a:off x="548640" y="6327648"/>
            <a:ext cx="11091672" cy="320040"/>
          </a:xfrm>
          <a:prstGeom prst="rect">
            <a:avLst/>
          </a:prstGeom>
          <a:noFill/>
          <a:ln/>
        </p:spPr>
        <p:txBody>
          <a:bodyPr wrap="square" rtlCol="0" anchor="ctr"/>
          <a:lstStyle/>
          <a:p>
            <a:pPr indent="0" marL="0">
              <a:buNone/>
            </a:pPr>
            <a:r>
              <a:rPr lang="en-US" sz="950" b="1" dirty="0">
                <a:solidFill>
                  <a:srgbClr val="E2E8F0"/>
                </a:solidFill>
                <a:latin typeface="Calibri" pitchFamily="34" charset="0"/>
                <a:ea typeface="Calibri" pitchFamily="34" charset="-122"/>
                <a:cs typeface="Calibri" pitchFamily="34" charset="-120"/>
              </a:rPr>
              <a:t>LuminaLearn  ·  Jose Unanue (12th Grade, Miami Coral Park Senior High School)  ·  Congressional District FL-27</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Miami Coral Park Senior High School — Congressional App Challenge 2026 (FL-27)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LuminaLearn — Congressional App Challenge 2026 (FL-27)</dc:title>
  <dc:subject>Universal Design &amp; Socratic AI Platform for Neurodivergent, Disabled &amp; K–12 Learners</dc:subject>
  <dc:creator>Jose Unanue (Miami Coral Park Senior High School, FL-27)</dc:creator>
  <cp:lastModifiedBy>Jose Unanue (Miami Coral Park Senior High School, FL-27)</cp:lastModifiedBy>
  <cp:revision>1</cp:revision>
  <dcterms:created xsi:type="dcterms:W3CDTF">2026-10-26T22:22:28Z</dcterms:created>
  <dcterms:modified xsi:type="dcterms:W3CDTF">2026-10-26T22:22:28Z</dcterms:modified>
</cp:coreProperties>
</file>